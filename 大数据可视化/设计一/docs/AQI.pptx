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3" r:id="rId6"/>
    <p:sldId id="260" r:id="rId7"/>
    <p:sldId id="264" r:id="rId8"/>
    <p:sldId id="261" r:id="rId9"/>
    <p:sldId id="2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50AA58-F8A6-E852-20CB-DB7BBA473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E313E3-0596-590E-C1A8-98FA6881E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BDAAC5-B67F-E240-5551-98FA9FF5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71574-EAF8-4BCC-82E4-4799986EA53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EE324F-A5B1-7A87-216E-3550A02ED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FD6ADC-FD2E-E4D6-B7D8-E3E412CF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2986-4462-437C-9796-033E240BE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1569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D0B3B-30C1-4A93-2A87-9E8D85697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4A93E8-FD9F-0B75-7B59-0E2347F1F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677992-5AB0-C6EA-D2E0-3107B55DD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71574-EAF8-4BCC-82E4-4799986EA53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B14436-48B1-F024-503C-62205DBC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A2CA74-8F0F-9E98-8D4C-8CCB52BE8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2986-4462-437C-9796-033E240BE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109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59A43-6700-3819-2E0F-820A94EB4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E6ADE5-5484-2253-334B-FF6516321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2195C6-F677-4EFD-1F44-A8EB760D2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71574-EAF8-4BCC-82E4-4799986EA53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5B9566-5A96-DAEB-A3BB-0AA846079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71E3B3-4ABA-442D-434E-DF1059BA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2986-4462-437C-9796-033E240BE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879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614260-6556-188A-CA8B-4D163AD70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6E7367-2EE7-8A87-E4C6-4AC32673AE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4951FC-9E89-496B-A1FD-F1E962033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F0610B-1832-BBD6-618C-3B3B0F559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71574-EAF8-4BCC-82E4-4799986EA53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580975-3513-3968-E9CF-F815FDEBF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777C29-775A-176E-A9C9-74167982D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2986-4462-437C-9796-033E240BE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294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CCE6E-B3CA-92CA-591D-8B13EEEC0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63436E-EC7A-AE61-0BF0-B57706D01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08C33D-237C-F483-ABDD-6B295BCE8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EED0DE-BAE6-B9B0-EFF7-04FD06B51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97EA550-9B4E-DD41-8AB6-CC533FA978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30CBD63-6231-4815-9888-9F7A56F1A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71574-EAF8-4BCC-82E4-4799986EA53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49EF54-8FFE-D128-2B5D-2A91D6A8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D96094-CA08-EC41-35E5-904B073C4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2986-4462-437C-9796-033E240BE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39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544155-4419-2F03-85A2-66A493C82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89744C-6653-A283-0189-FBB67B912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71574-EAF8-4BCC-82E4-4799986EA53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1C3BE8-FDFD-D45C-C30E-2CF1D75AC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B709D2-049F-33C8-40C6-7445BF788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2986-4462-437C-9796-033E240BE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938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F8BB933-62EB-CED1-3912-5550C6BD8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71574-EAF8-4BCC-82E4-4799986EA53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F921C0-C02E-A1A0-56DC-5D5F2D438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3FBF98-400B-A8AE-4C4B-D80BE8D8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2986-4462-437C-9796-033E240BE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844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9C6BFD-A7BE-E127-E0F3-AE7C2F342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91242E-7B87-0FE7-1C39-044756799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6B6A8D-DBD3-F434-73F6-D0A5DD5F2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89CF87-813A-B095-A032-446FD6AC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71574-EAF8-4BCC-82E4-4799986EA53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9CB844-6B41-3034-BA58-CEFD37F87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80E0E7-E584-E358-390E-41B2C430B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2986-4462-437C-9796-033E240BE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625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5E6A57-D36F-7731-C3EE-69361DA36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C8BFAB3-460D-6782-6B5A-C32F7D1E05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4DA6BA-78FA-882C-7DE6-EC32535C1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8EA5A8-F9C9-E314-B364-6042649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71574-EAF8-4BCC-82E4-4799986EA53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A82E50-E712-D241-CFFE-F6702E6B0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9504AC-BA17-2920-C571-64ABE293F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2986-4462-437C-9796-033E240BE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54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CAC62-99FC-85EC-B657-545382611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133F29-1756-1961-2EE5-844168434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8BA0FB-203F-C025-B7C5-4E131C6C7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71574-EAF8-4BCC-82E4-4799986EA53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CE1EC0-2EE2-D5E2-83DC-90240503B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4864A4-D5A7-2CE4-9A3D-B1E2EAA2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2986-4462-437C-9796-033E240BE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475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3DA6402-020E-D4E4-CA97-04FE9151ED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C1122-B337-9F97-A22B-EFFF8AB78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6F0BDB-5EDD-220F-ED4E-881E718A7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71574-EAF8-4BCC-82E4-4799986EA53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6299F6-50B5-2DC0-4127-B752CBBB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A8C951-473D-8024-9B81-630BB078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C2986-4462-437C-9796-033E240BE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24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C109E00-5009-0B9B-FC96-B5A0BAB79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640D62-FDB1-66FF-50FE-653BF7ED2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17B1B0-50BE-A7B2-0798-78484DD1B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71574-EAF8-4BCC-82E4-4799986EA53F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9639D2-4EED-6CAB-6668-2BD804AD9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6B502D-B3D4-DDDF-86BE-BACFDF6C33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9C2986-4462-437C-9796-033E240BE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93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AE7AF3-8C44-B30C-FFCF-59C869031F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AQI</a:t>
            </a:r>
            <a:r>
              <a:rPr lang="zh-CN" altLang="en-US" dirty="0"/>
              <a:t>大数据可视化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9A97DA-BBCA-8B2B-6A69-C0BBF26E5E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大数据一班王志豪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861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80035-CDE1-B5CD-8486-CE0FDD650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系统架构设计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323557-85E9-6FC4-D89C-E55D5E49F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MVC</a:t>
            </a:r>
            <a:r>
              <a:rPr lang="zh-CN" altLang="en-US" dirty="0"/>
              <a:t>分层架构：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用户通过</a:t>
            </a:r>
            <a:r>
              <a:rPr lang="en-US" altLang="zh-CN" dirty="0"/>
              <a:t>GUI</a:t>
            </a:r>
            <a:r>
              <a:rPr lang="zh-CN" altLang="en-US" dirty="0"/>
              <a:t>与系统交互 →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Controller</a:t>
            </a:r>
            <a:r>
              <a:rPr lang="zh-CN" altLang="en-US" dirty="0"/>
              <a:t>响应事件 →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Model</a:t>
            </a:r>
            <a:r>
              <a:rPr lang="zh-CN" altLang="en-US" dirty="0"/>
              <a:t>处理数据 →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View</a:t>
            </a:r>
            <a:r>
              <a:rPr lang="zh-CN" altLang="en-US" dirty="0"/>
              <a:t>渲染结果。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所有耗时的</a:t>
            </a:r>
            <a:r>
              <a:rPr lang="en-US" altLang="zh-CN" dirty="0"/>
              <a:t>I/O</a:t>
            </a:r>
            <a:r>
              <a:rPr lang="zh-CN" altLang="en-US" dirty="0"/>
              <a:t>操作都在后台线程异步执行，确保</a:t>
            </a:r>
            <a:r>
              <a:rPr lang="en-US" altLang="zh-CN" dirty="0"/>
              <a:t>UI</a:t>
            </a:r>
            <a:r>
              <a:rPr lang="zh-CN" altLang="en-US" dirty="0"/>
              <a:t>流畅。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848DD2-7694-6511-61DB-ED46D2070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638" y="1158535"/>
            <a:ext cx="264795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637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B8924B-2718-9A59-04C4-9AC35728D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服务模块</a:t>
            </a:r>
            <a:r>
              <a:rPr lang="en-US" altLang="zh-CN" dirty="0"/>
              <a:t>——</a:t>
            </a:r>
            <a:r>
              <a:rPr lang="en-US" altLang="zh-CN" b="1" dirty="0"/>
              <a:t>GUI</a:t>
            </a:r>
            <a:r>
              <a:rPr lang="zh-CN" altLang="en-US" b="1" dirty="0"/>
              <a:t>视图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1C44976-BFBA-7545-3A5B-335C3A39A7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4447" y="2102080"/>
            <a:ext cx="6303160" cy="38946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B51CDD0-C474-4671-5848-73130449F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38" y="2102080"/>
            <a:ext cx="4809453" cy="110591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99CD7C1-9A01-5063-3421-0E1F7F941211}"/>
              </a:ext>
            </a:extLst>
          </p:cNvPr>
          <p:cNvSpPr txBox="1"/>
          <p:nvPr/>
        </p:nvSpPr>
        <p:spPr>
          <a:xfrm>
            <a:off x="838200" y="3650004"/>
            <a:ext cx="48094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创建</a:t>
            </a:r>
            <a:r>
              <a:rPr lang="en-US" altLang="zh-CN" dirty="0" err="1"/>
              <a:t>FigureCanvasTkAgg</a:t>
            </a:r>
            <a:r>
              <a:rPr lang="en-US" altLang="zh-CN" dirty="0"/>
              <a:t> </a:t>
            </a:r>
            <a:r>
              <a:rPr lang="zh-CN" altLang="en-US" dirty="0"/>
              <a:t>为 Matplotlib 嵌入 </a:t>
            </a:r>
            <a:endParaRPr lang="en-US" altLang="zh-CN" dirty="0"/>
          </a:p>
          <a:p>
            <a:r>
              <a:rPr lang="zh-CN" altLang="en-US" dirty="0"/>
              <a:t>Tkinter：前端的图像区域实际上是</a:t>
            </a:r>
            <a:r>
              <a:rPr lang="en-US" altLang="zh-CN" dirty="0" err="1"/>
              <a:t>FigureCanvasTkAgg</a:t>
            </a:r>
            <a:r>
              <a:rPr lang="en-US" altLang="zh-CN" dirty="0"/>
              <a:t> </a:t>
            </a:r>
            <a:r>
              <a:rPr lang="zh-CN" altLang="en-US" dirty="0"/>
              <a:t>的父容器</a:t>
            </a:r>
            <a:r>
              <a:rPr lang="en-US" altLang="zh-CN" dirty="0"/>
              <a:t>(</a:t>
            </a:r>
            <a:r>
              <a:rPr lang="en-US" altLang="zh-CN" dirty="0" err="1"/>
              <a:t>plot_container</a:t>
            </a:r>
            <a:r>
              <a:rPr lang="zh-CN" altLang="en-US" dirty="0"/>
              <a:t>，框架由</a:t>
            </a:r>
            <a:r>
              <a:rPr lang="en-US" altLang="zh-CN" dirty="0" err="1"/>
              <a:t>Tkinter</a:t>
            </a:r>
            <a:r>
              <a:rPr lang="zh-CN" altLang="en-US" dirty="0"/>
              <a:t>提供</a:t>
            </a:r>
            <a:r>
              <a:rPr lang="en-US" altLang="zh-CN" dirty="0"/>
              <a:t>)</a:t>
            </a:r>
            <a:r>
              <a:rPr lang="zh-CN" altLang="en-US" dirty="0"/>
              <a:t>，后台更新图像信息的时候实际上是通过操作该容器完成更新的。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多线程调度（</a:t>
            </a:r>
            <a:r>
              <a:rPr lang="en-US" altLang="zh-CN" dirty="0" err="1"/>
              <a:t>Tkinter</a:t>
            </a:r>
            <a:r>
              <a:rPr lang="zh-CN" altLang="en-US" dirty="0"/>
              <a:t>回调函数</a:t>
            </a:r>
            <a:r>
              <a:rPr lang="en-US" altLang="zh-CN" dirty="0"/>
              <a:t>after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-&gt;</a:t>
            </a:r>
            <a:r>
              <a:rPr lang="en-US" altLang="zh-CN" dirty="0" err="1"/>
              <a:t>Tkinter</a:t>
            </a:r>
            <a:r>
              <a:rPr lang="en-US" altLang="zh-CN" dirty="0"/>
              <a:t> GUI </a:t>
            </a:r>
            <a:r>
              <a:rPr lang="zh-CN" altLang="en-US" dirty="0"/>
              <a:t>操作不是线程安全的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7467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8F0154-5B62-1C3B-6064-5F86DD162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36726" cy="1325563"/>
          </a:xfrm>
        </p:spPr>
        <p:txBody>
          <a:bodyPr/>
          <a:lstStyle/>
          <a:p>
            <a:r>
              <a:rPr lang="zh-CN" altLang="en-US" dirty="0"/>
              <a:t>如何绑定事件</a:t>
            </a:r>
            <a:r>
              <a:rPr lang="en-US" altLang="zh-CN" dirty="0"/>
              <a:t>——</a:t>
            </a:r>
            <a:r>
              <a:rPr lang="zh-CN" altLang="en-US" dirty="0"/>
              <a:t>以“更新分析视图”为例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5E3C3BB3-5246-9C99-A57E-04632536AF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0070" y="1636281"/>
            <a:ext cx="3848100" cy="1600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AA53F03-7745-5E24-658F-0AB8AFC52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696" y="1636281"/>
            <a:ext cx="3348833" cy="157674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E701706-D505-A378-E479-0A85762E5B01}"/>
              </a:ext>
            </a:extLst>
          </p:cNvPr>
          <p:cNvSpPr txBox="1"/>
          <p:nvPr/>
        </p:nvSpPr>
        <p:spPr>
          <a:xfrm>
            <a:off x="855459" y="4538179"/>
            <a:ext cx="939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Mainloop</a:t>
            </a:r>
            <a:r>
              <a:rPr lang="zh-CN" altLang="en-US" dirty="0"/>
              <a:t>捕捉按钮点击事件 </a:t>
            </a:r>
            <a:r>
              <a:rPr lang="en-US" altLang="zh-CN" dirty="0"/>
              <a:t>- 》 </a:t>
            </a:r>
            <a:r>
              <a:rPr lang="zh-CN" altLang="en-US" dirty="0"/>
              <a:t>查询按钮的</a:t>
            </a:r>
            <a:r>
              <a:rPr lang="en-US" altLang="zh-CN" dirty="0"/>
              <a:t>command</a:t>
            </a:r>
            <a:r>
              <a:rPr lang="zh-CN" altLang="en-US" dirty="0"/>
              <a:t>对应函数是：</a:t>
            </a:r>
            <a:r>
              <a:rPr lang="en-US" altLang="zh-CN" dirty="0" err="1"/>
              <a:t>handle_update_request</a:t>
            </a:r>
            <a:endParaRPr lang="en-US" altLang="zh-CN" dirty="0"/>
          </a:p>
          <a:p>
            <a:r>
              <a:rPr lang="en-US" altLang="zh-CN" dirty="0"/>
              <a:t>-》</a:t>
            </a:r>
            <a:r>
              <a:rPr lang="zh-CN" altLang="en-US" dirty="0"/>
              <a:t>调用该函数  →  </a:t>
            </a:r>
            <a:r>
              <a:rPr lang="en-US" altLang="zh-CN" dirty="0" err="1"/>
              <a:t>AppController.handle_update_request</a:t>
            </a:r>
            <a:r>
              <a:rPr lang="en-US" altLang="zh-CN" dirty="0"/>
              <a:t>() -》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C68E403-8592-AF02-3448-7F9541A03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70" y="3322847"/>
            <a:ext cx="7500459" cy="97589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45CBCF0-888B-C72E-070E-B7C726D25352}"/>
              </a:ext>
            </a:extLst>
          </p:cNvPr>
          <p:cNvSpPr txBox="1"/>
          <p:nvPr/>
        </p:nvSpPr>
        <p:spPr>
          <a:xfrm flipH="1">
            <a:off x="8889011" y="2917040"/>
            <a:ext cx="2243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职责分离，易于测试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D4C8CE9-AF0C-0D34-3D69-DA2CEAB62D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867" y="4861345"/>
            <a:ext cx="3609975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53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C93BC68-0EFF-DEA1-A3F4-F7C240371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10" y="365125"/>
            <a:ext cx="5708164" cy="581183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49AED8E-179B-2985-7308-27A55CCEC37F}"/>
              </a:ext>
            </a:extLst>
          </p:cNvPr>
          <p:cNvSpPr txBox="1"/>
          <p:nvPr/>
        </p:nvSpPr>
        <p:spPr>
          <a:xfrm>
            <a:off x="6363979" y="2000634"/>
            <a:ext cx="57081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最后调用</a:t>
            </a:r>
            <a:r>
              <a:rPr lang="en-US" altLang="zh-CN" dirty="0"/>
              <a:t>controller</a:t>
            </a:r>
            <a:r>
              <a:rPr lang="zh-CN" altLang="en-US" dirty="0"/>
              <a:t>中的</a:t>
            </a:r>
            <a:r>
              <a:rPr lang="en-US" altLang="zh-CN" dirty="0"/>
              <a:t>_</a:t>
            </a:r>
            <a:r>
              <a:rPr lang="en-US" altLang="zh-CN" dirty="0" err="1"/>
              <a:t>on_fetch_complete</a:t>
            </a:r>
            <a:r>
              <a:rPr lang="zh-CN" altLang="en-US" dirty="0"/>
              <a:t>完成</a:t>
            </a:r>
            <a:r>
              <a:rPr lang="en-US" altLang="zh-CN" dirty="0"/>
              <a:t>view</a:t>
            </a:r>
            <a:r>
              <a:rPr lang="zh-CN" altLang="en-US" dirty="0"/>
              <a:t>的更新：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计算指标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更新指标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预测未来七天的数据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将历史与预测数据绘制到图表中</a:t>
            </a:r>
            <a:endParaRPr lang="en-US" altLang="zh-CN" dirty="0"/>
          </a:p>
          <a:p>
            <a:r>
              <a:rPr lang="en-US" altLang="zh-CN" dirty="0"/>
              <a:t>5.</a:t>
            </a:r>
            <a:r>
              <a:rPr lang="zh-CN" altLang="en-US" dirty="0"/>
              <a:t>调用</a:t>
            </a:r>
            <a:r>
              <a:rPr lang="en-US" altLang="zh-CN" dirty="0" err="1"/>
              <a:t>deepseek</a:t>
            </a:r>
            <a:r>
              <a:rPr lang="zh-CN" altLang="en-US" dirty="0"/>
              <a:t>的</a:t>
            </a:r>
            <a:r>
              <a:rPr lang="en-US" altLang="zh-CN" dirty="0" err="1"/>
              <a:t>api</a:t>
            </a:r>
            <a:r>
              <a:rPr lang="zh-CN" altLang="en-US" dirty="0"/>
              <a:t>进行数据分析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1994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1957BA-AFCC-BABF-26D8-2F18B1574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服务模块</a:t>
            </a:r>
            <a:r>
              <a:rPr lang="en-US" altLang="zh-CN" dirty="0"/>
              <a:t>——</a:t>
            </a:r>
            <a:r>
              <a:rPr lang="zh-CN" altLang="en-US" b="1" dirty="0"/>
              <a:t>数据库服务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45B01AA-2C9B-3AA5-BDD3-641A284689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2810" y="1470860"/>
            <a:ext cx="5252078" cy="181085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C3AF148-E604-C958-4507-369F2809EE0E}"/>
              </a:ext>
            </a:extLst>
          </p:cNvPr>
          <p:cNvSpPr txBox="1"/>
          <p:nvPr/>
        </p:nvSpPr>
        <p:spPr>
          <a:xfrm>
            <a:off x="6560007" y="2967335"/>
            <a:ext cx="54601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SQLite</a:t>
            </a:r>
            <a:r>
              <a:rPr lang="zh-CN" altLang="en-US" dirty="0"/>
              <a:t>在本地轻量化存储待分析的数据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DataManager</a:t>
            </a:r>
            <a:r>
              <a:rPr lang="zh-CN" altLang="en-US" dirty="0"/>
              <a:t>封装连接数据库、增删改查方法的方法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单例模式，项目在启动的时候初始化连接数据库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FF03720-617D-77B3-5317-7C1A179E0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10" y="3602683"/>
            <a:ext cx="5261205" cy="49619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6BF6C8C-8F1A-A0DF-07A0-E1231244A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027" y="4644330"/>
            <a:ext cx="1845644" cy="136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193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D951F69E-4E3F-BFC9-7929-4E4F784D5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如何处理数据查询的类型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C8A8659-68D6-E5CA-DF2B-120B9F722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425" y="1645427"/>
            <a:ext cx="3856953" cy="297972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7C31124-7615-BAC2-BF9F-39C9BE178228}"/>
              </a:ext>
            </a:extLst>
          </p:cNvPr>
          <p:cNvSpPr txBox="1"/>
          <p:nvPr/>
        </p:nvSpPr>
        <p:spPr>
          <a:xfrm>
            <a:off x="838200" y="2501492"/>
            <a:ext cx="463139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直接使用</a:t>
            </a:r>
            <a:r>
              <a:rPr lang="en-US" altLang="zh-CN" dirty="0" err="1"/>
              <a:t>sqlite</a:t>
            </a:r>
            <a:r>
              <a:rPr lang="zh-CN" altLang="en-US" dirty="0"/>
              <a:t>的原生结果有以下几个问题：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数据无标签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无法直接进行数据操作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无法直接与可视化库集成</a:t>
            </a:r>
          </a:p>
          <a:p>
            <a:r>
              <a:rPr lang="en-US" altLang="zh-CN" dirty="0"/>
              <a:t>4.</a:t>
            </a:r>
            <a:r>
              <a:rPr lang="zh-CN" altLang="en-US" dirty="0"/>
              <a:t>无法进行统计计算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 err="1"/>
              <a:t>pd.DataFrame</a:t>
            </a:r>
            <a:r>
              <a:rPr lang="zh-CN" altLang="en-US" dirty="0"/>
              <a:t>进行类型的转换：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</a:t>
            </a:r>
          </a:p>
          <a:p>
            <a:endParaRPr lang="en-US" altLang="zh-CN" dirty="0"/>
          </a:p>
          <a:p>
            <a:r>
              <a:rPr lang="en-US" altLang="zh-CN" dirty="0"/>
              <a:t>2.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3.</a:t>
            </a:r>
          </a:p>
          <a:p>
            <a:endParaRPr lang="en-US" altLang="zh-CN" dirty="0"/>
          </a:p>
          <a:p>
            <a:r>
              <a:rPr lang="en-US" altLang="zh-CN" dirty="0"/>
              <a:t>4.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C377A34-09E6-7822-3F6F-A6599DCA2E6B}"/>
              </a:ext>
            </a:extLst>
          </p:cNvPr>
          <p:cNvSpPr txBox="1"/>
          <p:nvPr/>
        </p:nvSpPr>
        <p:spPr>
          <a:xfrm>
            <a:off x="838200" y="1391081"/>
            <a:ext cx="6912721" cy="10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en-US" altLang="zh-CN" sz="1200" b="0" dirty="0">
                <a:effectLst/>
                <a:latin typeface="Consolas" panose="020B0609020204030204" pitchFamily="49" charset="0"/>
              </a:rPr>
              <a:t>[</a:t>
            </a:r>
            <a:endParaRPr lang="zh-CN" altLang="en-US" sz="12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altLang="zh-CN" sz="1200" b="0" dirty="0">
                <a:effectLst/>
                <a:latin typeface="Consolas" panose="020B0609020204030204" pitchFamily="49" charset="0"/>
              </a:rPr>
              <a:t>  (1, '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北京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', '2026-01-01', 85.5, 150.2, 25.3, 45.2, 120, '2026-04-10 14:30:00'),</a:t>
            </a:r>
            <a:endParaRPr lang="zh-CN" altLang="en-US" sz="12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altLang="zh-CN" sz="1200" b="0" dirty="0">
                <a:effectLst/>
                <a:latin typeface="Consolas" panose="020B0609020204030204" pitchFamily="49" charset="0"/>
              </a:rPr>
              <a:t>  (2, '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北京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', '2026-01-02', 82.3, 145.8, 20.1, 42.8, 115, '2026-04-10 14:30:00'),</a:t>
            </a:r>
            <a:endParaRPr lang="zh-CN" altLang="en-US" sz="12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altLang="zh-CN" sz="1200" b="0" dirty="0">
                <a:effectLst/>
                <a:latin typeface="Consolas" panose="020B0609020204030204" pitchFamily="49" charset="0"/>
              </a:rPr>
              <a:t>  (3, '</a:t>
            </a:r>
            <a:r>
              <a:rPr lang="zh-CN" altLang="en-US" sz="1200" b="0" dirty="0">
                <a:effectLst/>
                <a:latin typeface="Consolas" panose="020B0609020204030204" pitchFamily="49" charset="0"/>
              </a:rPr>
              <a:t>北京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', '2026-01-03', 65.1, 135.6, 18.7, 40.3, 98, '2026-04-10 14:30:00’)</a:t>
            </a:r>
            <a:endParaRPr lang="zh-CN" altLang="en-US" sz="12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altLang="zh-CN" sz="1200" b="0" dirty="0">
                <a:effectLst/>
                <a:latin typeface="Consolas" panose="020B0609020204030204" pitchFamily="49" charset="0"/>
              </a:rPr>
              <a:t>]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F879E5C-36E4-DE54-276C-D04EC2251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556" y="4670411"/>
            <a:ext cx="3617422" cy="35112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2832890-DD13-4809-6C66-513F52203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556" y="5148225"/>
            <a:ext cx="2339949" cy="57848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3395415-E3E3-0B24-C246-0F8731A612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557" y="5853400"/>
            <a:ext cx="3199116" cy="27787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900E19B-A9F2-B081-C7C4-0BA511642C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8556" y="6369240"/>
            <a:ext cx="3362325" cy="295275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AB7BAAF1-17F8-6A2A-C494-46EB0310914A}"/>
              </a:ext>
            </a:extLst>
          </p:cNvPr>
          <p:cNvSpPr txBox="1"/>
          <p:nvPr/>
        </p:nvSpPr>
        <p:spPr>
          <a:xfrm>
            <a:off x="5067198" y="4652206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5.</a:t>
            </a:r>
            <a:endParaRPr lang="zh-CN" altLang="en-US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9E99E5A-85D8-4283-F92D-00CDBFE676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9596" y="4547629"/>
            <a:ext cx="1846480" cy="578486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97672FAE-5ED6-8530-3BDA-B0FB0208B3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3425" y="4996443"/>
            <a:ext cx="1095375" cy="14859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DBF415F7-32CC-5717-3F50-FB05034CDAD4}"/>
              </a:ext>
            </a:extLst>
          </p:cNvPr>
          <p:cNvSpPr txBox="1"/>
          <p:nvPr/>
        </p:nvSpPr>
        <p:spPr>
          <a:xfrm>
            <a:off x="9252487" y="555472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统一的格式</a:t>
            </a:r>
          </a:p>
        </p:txBody>
      </p:sp>
    </p:spTree>
    <p:extLst>
      <p:ext uri="{BB962C8B-B14F-4D97-AF65-F5344CB8AC3E}">
        <p14:creationId xmlns:p14="http://schemas.microsoft.com/office/powerpoint/2010/main" val="2450167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A6EA79-DC62-5213-B212-DAA95DB33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服务模块</a:t>
            </a:r>
            <a:r>
              <a:rPr lang="en-US" altLang="zh-CN" dirty="0"/>
              <a:t>——</a:t>
            </a:r>
            <a:r>
              <a:rPr lang="en-US" altLang="zh-CN" b="1" dirty="0"/>
              <a:t>AI</a:t>
            </a:r>
            <a:r>
              <a:rPr lang="zh-CN" altLang="en-US" b="1" dirty="0"/>
              <a:t>分析报告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C268A7-9E5B-CCCA-FF66-7780DF2E1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zh-CN" altLang="en-US" dirty="0"/>
          </a:p>
          <a:p>
            <a:r>
              <a:rPr lang="zh-CN" altLang="en-US" sz="3400" dirty="0"/>
              <a:t>用户点击查询 </a:t>
            </a:r>
          </a:p>
          <a:p>
            <a:r>
              <a:rPr lang="zh-CN" altLang="en-US" sz="3400" dirty="0"/>
              <a:t>    ↓</a:t>
            </a:r>
          </a:p>
          <a:p>
            <a:r>
              <a:rPr lang="zh-CN" altLang="en-US" sz="3400" dirty="0"/>
              <a:t>后台启动</a:t>
            </a:r>
            <a:r>
              <a:rPr lang="en-US" altLang="zh-CN" sz="3400" dirty="0"/>
              <a:t>AI</a:t>
            </a:r>
            <a:r>
              <a:rPr lang="zh-CN" altLang="en-US" sz="3400" dirty="0"/>
              <a:t>分析线程</a:t>
            </a:r>
          </a:p>
          <a:p>
            <a:r>
              <a:rPr lang="zh-CN" altLang="en-US" sz="3400" dirty="0"/>
              <a:t>    ↓</a:t>
            </a:r>
          </a:p>
          <a:p>
            <a:r>
              <a:rPr lang="zh-CN" altLang="en-US" sz="3400" dirty="0"/>
              <a:t>汇总数据统计信息为文本</a:t>
            </a:r>
          </a:p>
          <a:p>
            <a:r>
              <a:rPr lang="zh-CN" altLang="en-US" sz="3400" dirty="0"/>
              <a:t>    ↓</a:t>
            </a:r>
          </a:p>
          <a:p>
            <a:r>
              <a:rPr lang="zh-CN" altLang="en-US" sz="3400" dirty="0"/>
              <a:t>调用 </a:t>
            </a:r>
            <a:r>
              <a:rPr lang="en-US" altLang="zh-CN" sz="3400" dirty="0"/>
              <a:t>DeepSeek API</a:t>
            </a:r>
          </a:p>
          <a:p>
            <a:r>
              <a:rPr lang="en-US" altLang="zh-CN" sz="3400" dirty="0"/>
              <a:t>    ↓</a:t>
            </a:r>
          </a:p>
          <a:p>
            <a:r>
              <a:rPr lang="zh-CN" altLang="en-US" sz="3400" dirty="0"/>
              <a:t>获取</a:t>
            </a:r>
            <a:r>
              <a:rPr lang="en-US" altLang="zh-CN" sz="3400" dirty="0"/>
              <a:t>AI</a:t>
            </a:r>
            <a:r>
              <a:rPr lang="zh-CN" altLang="en-US" sz="3400" dirty="0"/>
              <a:t>生成的分析报告</a:t>
            </a:r>
          </a:p>
          <a:p>
            <a:r>
              <a:rPr lang="zh-CN" altLang="en-US" sz="3400" dirty="0"/>
              <a:t>    ↓</a:t>
            </a:r>
          </a:p>
          <a:p>
            <a:r>
              <a:rPr lang="zh-CN" altLang="en-US" sz="3400" dirty="0"/>
              <a:t>在界面上显示报告文本</a:t>
            </a:r>
          </a:p>
          <a:p>
            <a:endParaRPr lang="zh-CN" altLang="en-US" sz="3400" dirty="0"/>
          </a:p>
          <a:p>
            <a:r>
              <a:rPr lang="zh-CN" altLang="en-US" sz="3400" dirty="0"/>
              <a:t>报告内容示例：</a:t>
            </a:r>
          </a:p>
          <a:p>
            <a:r>
              <a:rPr lang="zh-CN" altLang="en-US" sz="3400" dirty="0"/>
              <a:t>✓ 本周空气质量概况</a:t>
            </a:r>
          </a:p>
          <a:p>
            <a:r>
              <a:rPr lang="zh-CN" altLang="en-US" sz="3400" dirty="0"/>
              <a:t>✓ 污染物浓度分析</a:t>
            </a:r>
          </a:p>
          <a:p>
            <a:r>
              <a:rPr lang="zh-CN" altLang="en-US" sz="3400" dirty="0"/>
              <a:t>✓ 与历史相比的变化趋势</a:t>
            </a:r>
          </a:p>
          <a:p>
            <a:r>
              <a:rPr lang="zh-CN" altLang="en-US" sz="3400" dirty="0"/>
              <a:t>✓ 健康建议和预警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FC49976-014D-E5AF-560A-E9A6819B0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520" y="1944118"/>
            <a:ext cx="6001358" cy="210013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4B76C5E-61F3-FECF-1E72-87BA361A1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520" y="4440066"/>
            <a:ext cx="7026765" cy="173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566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29ACD93-7F45-356E-99EF-A23A91DA8B42}"/>
              </a:ext>
            </a:extLst>
          </p:cNvPr>
          <p:cNvSpPr txBox="1"/>
          <p:nvPr/>
        </p:nvSpPr>
        <p:spPr>
          <a:xfrm>
            <a:off x="5234225" y="2656114"/>
            <a:ext cx="17235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/>
              <a:t>谢谢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9239D5-3B43-D805-7CB1-D42A34B4C272}"/>
              </a:ext>
            </a:extLst>
          </p:cNvPr>
          <p:cNvSpPr txBox="1"/>
          <p:nvPr/>
        </p:nvSpPr>
        <p:spPr>
          <a:xfrm>
            <a:off x="4223657" y="44199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数据来源：https://www.iqair.cn/cn/</a:t>
            </a:r>
          </a:p>
        </p:txBody>
      </p:sp>
    </p:spTree>
    <p:extLst>
      <p:ext uri="{BB962C8B-B14F-4D97-AF65-F5344CB8AC3E}">
        <p14:creationId xmlns:p14="http://schemas.microsoft.com/office/powerpoint/2010/main" val="99045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476</Words>
  <Application>Microsoft Office PowerPoint</Application>
  <PresentationFormat>宽屏</PresentationFormat>
  <Paragraphs>78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Arial</vt:lpstr>
      <vt:lpstr>Consolas</vt:lpstr>
      <vt:lpstr>Office 主题​​</vt:lpstr>
      <vt:lpstr>AQI大数据可视化</vt:lpstr>
      <vt:lpstr>系统架构设计</vt:lpstr>
      <vt:lpstr>服务模块——GUI视图</vt:lpstr>
      <vt:lpstr>如何绑定事件——以“更新分析视图”为例</vt:lpstr>
      <vt:lpstr>PowerPoint 演示文稿</vt:lpstr>
      <vt:lpstr>服务模块——数据库服务</vt:lpstr>
      <vt:lpstr>如何处理数据查询的类型</vt:lpstr>
      <vt:lpstr>服务模块——AI分析报告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8618156016239</dc:creator>
  <cp:lastModifiedBy>8618156016239</cp:lastModifiedBy>
  <cp:revision>13</cp:revision>
  <dcterms:created xsi:type="dcterms:W3CDTF">2026-04-07T14:38:19Z</dcterms:created>
  <dcterms:modified xsi:type="dcterms:W3CDTF">2026-04-29T02:12:47Z</dcterms:modified>
</cp:coreProperties>
</file>