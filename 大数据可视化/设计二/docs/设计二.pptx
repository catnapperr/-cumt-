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80B61-611D-49A1-9552-B8BCFF97E063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BE786-966D-4766-B0A1-83F3C2BF5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32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BE786-966D-4766-B0A1-83F3C2BF5C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045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FBCFE-5B9E-56E8-298A-DEB82D172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76AFDF-40F7-6C81-8A20-B93E0C402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D46A8C-4FDC-91DC-FAB9-CC72751F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E0DD0A-DE11-3620-A7C0-195C02C4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2ABDAF-5176-E086-743D-27CD569D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857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B4B20-E35C-BF72-092B-9D7B0E89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DF8B13-DCB6-23CD-88FC-0CE144BBB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085D81-CA0A-FD57-8837-1FA55660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CF5CC0-C9F9-72E9-3321-8991BB13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3CA77D-D293-7E7F-B98C-7260B7BE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22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67986-B8C8-21CD-6C99-1BCD9C4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2D7362-ABE5-9BBD-2BFE-D774D8750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D3BC95-D9AE-8221-5A57-B8BBF3C40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5F984F-1774-C89B-057A-6844122D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F4E9E-BE40-0FC2-4447-F7C937C9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84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20ED5-81FC-D2F2-C2BC-1C016C94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777D01-D46B-D3EB-6ACD-1DD599331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C19776-450B-546B-36F6-BB440E527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D17FA6-6D0B-9EF2-6AD3-8BFA6DEB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425FF4-4A88-D94E-175B-DE438061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7A64BB-4193-7EC2-4719-6E278045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27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8959B4-16C6-9AFC-CCCA-29F84E0CB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DE611D-35C7-5635-93CF-33EDCD65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DB8C1B-A532-A024-8803-C4C55B8FD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ADD019-EC58-A78A-6AC4-BE71EB659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CED96A-90C0-B9A2-9961-58B4DC3D9B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6B78B6-7F94-FED2-3BE4-B6C85F10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100E26-E689-ECB8-17BD-1CB1E9E58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24F7A9-038D-7EB9-F4F2-B1BCE8C0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86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B9590-00F6-05D2-3E30-E55C410D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38FD7F-5D44-0739-AAEB-559B9D795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F0C047-21A2-91FE-E847-1CE76CFE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0225DA-7C65-4291-09EF-4616FB93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00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B5E5F2-8EF6-585F-022D-712F0325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ECC157-521C-F6D3-2582-2E7B38EF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B6BC1E-068C-5FED-BE5E-617F179F8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39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0E570-5A63-2F77-62CC-08E6C113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BB2B0-19C1-D0CF-FD80-9130B07D2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331188-D16B-E661-01AC-0FD62191C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D5124F-E20E-58E6-182B-EA12030F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4CB0A-E38D-7EC7-AA49-7623129C0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A77512-59D6-429D-5D6E-CDC05274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771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A9921-17AB-F05C-1C4B-3AD74F23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13130B-849C-86F8-F3CF-F7F1EED53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81075F-01EF-FFE1-8A28-A14CC1D96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459E21-879C-2CC7-B0C4-3F738821D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C5F2E7-DC88-C17B-DEBB-38D7F0497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8BEE45-B412-AF8D-B59F-4B9DC6F5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47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FE810-ED1B-759A-F29F-47D6A5EFD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6F289E-5ECA-6692-FCF7-7590B08B3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4887DC-B11F-C5C0-D073-1EF74EC27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2D482-FBF3-4CD3-2A3A-DDBDB133E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68B487-2FA6-2CFE-D682-4A889688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5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5184D5-D0C5-66FA-CA67-D9A5FB0C6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0F7F91-9FF7-84EE-8ABC-AEA923CBF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297EFD-7029-30C4-11B0-4B577F3B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399F11-7E68-2CF6-7EA9-8E5A0CEE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CBDB8-AC14-C41E-A47A-8EB69798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05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AA461FA-4E65-199E-A802-D29681D74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F64A26-6D0A-CF07-7C73-BD3E94208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B3E9AF-6602-31B1-914C-C767EEC40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7FD7E-43E4-4730-A959-218ABB14F646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69CF0-0595-E677-2815-634369F6C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07DD18-AB58-A528-8ACE-A8C46FACB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2C417-9481-4C19-8762-4739F6779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51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76405-85D7-55C7-0E69-47734A6281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/>
              <a:t>智慧城市交通流量实时监控大屏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89EE81-D909-1C4A-3258-1EF7344FAD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王志豪</a:t>
            </a:r>
          </a:p>
        </p:txBody>
      </p:sp>
    </p:spTree>
    <p:extLst>
      <p:ext uri="{BB962C8B-B14F-4D97-AF65-F5344CB8AC3E}">
        <p14:creationId xmlns:p14="http://schemas.microsoft.com/office/powerpoint/2010/main" val="1741709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A4166-0CFB-9AD2-EB8C-29B01793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84" y="266934"/>
            <a:ext cx="10515600" cy="1325563"/>
          </a:xfrm>
        </p:spPr>
        <p:txBody>
          <a:bodyPr/>
          <a:lstStyle/>
          <a:p>
            <a:r>
              <a:rPr lang="zh-CN" altLang="en-US" dirty="0"/>
              <a:t>技术栈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8B9E9A-1030-7562-4FE1-FE66884C4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63" y="1746302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zh-CN" altLang="en-US" sz="5600" b="1" dirty="0"/>
              <a:t>后端</a:t>
            </a:r>
            <a:endParaRPr lang="zh-CN" altLang="en-US" sz="5600" dirty="0"/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 err="1"/>
              <a:t>FastAPI</a:t>
            </a:r>
            <a:r>
              <a:rPr lang="zh-CN" altLang="en-US" sz="5600" dirty="0"/>
              <a:t>：高性能 </a:t>
            </a:r>
            <a:r>
              <a:rPr lang="en-US" altLang="zh-CN" sz="5600" dirty="0"/>
              <a:t>API </a:t>
            </a:r>
            <a:r>
              <a:rPr lang="zh-CN" altLang="en-US" sz="5600" dirty="0"/>
              <a:t>框架。</a:t>
            </a:r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 err="1"/>
              <a:t>SQLAlchemy</a:t>
            </a:r>
            <a:r>
              <a:rPr lang="en-US" altLang="zh-CN" sz="5600" b="1" dirty="0"/>
              <a:t> 2.x</a:t>
            </a:r>
            <a:r>
              <a:rPr lang="zh-CN" altLang="en-US" sz="5600" dirty="0"/>
              <a:t>：</a:t>
            </a:r>
            <a:r>
              <a:rPr lang="en-US" altLang="zh-CN" sz="5600" dirty="0"/>
              <a:t>ORM </a:t>
            </a:r>
            <a:r>
              <a:rPr lang="zh-CN" altLang="en-US" sz="5600" dirty="0"/>
              <a:t>与数据库访问。</a:t>
            </a:r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 err="1"/>
              <a:t>PyMySQL</a:t>
            </a:r>
            <a:r>
              <a:rPr lang="zh-CN" altLang="en-US" sz="5600" dirty="0"/>
              <a:t>：</a:t>
            </a:r>
            <a:r>
              <a:rPr lang="en-US" altLang="zh-CN" sz="5600" dirty="0"/>
              <a:t>MySQL </a:t>
            </a:r>
            <a:r>
              <a:rPr lang="zh-CN" altLang="en-US" sz="5600" dirty="0"/>
              <a:t>驱动。</a:t>
            </a:r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 err="1"/>
              <a:t>Pydantic</a:t>
            </a:r>
            <a:r>
              <a:rPr lang="en-US" altLang="zh-CN" sz="5600" b="1" dirty="0"/>
              <a:t> v2</a:t>
            </a:r>
            <a:r>
              <a:rPr lang="zh-CN" altLang="en-US" sz="5600" dirty="0"/>
              <a:t>：请求</a:t>
            </a:r>
            <a:r>
              <a:rPr lang="en-US" altLang="zh-CN" sz="5600" dirty="0"/>
              <a:t>/</a:t>
            </a:r>
            <a:r>
              <a:rPr lang="zh-CN" altLang="en-US" sz="5600" dirty="0"/>
              <a:t>响应数据校验与序列化。</a:t>
            </a:r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 err="1"/>
              <a:t>APScheduler</a:t>
            </a:r>
            <a:r>
              <a:rPr lang="zh-CN" altLang="en-US" sz="5600" dirty="0"/>
              <a:t>：后台定时任务调度。</a:t>
            </a:r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/>
              <a:t>NumPy</a:t>
            </a:r>
            <a:r>
              <a:rPr lang="zh-CN" altLang="en-US" sz="5600" dirty="0"/>
              <a:t>：实时交通模拟中的时间波动与随机分布计算。</a:t>
            </a:r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 err="1"/>
              <a:t>urllib</a:t>
            </a:r>
            <a:r>
              <a:rPr lang="zh-CN" altLang="en-US" sz="5600" b="1" dirty="0"/>
              <a:t>（标准库）</a:t>
            </a:r>
            <a:r>
              <a:rPr lang="zh-CN" altLang="en-US" sz="5600" dirty="0"/>
              <a:t>：调用 </a:t>
            </a:r>
            <a:r>
              <a:rPr lang="en-US" altLang="zh-CN" sz="5600" dirty="0"/>
              <a:t>DeepSeek </a:t>
            </a:r>
            <a:r>
              <a:rPr lang="zh-CN" altLang="en-US" sz="5600" dirty="0"/>
              <a:t>接口与流式读取。</a:t>
            </a:r>
          </a:p>
          <a:p>
            <a:pPr marL="0" indent="0">
              <a:buNone/>
            </a:pPr>
            <a:r>
              <a:rPr lang="zh-CN" altLang="en-US" sz="5600" b="1" dirty="0"/>
              <a:t>前端</a:t>
            </a:r>
            <a:endParaRPr lang="zh-CN" altLang="en-US" sz="5600" dirty="0"/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 err="1"/>
              <a:t>ECharts</a:t>
            </a:r>
            <a:r>
              <a:rPr lang="en-US" altLang="zh-CN" sz="5600" b="1" dirty="0"/>
              <a:t> 5</a:t>
            </a:r>
            <a:r>
              <a:rPr lang="zh-CN" altLang="en-US" sz="5600" dirty="0"/>
              <a:t>：地图、柱状图、趋势图、仪表盘等可视化。</a:t>
            </a:r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zh-CN" altLang="en-US" sz="5600" b="1" dirty="0"/>
              <a:t>原生 </a:t>
            </a:r>
            <a:r>
              <a:rPr lang="en-US" altLang="zh-CN" sz="5600" b="1" dirty="0"/>
              <a:t>ES6 </a:t>
            </a:r>
            <a:r>
              <a:rPr lang="zh-CN" altLang="en-US" sz="5600" b="1" dirty="0"/>
              <a:t>模块化 </a:t>
            </a:r>
            <a:r>
              <a:rPr lang="en-US" altLang="zh-CN" sz="5600" b="1" dirty="0"/>
              <a:t>JS</a:t>
            </a:r>
            <a:r>
              <a:rPr lang="zh-CN" altLang="en-US" sz="5600" dirty="0"/>
              <a:t>：无前端框架，模块粒度清晰。</a:t>
            </a:r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/>
              <a:t>Fetch API + </a:t>
            </a:r>
            <a:r>
              <a:rPr lang="en-US" altLang="zh-CN" sz="5600" b="1" dirty="0" err="1"/>
              <a:t>ReadableStream</a:t>
            </a:r>
            <a:r>
              <a:rPr lang="zh-CN" altLang="en-US" sz="5600" dirty="0"/>
              <a:t>：普通 </a:t>
            </a:r>
            <a:r>
              <a:rPr lang="en-US" altLang="zh-CN" sz="5600" dirty="0"/>
              <a:t>HTTP </a:t>
            </a:r>
            <a:r>
              <a:rPr lang="zh-CN" altLang="en-US" sz="5600" dirty="0"/>
              <a:t>与 </a:t>
            </a:r>
            <a:r>
              <a:rPr lang="en-US" altLang="zh-CN" sz="5600" dirty="0"/>
              <a:t>SSE </a:t>
            </a:r>
            <a:r>
              <a:rPr lang="zh-CN" altLang="en-US" sz="5600" dirty="0"/>
              <a:t>流式消费。</a:t>
            </a:r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/>
              <a:t>CSS3</a:t>
            </a:r>
            <a:r>
              <a:rPr lang="zh-CN" altLang="en-US" sz="5600" dirty="0"/>
              <a:t>：大屏视觉、动画效果、弹窗交互反馈。</a:t>
            </a:r>
          </a:p>
          <a:p>
            <a:pPr marL="0" indent="0">
              <a:buNone/>
            </a:pPr>
            <a:r>
              <a:rPr lang="zh-CN" altLang="en-US" sz="5600" b="1" dirty="0"/>
              <a:t>数据与部署</a:t>
            </a:r>
            <a:endParaRPr lang="zh-CN" altLang="en-US" sz="5600" dirty="0"/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/>
              <a:t>MySQL 8.0</a:t>
            </a:r>
            <a:r>
              <a:rPr lang="zh-CN" altLang="en-US" sz="5600" dirty="0"/>
              <a:t>：历史交通数据持久化。</a:t>
            </a:r>
          </a:p>
          <a:p>
            <a:r>
              <a:rPr lang="en-US" altLang="zh-CN" sz="5600" dirty="0"/>
              <a:t>-</a:t>
            </a:r>
            <a:r>
              <a:rPr lang="zh-CN" altLang="en-US" sz="5600" dirty="0"/>
              <a:t> </a:t>
            </a:r>
            <a:r>
              <a:rPr lang="en-US" altLang="zh-CN" sz="5600" b="1" dirty="0"/>
              <a:t>Docker / Docker Compose</a:t>
            </a:r>
            <a:r>
              <a:rPr lang="zh-CN" altLang="en-US" sz="5600" dirty="0"/>
              <a:t>：快速本地部署与环境一致性。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DB23F8-EC70-22CD-CC83-9C1DA3E0C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137" y="1757042"/>
            <a:ext cx="6466261" cy="363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14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F07EB-E264-B1CE-8FF0-F76932AB1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5A305D-BAF4-E67D-CF84-D02540B9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077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zh-CN" altLang="en-US" sz="2900" dirty="0"/>
              <a:t>表一：</a:t>
            </a:r>
            <a:r>
              <a:rPr lang="en-US" altLang="zh-CN" sz="2900" dirty="0" err="1"/>
              <a:t>road_segment</a:t>
            </a:r>
            <a:endParaRPr lang="en-US" altLang="zh-CN" sz="2900" dirty="0"/>
          </a:p>
          <a:p>
            <a:r>
              <a:rPr lang="zh-CN" altLang="en-US" sz="2900" dirty="0"/>
              <a:t>作用：存放每条路段的静态属性，不随时间频繁变化。</a:t>
            </a:r>
          </a:p>
          <a:p>
            <a:r>
              <a:rPr lang="zh-CN" altLang="en-US" sz="2900" dirty="0"/>
              <a:t>主要字段：</a:t>
            </a:r>
          </a:p>
          <a:p>
            <a:pPr lvl="1"/>
            <a:r>
              <a:rPr lang="en-US" altLang="zh-CN" sz="2900" dirty="0"/>
              <a:t>id</a:t>
            </a:r>
            <a:r>
              <a:rPr lang="zh-CN" altLang="en-US" sz="2900" dirty="0"/>
              <a:t>：主键，自增</a:t>
            </a:r>
          </a:p>
          <a:p>
            <a:pPr lvl="1"/>
            <a:r>
              <a:rPr lang="en-US" altLang="zh-CN" sz="2900" dirty="0"/>
              <a:t>name</a:t>
            </a:r>
            <a:r>
              <a:rPr lang="zh-CN" altLang="en-US" sz="2900" dirty="0"/>
              <a:t>：路段名称</a:t>
            </a:r>
          </a:p>
          <a:p>
            <a:pPr lvl="1"/>
            <a:r>
              <a:rPr lang="en-US" altLang="zh-CN" sz="2900" dirty="0"/>
              <a:t>type</a:t>
            </a:r>
            <a:r>
              <a:rPr lang="zh-CN" altLang="en-US" sz="2900" dirty="0"/>
              <a:t>：路段类型（</a:t>
            </a:r>
            <a:r>
              <a:rPr lang="en-US" altLang="zh-CN" sz="2900" dirty="0"/>
              <a:t>expressway / arterial / branch</a:t>
            </a:r>
            <a:r>
              <a:rPr lang="zh-CN" altLang="en-US" sz="2900" dirty="0"/>
              <a:t>）</a:t>
            </a:r>
          </a:p>
          <a:p>
            <a:pPr lvl="1"/>
            <a:r>
              <a:rPr lang="en-US" altLang="zh-CN" sz="2900" dirty="0" err="1"/>
              <a:t>free_flow_speed</a:t>
            </a:r>
            <a:r>
              <a:rPr lang="zh-CN" altLang="en-US" sz="2900" dirty="0"/>
              <a:t>：自由流速度（</a:t>
            </a:r>
            <a:r>
              <a:rPr lang="en-US" altLang="zh-CN" sz="2900" dirty="0"/>
              <a:t>km/h</a:t>
            </a:r>
            <a:r>
              <a:rPr lang="zh-CN" altLang="en-US" sz="2900" dirty="0"/>
              <a:t>）</a:t>
            </a:r>
          </a:p>
          <a:p>
            <a:pPr lvl="1"/>
            <a:r>
              <a:rPr lang="en-US" altLang="zh-CN" sz="2900" dirty="0"/>
              <a:t>capacity</a:t>
            </a:r>
            <a:r>
              <a:rPr lang="zh-CN" altLang="en-US" sz="2900" dirty="0"/>
              <a:t>：通行能力（</a:t>
            </a:r>
            <a:r>
              <a:rPr lang="en-US" altLang="zh-CN" sz="2900" dirty="0" err="1"/>
              <a:t>veh</a:t>
            </a:r>
            <a:r>
              <a:rPr lang="en-US" altLang="zh-CN" sz="2900" dirty="0"/>
              <a:t>/h</a:t>
            </a:r>
            <a:r>
              <a:rPr lang="zh-CN" altLang="en-US" sz="2900" dirty="0"/>
              <a:t>）</a:t>
            </a:r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r>
              <a:rPr lang="zh-CN" altLang="en-US" sz="2900" dirty="0"/>
              <a:t>表二：</a:t>
            </a:r>
            <a:r>
              <a:rPr lang="en-US" altLang="zh-CN" sz="2900" dirty="0" err="1"/>
              <a:t>traffic_history</a:t>
            </a:r>
            <a:endParaRPr lang="en-US" altLang="zh-CN" sz="2900" dirty="0"/>
          </a:p>
          <a:p>
            <a:r>
              <a:rPr lang="zh-CN" altLang="en-US" sz="2900" dirty="0"/>
              <a:t>作用：存放每 </a:t>
            </a:r>
            <a:r>
              <a:rPr lang="en-US" altLang="zh-CN" sz="2900" dirty="0"/>
              <a:t>5 </a:t>
            </a:r>
            <a:r>
              <a:rPr lang="zh-CN" altLang="en-US" sz="2900" dirty="0"/>
              <a:t>分钟一条的历史采样数据，用于趋势分析和预警计算。</a:t>
            </a:r>
          </a:p>
          <a:p>
            <a:r>
              <a:rPr lang="zh-CN" altLang="en-US" sz="2900" dirty="0"/>
              <a:t>主要字段：</a:t>
            </a:r>
          </a:p>
          <a:p>
            <a:pPr lvl="1"/>
            <a:r>
              <a:rPr lang="en-US" altLang="zh-CN" sz="2900" dirty="0"/>
              <a:t>id</a:t>
            </a:r>
            <a:r>
              <a:rPr lang="zh-CN" altLang="en-US" sz="2900" dirty="0"/>
              <a:t>：主键，自增</a:t>
            </a:r>
          </a:p>
          <a:p>
            <a:pPr lvl="1"/>
            <a:r>
              <a:rPr lang="en-US" altLang="zh-CN" sz="2900" dirty="0" err="1"/>
              <a:t>road_id</a:t>
            </a:r>
            <a:r>
              <a:rPr lang="zh-CN" altLang="en-US" sz="2900" dirty="0"/>
              <a:t>：外键，关联 </a:t>
            </a:r>
            <a:r>
              <a:rPr lang="en-US" altLang="zh-CN" sz="2900" dirty="0"/>
              <a:t>road_segment.id</a:t>
            </a:r>
          </a:p>
          <a:p>
            <a:pPr lvl="1"/>
            <a:r>
              <a:rPr lang="en-US" altLang="zh-CN" sz="2900" dirty="0"/>
              <a:t>timestamp</a:t>
            </a:r>
            <a:r>
              <a:rPr lang="zh-CN" altLang="en-US" sz="2900" dirty="0"/>
              <a:t>：采样时间</a:t>
            </a:r>
          </a:p>
          <a:p>
            <a:pPr lvl="1"/>
            <a:r>
              <a:rPr lang="en-US" altLang="zh-CN" sz="2900" dirty="0"/>
              <a:t>volume</a:t>
            </a:r>
            <a:r>
              <a:rPr lang="zh-CN" altLang="en-US" sz="2900" dirty="0"/>
              <a:t>：流量（</a:t>
            </a:r>
            <a:r>
              <a:rPr lang="en-US" altLang="zh-CN" sz="2900" dirty="0" err="1"/>
              <a:t>veh</a:t>
            </a:r>
            <a:r>
              <a:rPr lang="en-US" altLang="zh-CN" sz="2900" dirty="0"/>
              <a:t>/5min</a:t>
            </a:r>
            <a:r>
              <a:rPr lang="zh-CN" altLang="en-US" sz="2900" dirty="0"/>
              <a:t>）</a:t>
            </a:r>
          </a:p>
          <a:p>
            <a:pPr lvl="1"/>
            <a:r>
              <a:rPr lang="en-US" altLang="zh-CN" sz="2900" dirty="0"/>
              <a:t>speed</a:t>
            </a:r>
            <a:r>
              <a:rPr lang="zh-CN" altLang="en-US" sz="2900" dirty="0"/>
              <a:t>：平均速度（</a:t>
            </a:r>
            <a:r>
              <a:rPr lang="en-US" altLang="zh-CN" sz="2900" dirty="0"/>
              <a:t>DECIMAL(5,2), km/h</a:t>
            </a:r>
            <a:r>
              <a:rPr lang="zh-CN" altLang="en-US" sz="2900" dirty="0"/>
              <a:t>）</a:t>
            </a:r>
          </a:p>
          <a:p>
            <a:pPr lvl="1"/>
            <a:r>
              <a:rPr lang="en-US" altLang="zh-CN" sz="2900" dirty="0"/>
              <a:t>occupancy</a:t>
            </a:r>
            <a:r>
              <a:rPr lang="zh-CN" altLang="en-US" sz="2900" dirty="0"/>
              <a:t>：占有率（</a:t>
            </a:r>
            <a:r>
              <a:rPr lang="en-US" altLang="zh-CN" sz="2900" dirty="0"/>
              <a:t>DECIMAL(4,2), %</a:t>
            </a:r>
            <a:r>
              <a:rPr lang="zh-CN" altLang="en-US" sz="2900" dirty="0"/>
              <a:t>）</a:t>
            </a:r>
            <a:br>
              <a:rPr lang="en-US" altLang="zh-CN" dirty="0"/>
            </a:b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73008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32CD6-1CD8-3780-AFE9-6B854A8E8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</a:t>
            </a:r>
            <a:r>
              <a:rPr lang="en-US" altLang="zh-CN" dirty="0"/>
              <a:t>——</a:t>
            </a:r>
            <a:r>
              <a:rPr lang="zh-CN" altLang="en-US" dirty="0"/>
              <a:t>主页面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36BAC08-2DBF-7E98-0BCF-337DA135B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8011" y="695916"/>
            <a:ext cx="5208961" cy="27174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5174A29-9E83-A4FD-AE53-FEF0025ED1D8}"/>
              </a:ext>
            </a:extLst>
          </p:cNvPr>
          <p:cNvSpPr txBox="1"/>
          <p:nvPr/>
        </p:nvSpPr>
        <p:spPr>
          <a:xfrm>
            <a:off x="422679" y="1779652"/>
            <a:ext cx="4285099" cy="2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70000"/>
              </a:lnSpc>
              <a:spcBef>
                <a:spcPts val="500"/>
              </a:spcBef>
            </a:pPr>
            <a:r>
              <a:rPr lang="zh-CN" altLang="en-US" sz="1400" dirty="0"/>
              <a:t>地图、交通预警、绕行推荐、</a:t>
            </a:r>
            <a:r>
              <a:rPr lang="en-US" altLang="zh-CN" sz="1400" dirty="0"/>
              <a:t>AI </a:t>
            </a:r>
            <a:r>
              <a:rPr lang="zh-CN" altLang="en-US" sz="1400" dirty="0"/>
              <a:t>问答弹窗入口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E44852-D773-4D20-C85D-33A1586F3931}"/>
              </a:ext>
            </a:extLst>
          </p:cNvPr>
          <p:cNvSpPr txBox="1"/>
          <p:nvPr/>
        </p:nvSpPr>
        <p:spPr>
          <a:xfrm>
            <a:off x="881159" y="2122019"/>
            <a:ext cx="6097022" cy="3791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</a:pPr>
            <a:r>
              <a:rPr lang="en-US" altLang="zh-CN" sz="1400" dirty="0"/>
              <a:t>frontend/</a:t>
            </a:r>
            <a:r>
              <a:rPr lang="en-US" altLang="zh-CN" sz="1400" dirty="0" err="1"/>
              <a:t>js</a:t>
            </a:r>
            <a:r>
              <a:rPr lang="en-US" altLang="zh-CN" sz="1400" dirty="0"/>
              <a:t>/main.js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1">
              <a:lnSpc>
                <a:spcPts val="1680"/>
              </a:lnSpc>
            </a:pPr>
            <a:r>
              <a:rPr lang="zh-CN" altLang="en-US" sz="1400" dirty="0"/>
              <a:t>首页应用编排</a:t>
            </a:r>
          </a:p>
          <a:p>
            <a:pPr lvl="1">
              <a:lnSpc>
                <a:spcPts val="1680"/>
              </a:lnSpc>
            </a:pPr>
            <a:r>
              <a:rPr lang="zh-CN" altLang="en-US" sz="1400" dirty="0"/>
              <a:t>定时刷新</a:t>
            </a:r>
          </a:p>
          <a:p>
            <a:pPr lvl="1">
              <a:lnSpc>
                <a:spcPts val="1680"/>
              </a:lnSpc>
            </a:pPr>
            <a:r>
              <a:rPr lang="zh-CN" altLang="en-US" sz="1400" dirty="0"/>
              <a:t>状态管理</a:t>
            </a:r>
            <a:endParaRPr lang="en-US" altLang="zh-CN" sz="1400" dirty="0"/>
          </a:p>
          <a:p>
            <a:pPr lvl="1">
              <a:lnSpc>
                <a:spcPts val="1680"/>
              </a:lnSpc>
            </a:pPr>
            <a:endParaRPr lang="zh-CN" altLang="en-US" sz="1400" dirty="0"/>
          </a:p>
          <a:p>
            <a:pPr>
              <a:lnSpc>
                <a:spcPts val="1680"/>
              </a:lnSpc>
            </a:pPr>
            <a:r>
              <a:rPr lang="en-US" altLang="zh-CN" sz="1400" dirty="0"/>
              <a:t>frontend/</a:t>
            </a:r>
            <a:r>
              <a:rPr lang="en-US" altLang="zh-CN" sz="1400" dirty="0" err="1"/>
              <a:t>js</a:t>
            </a:r>
            <a:r>
              <a:rPr lang="en-US" altLang="zh-CN" sz="1400" dirty="0"/>
              <a:t>/xuzhou-map.js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1">
              <a:lnSpc>
                <a:spcPts val="1680"/>
              </a:lnSpc>
            </a:pPr>
            <a:r>
              <a:rPr lang="zh-CN" altLang="en-US" sz="1400" dirty="0"/>
              <a:t>徐州市 </a:t>
            </a:r>
            <a:r>
              <a:rPr lang="en-US" altLang="zh-CN" sz="1400" dirty="0" err="1"/>
              <a:t>GeoJSON</a:t>
            </a:r>
            <a:r>
              <a:rPr lang="en-US" altLang="zh-CN" sz="1400" dirty="0"/>
              <a:t> </a:t>
            </a:r>
            <a:r>
              <a:rPr lang="zh-CN" altLang="en-US" sz="1400" dirty="0"/>
              <a:t>地图加载</a:t>
            </a:r>
          </a:p>
          <a:p>
            <a:pPr lvl="1">
              <a:lnSpc>
                <a:spcPts val="1680"/>
              </a:lnSpc>
            </a:pPr>
            <a:r>
              <a:rPr lang="en-US" altLang="zh-CN" sz="1400" dirty="0" err="1"/>
              <a:t>ECharts</a:t>
            </a:r>
            <a:r>
              <a:rPr lang="en-US" altLang="zh-CN" sz="1400" dirty="0"/>
              <a:t> </a:t>
            </a:r>
            <a:r>
              <a:rPr lang="zh-CN" altLang="en-US" sz="1400" dirty="0"/>
              <a:t>地图渲染</a:t>
            </a:r>
            <a:endParaRPr lang="en-US" altLang="zh-CN" sz="1400" dirty="0"/>
          </a:p>
          <a:p>
            <a:pPr lvl="1">
              <a:lnSpc>
                <a:spcPts val="1680"/>
              </a:lnSpc>
            </a:pPr>
            <a:endParaRPr lang="zh-CN" altLang="en-US" sz="1400" dirty="0"/>
          </a:p>
          <a:p>
            <a:pPr>
              <a:lnSpc>
                <a:spcPts val="1680"/>
              </a:lnSpc>
            </a:pPr>
            <a:r>
              <a:rPr lang="en-US" altLang="zh-CN" sz="1400" dirty="0"/>
              <a:t>frontend/</a:t>
            </a:r>
            <a:r>
              <a:rPr lang="en-US" altLang="zh-CN" sz="1400" dirty="0" err="1"/>
              <a:t>js</a:t>
            </a:r>
            <a:r>
              <a:rPr lang="en-US" altLang="zh-CN" sz="1400" dirty="0"/>
              <a:t>/insights.js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1">
              <a:lnSpc>
                <a:spcPts val="1680"/>
              </a:lnSpc>
            </a:pPr>
            <a:r>
              <a:rPr lang="zh-CN" altLang="en-US" sz="1400" dirty="0"/>
              <a:t>预警列表渲染</a:t>
            </a:r>
          </a:p>
          <a:p>
            <a:pPr lvl="1">
              <a:lnSpc>
                <a:spcPts val="1680"/>
              </a:lnSpc>
            </a:pPr>
            <a:r>
              <a:rPr lang="zh-CN" altLang="en-US" sz="1400" dirty="0"/>
              <a:t>路径推荐面板渲染</a:t>
            </a:r>
            <a:endParaRPr lang="en-US" altLang="zh-CN" sz="1400" dirty="0"/>
          </a:p>
          <a:p>
            <a:pPr lvl="1">
              <a:lnSpc>
                <a:spcPts val="1680"/>
              </a:lnSpc>
            </a:pPr>
            <a:endParaRPr lang="zh-CN" altLang="en-US" sz="1400" dirty="0"/>
          </a:p>
          <a:p>
            <a:pPr>
              <a:lnSpc>
                <a:spcPts val="1680"/>
              </a:lnSpc>
            </a:pPr>
            <a:r>
              <a:rPr lang="en-US" altLang="zh-CN" sz="1400" dirty="0"/>
              <a:t>frontend/</a:t>
            </a:r>
            <a:r>
              <a:rPr lang="en-US" altLang="zh-CN" sz="1400" dirty="0" err="1"/>
              <a:t>js</a:t>
            </a:r>
            <a:r>
              <a:rPr lang="en-US" altLang="zh-CN" sz="1400" dirty="0"/>
              <a:t>/traffic-assistant.js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1">
              <a:lnSpc>
                <a:spcPts val="1680"/>
              </a:lnSpc>
            </a:pPr>
            <a:r>
              <a:rPr lang="en-US" altLang="zh-CN" sz="1400" dirty="0"/>
              <a:t>AI </a:t>
            </a:r>
            <a:r>
              <a:rPr lang="zh-CN" altLang="en-US" sz="1400" dirty="0"/>
              <a:t>问答弹窗交互</a:t>
            </a:r>
          </a:p>
          <a:p>
            <a:pPr lvl="1">
              <a:lnSpc>
                <a:spcPts val="1680"/>
              </a:lnSpc>
            </a:pPr>
            <a:r>
              <a:rPr lang="zh-CN" altLang="en-US" sz="1400" dirty="0"/>
              <a:t>“正在思考”状态显示</a:t>
            </a:r>
          </a:p>
          <a:p>
            <a:pPr lvl="1">
              <a:lnSpc>
                <a:spcPts val="1680"/>
              </a:lnSpc>
            </a:pPr>
            <a:r>
              <a:rPr lang="zh-CN" altLang="en-US" sz="1400" dirty="0"/>
              <a:t>流式思考 </a:t>
            </a:r>
            <a:r>
              <a:rPr lang="en-US" altLang="zh-CN" sz="1400" dirty="0"/>
              <a:t>/ </a:t>
            </a:r>
            <a:r>
              <a:rPr lang="zh-CN" altLang="en-US" sz="1400" dirty="0"/>
              <a:t>答案增量渲染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498D1D9-ED00-E50F-7ECA-3605FBA9A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462" y="3586077"/>
            <a:ext cx="4066057" cy="279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6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2986C-9995-62CB-28FF-7C33FB10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1DEBE5-055A-7447-2569-6B126296D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</a:t>
            </a:r>
            <a:r>
              <a:rPr lang="en-US" altLang="zh-CN" dirty="0"/>
              <a:t>——</a:t>
            </a:r>
            <a:r>
              <a:rPr lang="zh-CN" altLang="en-US" dirty="0"/>
              <a:t>详情页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49DCDC-02DA-8DED-14DD-3C1D07A52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852" y="1822662"/>
            <a:ext cx="3013225" cy="300710"/>
          </a:xfrm>
        </p:spPr>
        <p:txBody>
          <a:bodyPr/>
          <a:lstStyle/>
          <a:p>
            <a:pPr marL="0" lvl="1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zh-CN" altLang="en-US" sz="1400" dirty="0"/>
              <a:t>柱状图、趋势图、仪表盘、滚动表。</a:t>
            </a:r>
            <a:endParaRPr lang="en-US" altLang="zh-CN" sz="1400" dirty="0"/>
          </a:p>
          <a:p>
            <a:pPr marL="0" lvl="1" indent="0">
              <a:lnSpc>
                <a:spcPct val="70000"/>
              </a:lnSpc>
              <a:spcBef>
                <a:spcPts val="0"/>
              </a:spcBef>
              <a:buNone/>
            </a:pPr>
            <a:endParaRPr lang="en-US" altLang="zh-CN" sz="1400" dirty="0"/>
          </a:p>
          <a:p>
            <a:pPr marL="0" lvl="1" indent="0">
              <a:lnSpc>
                <a:spcPct val="70000"/>
              </a:lnSpc>
              <a:spcBef>
                <a:spcPts val="0"/>
              </a:spcBef>
              <a:buNone/>
            </a:pPr>
            <a:endParaRPr lang="zh-CN" altLang="en-US" sz="1400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AAF49B-EA77-414D-B4F4-EB7917B40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374" y="1822662"/>
            <a:ext cx="6096000" cy="318735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D62A779-F9CA-AB1E-3C8B-6EB7ABF50CEC}"/>
              </a:ext>
            </a:extLst>
          </p:cNvPr>
          <p:cNvSpPr txBox="1"/>
          <p:nvPr/>
        </p:nvSpPr>
        <p:spPr>
          <a:xfrm>
            <a:off x="838200" y="2378868"/>
            <a:ext cx="4556146" cy="2035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sz="1400" dirty="0"/>
              <a:t>frontend/</a:t>
            </a:r>
            <a:r>
              <a:rPr lang="en-US" altLang="zh-CN" sz="1400" dirty="0" err="1"/>
              <a:t>js</a:t>
            </a:r>
            <a:r>
              <a:rPr lang="en-US" altLang="zh-CN" sz="1400" dirty="0"/>
              <a:t>/detail.js</a:t>
            </a:r>
            <a:endParaRPr lang="zh-CN" altLang="en-US" sz="1400" dirty="0"/>
          </a:p>
          <a:p>
            <a:pPr marL="742950" lvl="1" indent="-285750">
              <a:lnSpc>
                <a:spcPts val="168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dirty="0"/>
              <a:t>详情页数据拉取</a:t>
            </a:r>
          </a:p>
          <a:p>
            <a:pPr marL="742950" lvl="1" indent="-285750">
              <a:lnSpc>
                <a:spcPts val="168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/>
              <a:t>刷新节奏控制</a:t>
            </a:r>
          </a:p>
          <a:p>
            <a:pPr>
              <a:lnSpc>
                <a:spcPts val="1680"/>
              </a:lnSpc>
              <a:spcBef>
                <a:spcPts val="450"/>
              </a:spcBef>
              <a:spcAft>
                <a:spcPts val="600"/>
              </a:spcAft>
            </a:pPr>
            <a:r>
              <a:rPr lang="en-US" altLang="zh-CN" sz="1400" dirty="0"/>
              <a:t>frontend/</a:t>
            </a:r>
            <a:r>
              <a:rPr lang="en-US" altLang="zh-CN" sz="1400" dirty="0" err="1"/>
              <a:t>js</a:t>
            </a:r>
            <a:r>
              <a:rPr lang="en-US" altLang="zh-CN" sz="1400" dirty="0"/>
              <a:t>/charts.js</a:t>
            </a:r>
            <a:endParaRPr lang="zh-CN" altLang="en-US" sz="1400" dirty="0"/>
          </a:p>
          <a:p>
            <a:pPr marL="742950" lvl="1" indent="-285750">
              <a:lnSpc>
                <a:spcPts val="168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400" dirty="0"/>
              <a:t>封装柱状图、趋势图、仪表盘、滚动表等图表配置与更新逻辑</a:t>
            </a:r>
          </a:p>
          <a:p>
            <a:pPr marL="742950" lvl="1" indent="-285750">
              <a:lnSpc>
                <a:spcPts val="168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/>
              <a:t>提供 </a:t>
            </a:r>
            <a:r>
              <a:rPr lang="en-US" altLang="zh-CN" sz="1400" dirty="0"/>
              <a:t>KPI </a:t>
            </a:r>
            <a:r>
              <a:rPr lang="zh-CN" altLang="en-US" sz="1400" dirty="0"/>
              <a:t>汇总计算函数</a:t>
            </a:r>
          </a:p>
        </p:txBody>
      </p:sp>
    </p:spTree>
    <p:extLst>
      <p:ext uri="{BB962C8B-B14F-4D97-AF65-F5344CB8AC3E}">
        <p14:creationId xmlns:p14="http://schemas.microsoft.com/office/powerpoint/2010/main" val="3545038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1EA23-ACDD-FFF6-45A2-BEFF2CB1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B28D0-FFD5-2406-AC4F-47033408B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backend/routers/roads.py</a:t>
            </a:r>
          </a:p>
          <a:p>
            <a:r>
              <a:rPr lang="en-US" altLang="zh-CN" dirty="0"/>
              <a:t>GET /</a:t>
            </a:r>
            <a:r>
              <a:rPr lang="en-US" altLang="zh-CN" dirty="0" err="1"/>
              <a:t>api</a:t>
            </a:r>
            <a:r>
              <a:rPr lang="en-US" altLang="zh-CN" dirty="0"/>
              <a:t>/roads</a:t>
            </a:r>
            <a:r>
              <a:rPr lang="zh-CN" altLang="en-US" dirty="0"/>
              <a:t>：查询路段基础信息。</a:t>
            </a:r>
            <a:br>
              <a:rPr lang="zh-CN" altLang="en-US" dirty="0"/>
            </a:b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backend/routers/traffic.py</a:t>
            </a:r>
          </a:p>
          <a:p>
            <a:r>
              <a:rPr lang="en-US" altLang="zh-CN" dirty="0"/>
              <a:t>GET /</a:t>
            </a:r>
            <a:r>
              <a:rPr lang="en-US" altLang="zh-CN" dirty="0" err="1"/>
              <a:t>api</a:t>
            </a:r>
            <a:r>
              <a:rPr lang="en-US" altLang="zh-CN" dirty="0"/>
              <a:t>/current</a:t>
            </a:r>
            <a:r>
              <a:rPr lang="zh-CN" altLang="en-US" dirty="0"/>
              <a:t>：生成当前时刻实时交通快照。</a:t>
            </a:r>
          </a:p>
          <a:p>
            <a:r>
              <a:rPr lang="en-US" altLang="zh-CN" dirty="0"/>
              <a:t>GET /</a:t>
            </a:r>
            <a:r>
              <a:rPr lang="en-US" altLang="zh-CN" dirty="0" err="1"/>
              <a:t>api</a:t>
            </a:r>
            <a:r>
              <a:rPr lang="en-US" altLang="zh-CN" dirty="0"/>
              <a:t>/trend</a:t>
            </a:r>
            <a:r>
              <a:rPr lang="zh-CN" altLang="en-US" dirty="0"/>
              <a:t>：查询历史趋势（聚合）。</a:t>
            </a:r>
            <a:br>
              <a:rPr lang="zh-CN" altLang="en-US" dirty="0"/>
            </a:b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backend/routers/insights.py</a:t>
            </a:r>
          </a:p>
          <a:p>
            <a:r>
              <a:rPr lang="en-US" altLang="zh-CN" dirty="0"/>
              <a:t>GET /</a:t>
            </a:r>
            <a:r>
              <a:rPr lang="en-US" altLang="zh-CN" dirty="0" err="1"/>
              <a:t>api</a:t>
            </a:r>
            <a:r>
              <a:rPr lang="en-US" altLang="zh-CN" dirty="0"/>
              <a:t>/alerts</a:t>
            </a:r>
            <a:r>
              <a:rPr lang="zh-CN" altLang="en-US" dirty="0"/>
              <a:t>：预警计算（结合当前快照与近一小时历史）。</a:t>
            </a:r>
          </a:p>
          <a:p>
            <a:r>
              <a:rPr lang="en-US" altLang="zh-CN" dirty="0"/>
              <a:t>GET /</a:t>
            </a:r>
            <a:r>
              <a:rPr lang="en-US" altLang="zh-CN" dirty="0" err="1"/>
              <a:t>api</a:t>
            </a:r>
            <a:r>
              <a:rPr lang="en-US" altLang="zh-CN" dirty="0"/>
              <a:t>/routes</a:t>
            </a:r>
            <a:r>
              <a:rPr lang="zh-CN" altLang="en-US" dirty="0"/>
              <a:t>：路径推荐（基于区县图与拥堵压力）。</a:t>
            </a:r>
            <a:br>
              <a:rPr lang="zh-CN" altLang="en-US" dirty="0"/>
            </a:b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backend/routers/assistant.py</a:t>
            </a:r>
          </a:p>
          <a:p>
            <a:r>
              <a:rPr lang="en-US" altLang="zh-CN" dirty="0"/>
              <a:t>POST /</a:t>
            </a:r>
            <a:r>
              <a:rPr lang="en-US" altLang="zh-CN" dirty="0" err="1"/>
              <a:t>api</a:t>
            </a:r>
            <a:r>
              <a:rPr lang="en-US" altLang="zh-CN" dirty="0"/>
              <a:t>/assistant/chat/stream</a:t>
            </a:r>
            <a:r>
              <a:rPr lang="zh-CN" altLang="en-US" dirty="0"/>
              <a:t>：流式问答（</a:t>
            </a:r>
            <a:r>
              <a:rPr lang="en-US" altLang="zh-CN" dirty="0"/>
              <a:t>SSE</a:t>
            </a:r>
            <a:r>
              <a:rPr lang="zh-CN" altLang="en-US" dirty="0"/>
              <a:t>）。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2095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5565A-F8E6-B889-3288-23E017EC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后端</a:t>
            </a:r>
            <a:r>
              <a:rPr lang="en-US" altLang="zh-CN" dirty="0"/>
              <a:t>——</a:t>
            </a:r>
            <a:r>
              <a:rPr lang="zh-CN" altLang="en-US" dirty="0"/>
              <a:t>路径推荐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548454-B589-1D02-DB07-17256CD5C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422"/>
            <a:ext cx="577125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b="1" dirty="0"/>
              <a:t>面向起点和终点区县，基于实时交通状态，返回前三条可执行路线方案。</a:t>
            </a:r>
            <a:endParaRPr lang="en-US" altLang="zh-CN" sz="1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/>
              <a:t>输入参数是起点区县和终点区县 </a:t>
            </a:r>
            <a:r>
              <a:rPr lang="en-US" altLang="zh-CN" sz="1400" dirty="0"/>
              <a:t>-》</a:t>
            </a:r>
            <a:r>
              <a:rPr lang="zh-CN" altLang="en-US" sz="1400" dirty="0"/>
              <a:t>基于当前时刻生成每条路段的实时快照，包括流量、速度、占有率 </a:t>
            </a:r>
            <a:r>
              <a:rPr lang="en-US" altLang="zh-CN" sz="1400" dirty="0"/>
              <a:t>-》</a:t>
            </a:r>
            <a:r>
              <a:rPr lang="zh-CN" altLang="en-US" sz="1400" dirty="0"/>
              <a:t>把路段级指标聚合到区县级，得到每个区县的拥堵压力值 </a:t>
            </a:r>
            <a:r>
              <a:rPr lang="en-US" altLang="zh-CN" sz="1400" dirty="0"/>
              <a:t>-》</a:t>
            </a:r>
            <a:r>
              <a:rPr lang="zh-CN" altLang="en-US" sz="1400" dirty="0"/>
              <a:t>基于区县交通图拓扑，使用带深度限制的深度优先搜索枚举起终点间无回路可达路径，避免组合爆炸 </a:t>
            </a:r>
            <a:r>
              <a:rPr lang="en-US" altLang="zh-CN" sz="1400" dirty="0"/>
              <a:t>-》</a:t>
            </a:r>
            <a:r>
              <a:rPr lang="zh-CN" altLang="en-US" sz="1400" dirty="0"/>
              <a:t>基于动态打分模型，对每条候选路径逐段计算调整后的预计耗时（按拥堵压力动态放大）与风险分数（综合压力与基础时长）</a:t>
            </a:r>
            <a:r>
              <a:rPr lang="en-US" altLang="zh-CN" sz="1400" dirty="0"/>
              <a:t>-》</a:t>
            </a:r>
            <a:r>
              <a:rPr lang="zh-CN" altLang="en-US" sz="1400" dirty="0"/>
              <a:t>随后按预计耗时升序、风险分数升序进行双指标排序，取前三名分别命名为“推荐优先线路”“平衡通行线路”“备用绕行线路”，以满足大屏端的业务可读性与算法结果保留需求。</a:t>
            </a:r>
          </a:p>
          <a:p>
            <a:pPr marL="0" indent="0">
              <a:buNone/>
            </a:pPr>
            <a:endParaRPr lang="en-US" altLang="zh-CN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CE3ECF-FD2B-11F5-DA61-1EFA7722A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966" y="1592422"/>
            <a:ext cx="4820770" cy="467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28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5E8E6-74B0-A610-C331-877E8B9F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后端</a:t>
            </a:r>
            <a:r>
              <a:rPr lang="en-US" altLang="zh-CN" dirty="0"/>
              <a:t>——</a:t>
            </a:r>
            <a:r>
              <a:rPr lang="zh-CN" altLang="en-US" dirty="0"/>
              <a:t>交通预警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1C462-CC07-B708-D3FE-B1CFCC761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514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dirty="0"/>
              <a:t>主要是计算四项指标，并用这四项指标的加权来标定拥堵等级：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500" dirty="0"/>
              <a:t>1.</a:t>
            </a:r>
            <a:r>
              <a:rPr lang="zh-CN" altLang="en-US" sz="1500" dirty="0"/>
              <a:t>占有率：表示道路被交通流占用的程度（百分比）。越高说明越接近饱和，拥堵风险越大。</a:t>
            </a:r>
            <a:endParaRPr lang="en-US" altLang="zh-CN" sz="1500" dirty="0"/>
          </a:p>
          <a:p>
            <a:pPr marL="0" indent="0">
              <a:buNone/>
            </a:pPr>
            <a:r>
              <a:rPr lang="en-US" altLang="zh-CN" sz="1500" dirty="0"/>
              <a:t>2.</a:t>
            </a:r>
            <a:r>
              <a:rPr lang="zh-CN" altLang="en-US" sz="1500" dirty="0"/>
              <a:t>流量负载率：衡量当前流量占道路可承载能力的比例。接近或超过 </a:t>
            </a:r>
            <a:r>
              <a:rPr lang="en-US" altLang="zh-CN" sz="1500" dirty="0"/>
              <a:t>100% </a:t>
            </a:r>
            <a:r>
              <a:rPr lang="zh-CN" altLang="en-US" sz="1500" dirty="0"/>
              <a:t>通常代表负载过高</a:t>
            </a:r>
            <a:endParaRPr lang="en-US" altLang="zh-CN" sz="1500" dirty="0"/>
          </a:p>
          <a:p>
            <a:pPr marL="0" indent="0">
              <a:buNone/>
            </a:pPr>
            <a:r>
              <a:rPr lang="en-US" altLang="zh-CN" sz="1500" dirty="0"/>
              <a:t>3.</a:t>
            </a:r>
            <a:r>
              <a:rPr lang="zh-CN" altLang="en-US" sz="1500" dirty="0"/>
              <a:t>速度下降幅度：衡量“相比理想通行速度，当前慢了多少”。数值越大，说明通行效率下降越明显。</a:t>
            </a:r>
            <a:endParaRPr lang="en-US" altLang="zh-CN" sz="1500" dirty="0"/>
          </a:p>
          <a:p>
            <a:pPr marL="0" indent="0">
              <a:buNone/>
            </a:pPr>
            <a:r>
              <a:rPr lang="en-US" altLang="zh-CN" sz="1500" dirty="0"/>
              <a:t>4.</a:t>
            </a:r>
            <a:r>
              <a:rPr lang="zh-CN" altLang="en-US" sz="1500" dirty="0"/>
              <a:t>趋势因子：衡量“是否正在恶化”。它强调短时变化速度，而不是只看当前瞬时值。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A6F684-C8E1-09F2-C954-B48B0B9A8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5922076" cy="214229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A7500A1-DE87-CE0F-2D2E-826299801C53}"/>
              </a:ext>
            </a:extLst>
          </p:cNvPr>
          <p:cNvSpPr txBox="1"/>
          <p:nvPr/>
        </p:nvSpPr>
        <p:spPr>
          <a:xfrm>
            <a:off x="838200" y="4396120"/>
            <a:ext cx="7924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Risk=0.35×Occupancy+0.35×VolumeRatio+0.2×SpeedDrop+0.1×TrendFactor</a:t>
            </a:r>
          </a:p>
        </p:txBody>
      </p:sp>
    </p:spTree>
    <p:extLst>
      <p:ext uri="{BB962C8B-B14F-4D97-AF65-F5344CB8AC3E}">
        <p14:creationId xmlns:p14="http://schemas.microsoft.com/office/powerpoint/2010/main" val="38074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0896F-8DFC-F11A-E7EE-4AF90FD70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后端</a:t>
            </a:r>
            <a:r>
              <a:rPr lang="en-US" altLang="zh-CN" dirty="0"/>
              <a:t>——AI</a:t>
            </a:r>
            <a:r>
              <a:rPr lang="zh-CN" altLang="en-US" dirty="0"/>
              <a:t>助手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BCDFB-4273-393B-317B-F80E9D148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dirty="0"/>
              <a:t>主要是对采集数据的自主分析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6087C0E-3C04-BA19-7911-08D76CF98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688" y="548272"/>
            <a:ext cx="5248774" cy="576145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E3D1B3C-08D1-9195-B87F-25AAD7524B3C}"/>
              </a:ext>
            </a:extLst>
          </p:cNvPr>
          <p:cNvSpPr txBox="1"/>
          <p:nvPr/>
        </p:nvSpPr>
        <p:spPr>
          <a:xfrm>
            <a:off x="838200" y="2346739"/>
            <a:ext cx="4948909" cy="1506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/>
              <a:t> 第一步：</a:t>
            </a:r>
            <a:r>
              <a:rPr lang="en-US" altLang="zh-CN" sz="1400" dirty="0"/>
              <a:t>	</a:t>
            </a:r>
            <a:r>
              <a:rPr lang="zh-CN" altLang="en-US" sz="1400" dirty="0"/>
              <a:t>接收用户问题和历史对话</a:t>
            </a: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/>
              <a:t> 第二步：</a:t>
            </a:r>
            <a:r>
              <a:rPr lang="en-US" altLang="zh-CN" sz="1400" dirty="0"/>
              <a:t>	</a:t>
            </a:r>
            <a:r>
              <a:rPr lang="zh-CN" altLang="en-US" sz="1400" dirty="0"/>
              <a:t>聚合最近</a:t>
            </a:r>
            <a:r>
              <a:rPr lang="en-US" altLang="zh-CN" sz="1400" dirty="0"/>
              <a:t>1</a:t>
            </a:r>
            <a:r>
              <a:rPr lang="zh-CN" altLang="en-US" sz="1400" dirty="0"/>
              <a:t>小时历史数据实时路况、风险预警、绕</a:t>
            </a:r>
            <a:r>
              <a:rPr lang="en-US" altLang="zh-CN" sz="1400" dirty="0"/>
              <a:t>	</a:t>
            </a:r>
            <a:r>
              <a:rPr lang="zh-CN" altLang="en-US" sz="1400" dirty="0"/>
              <a:t>行方案 </a:t>
            </a:r>
            <a:r>
              <a:rPr lang="en-US" altLang="zh-CN" sz="1400" dirty="0"/>
              <a:t>-》</a:t>
            </a:r>
            <a:r>
              <a:rPr lang="zh-CN" altLang="en-US" sz="1400" dirty="0"/>
              <a:t>构建上下文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/>
              <a:t> 第三步：</a:t>
            </a:r>
            <a:r>
              <a:rPr lang="en-US" altLang="zh-CN" sz="1400" dirty="0"/>
              <a:t>	</a:t>
            </a:r>
            <a:r>
              <a:rPr lang="zh-CN" altLang="en-US" sz="1400" dirty="0"/>
              <a:t>调用大模型生成结构化回答</a:t>
            </a:r>
          </a:p>
        </p:txBody>
      </p:sp>
    </p:spTree>
    <p:extLst>
      <p:ext uri="{BB962C8B-B14F-4D97-AF65-F5344CB8AC3E}">
        <p14:creationId xmlns:p14="http://schemas.microsoft.com/office/powerpoint/2010/main" val="64528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524AB-5209-B282-819C-01AE091E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2140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428672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975</Words>
  <Application>Microsoft Office PowerPoint</Application>
  <PresentationFormat>宽屏</PresentationFormat>
  <Paragraphs>94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智慧城市交通流量实时监控大屏 </vt:lpstr>
      <vt:lpstr>技术栈</vt:lpstr>
      <vt:lpstr>数据库设计</vt:lpstr>
      <vt:lpstr>前端——主页面</vt:lpstr>
      <vt:lpstr>前端——详情页</vt:lpstr>
      <vt:lpstr>后端</vt:lpstr>
      <vt:lpstr>后端——路径推荐</vt:lpstr>
      <vt:lpstr>后端——交通预警</vt:lpstr>
      <vt:lpstr>后端——AI助手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8618156016239</dc:creator>
  <cp:lastModifiedBy>3605421910@qq.com</cp:lastModifiedBy>
  <cp:revision>7</cp:revision>
  <dcterms:created xsi:type="dcterms:W3CDTF">2026-04-21T12:02:40Z</dcterms:created>
  <dcterms:modified xsi:type="dcterms:W3CDTF">2026-04-22T03:01:12Z</dcterms:modified>
</cp:coreProperties>
</file>