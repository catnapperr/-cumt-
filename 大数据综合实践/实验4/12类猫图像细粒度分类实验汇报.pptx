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7"/>
  </p:notesMasterIdLst>
  <p:sldIdLst>
    <p:sldId id="256" r:id="rId3"/>
    <p:sldId id="259" r:id="rId4"/>
    <p:sldId id="260" r:id="rId5"/>
    <p:sldId id="264" r:id="rId6"/>
    <p:sldId id="266" r:id="rId7"/>
    <p:sldId id="265" r:id="rId8"/>
    <p:sldId id="267" r:id="rId9"/>
    <p:sldId id="268" r:id="rId10"/>
    <p:sldId id="269" r:id="rId11"/>
    <p:sldId id="270" r:id="rId12"/>
    <p:sldId id="275" r:id="rId13"/>
    <p:sldId id="276" r:id="rId14"/>
    <p:sldId id="277" r:id="rId15"/>
    <p:sldId id="278" r:id="rId16"/>
  </p:sldIdLst>
  <p:sldSz cx="9144000" cy="6858000" type="screen4x3"/>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64" y="9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细粒度图像分类，简单来说，就是区分同一大类下的不同子类，比如我们这个任务中的不同猫品种。这项任务主要面临三大挑战：首先是类内差异大，同一只猫在不同状态下看起来可能完全不同；其次是类间差异小，不同品种的猫可能长得非常相似，差别仅在毫厘之间；最后是数据稀缺性，为每个稀有品种收集大量高质量图片非常困难，这使得训练深度模型极易过拟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现在我们进入第三部分，深入了解本次实验选用的两种核心模型——CSWin Transformer和Swin Transformer的内部工作原理。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首先是CSWin Transformer。它的核心创新在于交叉形窗口注意力机制。它不像传统方法那样全局计算，而是将计算限制在水平和垂直的条形窗口内，这样既降低了计算量，又能有效捕捉物体的结构信息。此外，它还引入了局部增强的位置编码，能更好地学习毛发纹理等细节特征，这对于细粒度分类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理论介绍完毕，接下来我们进入第四部分，看看具体的实验是如何设置的，以及我们取得了什么样的结果</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这是我们的实验环境和关键超参数配置。我们使用的是PaddlePaddle框架，在RTX 4060显卡上进行训练。值得注意的是几个关键设置：我们将图像分辨率设为384x384以保留更多细节；训练分为两个阶段，先快速训练分类头，再精细微调整个模型；同时，我们还使用了一系列成熟的优化技巧，如AdamW优化器和余弦退火学习率，来确保训练过程的稳定和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6858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39800" y="4216400"/>
            <a:ext cx="7277100" cy="469900"/>
          </a:xfrm>
          <a:prstGeom prst="rect">
            <a:avLst/>
          </a:prstGeom>
          <a:noFill/>
          <a:ln w="25400" cap="flat" cmpd="sng">
            <a:noFill/>
            <a:prstDash val="solid"/>
            <a:round/>
          </a:ln>
        </p:spPr>
      </p:pic>
      <p:sp>
        <p:nvSpPr>
          <p:cNvPr id="4" name="AutoShape 4"/>
          <p:cNvSpPr/>
          <p:nvPr/>
        </p:nvSpPr>
        <p:spPr>
          <a:xfrm>
            <a:off x="762000" y="2730500"/>
            <a:ext cx="7620000" cy="762000"/>
          </a:xfrm>
          <a:prstGeom prst="rect">
            <a:avLst/>
          </a:prstGeom>
          <a:noFill/>
          <a:ln w="9525" cap="flat" cmpd="sng">
            <a:noFill/>
            <a:prstDash val="solid"/>
            <a:round/>
          </a:ln>
        </p:spPr>
        <p:txBody>
          <a:bodyPr vert="horz" wrap="none" lIns="88900" tIns="50800" rIns="88900" bIns="50800" rtlCol="0" anchor="t" anchorCtr="0"/>
          <a:lstStyle/>
          <a:p>
            <a:pPr marL="0" indent="0" algn="ctr">
              <a:lnSpc>
                <a:spcPct val="100000"/>
              </a:lnSpc>
              <a:defRPr/>
            </a:pPr>
            <a:r>
              <a:rPr lang="en-US" sz="3200" b="1" i="0" u="none" strike="noStrike" dirty="0">
                <a:solidFill>
                  <a:srgbClr val="072063"/>
                </a:solidFill>
                <a:latin typeface="微软雅黑"/>
                <a:ea typeface="微软雅黑"/>
                <a:cs typeface="微软雅黑"/>
                <a:sym typeface="微软雅黑"/>
              </a:rPr>
              <a:t>基于迁移学习的12类猫图像细粒度分类</a:t>
            </a:r>
            <a:endParaRPr lang="en-US" sz="1100" dirty="0"/>
          </a:p>
        </p:txBody>
      </p:sp>
      <p:sp>
        <p:nvSpPr>
          <p:cNvPr id="6" name="AutoShape 6"/>
          <p:cNvSpPr/>
          <p:nvPr/>
        </p:nvSpPr>
        <p:spPr>
          <a:xfrm>
            <a:off x="1016000" y="4826000"/>
            <a:ext cx="2286000" cy="7620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8333"/>
              </a:lnSpc>
              <a:defRPr/>
            </a:pPr>
            <a:endParaRPr lang="en-US" sz="1200" b="0" i="0" u="none" strike="noStrike" dirty="0">
              <a:solidFill>
                <a:srgbClr val="646464"/>
              </a:solidFill>
              <a:latin typeface="Noto Sans SC"/>
              <a:ea typeface="Noto Sans SC"/>
              <a:cs typeface="Noto Sans SC"/>
              <a:sym typeface="Noto Sans SC"/>
            </a:endParaRPr>
          </a:p>
        </p:txBody>
      </p:sp>
      <p:cxnSp>
        <p:nvCxnSpPr>
          <p:cNvPr id="7" name="Connector 7"/>
          <p:cNvCxnSpPr/>
          <p:nvPr/>
        </p:nvCxnSpPr>
        <p:spPr>
          <a:xfrm rot="5347115">
            <a:off x="3270250" y="5295949"/>
            <a:ext cx="825500" cy="12700"/>
          </a:xfrm>
          <a:prstGeom prst="straightConnector1">
            <a:avLst/>
          </a:prstGeom>
          <a:solidFill>
            <a:srgbClr val="DEE0E3">
              <a:alpha val="100000"/>
            </a:srgbClr>
          </a:solidFill>
          <a:ln w="12700" cap="flat" cmpd="sng">
            <a:solidFill>
              <a:srgbClr val="C8C8C8">
                <a:alpha val="100000"/>
              </a:srgbClr>
            </a:solidFill>
            <a:prstDash val="solid"/>
            <a:round/>
            <a:headEnd type="none" w="med" len="med"/>
            <a:tailEnd type="none" w="med" len="med"/>
          </a:ln>
        </p:spPr>
      </p:cxnSp>
      <p:sp>
        <p:nvSpPr>
          <p:cNvPr id="8" name="AutoShape 8"/>
          <p:cNvSpPr/>
          <p:nvPr/>
        </p:nvSpPr>
        <p:spPr>
          <a:xfrm>
            <a:off x="3937000" y="4826000"/>
            <a:ext cx="2286000" cy="7620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8333"/>
              </a:lnSpc>
              <a:defRPr/>
            </a:pPr>
            <a:endParaRPr lang="en-US" sz="1200" b="0" i="0" u="none" strike="noStrike" dirty="0">
              <a:solidFill>
                <a:srgbClr val="646464"/>
              </a:solidFill>
              <a:latin typeface="Noto Sans SC"/>
              <a:ea typeface="Noto Sans SC"/>
              <a:cs typeface="Noto Sans SC"/>
              <a:sym typeface="Noto Sans SC"/>
            </a:endParaRPr>
          </a:p>
        </p:txBody>
      </p:sp>
      <p:cxnSp>
        <p:nvCxnSpPr>
          <p:cNvPr id="9" name="Connector 9"/>
          <p:cNvCxnSpPr/>
          <p:nvPr/>
        </p:nvCxnSpPr>
        <p:spPr>
          <a:xfrm rot="5347115">
            <a:off x="5937250" y="5295949"/>
            <a:ext cx="825500" cy="12700"/>
          </a:xfrm>
          <a:prstGeom prst="straightConnector1">
            <a:avLst/>
          </a:prstGeom>
          <a:solidFill>
            <a:srgbClr val="DEE0E3">
              <a:alpha val="100000"/>
            </a:srgbClr>
          </a:solidFill>
          <a:ln w="12700" cap="flat" cmpd="sng">
            <a:solidFill>
              <a:srgbClr val="C8C8C8">
                <a:alpha val="100000"/>
              </a:srgbClr>
            </a:solidFill>
            <a:prstDash val="solid"/>
            <a:round/>
            <a:headEnd type="none" w="med" len="med"/>
            <a:tailEnd type="none" w="med" len="med"/>
          </a:ln>
        </p:spPr>
      </p:cxnSp>
      <p:pic>
        <p:nvPicPr>
          <p:cNvPr id="11" name="Picture 11"/>
          <p:cNvPicPr>
            <a:picLocks noChangeAspect="1"/>
          </p:cNvPicPr>
          <p:nvPr/>
        </p:nvPicPr>
        <p:blipFill>
          <a:blip r:embed="rId4"/>
          <a:srcRect/>
          <a:stretch>
            <a:fillRect/>
          </a:stretch>
        </p:blipFill>
        <p:spPr>
          <a:xfrm>
            <a:off x="2984500" y="1270000"/>
            <a:ext cx="2857500" cy="7112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90500"/>
            <a:ext cx="8877300" cy="6477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39800" y="977900"/>
            <a:ext cx="7277100" cy="469900"/>
          </a:xfrm>
          <a:prstGeom prst="rect">
            <a:avLst/>
          </a:prstGeom>
          <a:noFill/>
          <a:ln w="25400" cap="flat" cmpd="sng">
            <a:noFill/>
            <a:prstDash val="solid"/>
            <a:round/>
          </a:ln>
        </p:spPr>
      </p:pic>
      <p:sp>
        <p:nvSpPr>
          <p:cNvPr id="4" name="AutoShape 4"/>
          <p:cNvSpPr/>
          <p:nvPr/>
        </p:nvSpPr>
        <p:spPr>
          <a:xfrm>
            <a:off x="457200" y="342900"/>
            <a:ext cx="8229600" cy="5715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zh-CN" altLang="en-US" sz="2800" b="1" dirty="0">
                <a:solidFill>
                  <a:srgbClr val="072063"/>
                </a:solidFill>
                <a:latin typeface="微软雅黑"/>
                <a:ea typeface="微软雅黑"/>
                <a:cs typeface="微软雅黑"/>
                <a:sym typeface="微软雅黑"/>
              </a:rPr>
              <a:t>任务分析</a:t>
            </a:r>
            <a:r>
              <a:rPr lang="en-US" sz="2800" b="1" i="0" u="none" strike="noStrike" dirty="0">
                <a:solidFill>
                  <a:srgbClr val="072063"/>
                </a:solidFill>
                <a:latin typeface="微软雅黑"/>
                <a:ea typeface="微软雅黑"/>
                <a:cs typeface="微软雅黑"/>
                <a:sym typeface="微软雅黑"/>
              </a:rPr>
              <a:t>：</a:t>
            </a:r>
            <a:r>
              <a:rPr lang="en-US" sz="2800" b="1" i="0" u="none" strike="noStrike" dirty="0" err="1">
                <a:solidFill>
                  <a:srgbClr val="072063"/>
                </a:solidFill>
                <a:latin typeface="微软雅黑"/>
                <a:ea typeface="微软雅黑"/>
                <a:cs typeface="微软雅黑"/>
                <a:sym typeface="微软雅黑"/>
              </a:rPr>
              <a:t>细粒度图像分类的挑战</a:t>
            </a:r>
            <a:endParaRPr lang="en-US" sz="1100" dirty="0"/>
          </a:p>
        </p:txBody>
      </p:sp>
      <p:sp>
        <p:nvSpPr>
          <p:cNvPr id="5" name="AutoShape 5"/>
          <p:cNvSpPr/>
          <p:nvPr/>
        </p:nvSpPr>
        <p:spPr>
          <a:xfrm>
            <a:off x="843911" y="1752600"/>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dirty="0">
                <a:solidFill>
                  <a:srgbClr val="072063"/>
                </a:solidFill>
                <a:latin typeface="微软雅黑"/>
                <a:ea typeface="微软雅黑"/>
                <a:cs typeface="微软雅黑"/>
                <a:sym typeface="微软雅黑"/>
              </a:rPr>
              <a:t>01 </a:t>
            </a:r>
            <a:r>
              <a:rPr lang="en-US" sz="1600" b="1" i="0" u="none" strike="noStrike" dirty="0" err="1">
                <a:solidFill>
                  <a:srgbClr val="072063"/>
                </a:solidFill>
                <a:latin typeface="微软雅黑"/>
                <a:ea typeface="微软雅黑"/>
                <a:cs typeface="微软雅黑"/>
                <a:sym typeface="微软雅黑"/>
              </a:rPr>
              <a:t>类内差异大</a:t>
            </a:r>
            <a:endParaRPr lang="en-US" sz="1100" dirty="0"/>
          </a:p>
        </p:txBody>
      </p:sp>
      <p:sp>
        <p:nvSpPr>
          <p:cNvPr id="6" name="AutoShape 6"/>
          <p:cNvSpPr/>
          <p:nvPr/>
        </p:nvSpPr>
        <p:spPr>
          <a:xfrm>
            <a:off x="843910" y="2286000"/>
            <a:ext cx="4541903" cy="5207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同一品种的猫因姿态、毛色、拍摄角度等因素的影响</a:t>
            </a:r>
            <a:endParaRPr lang="en-US" sz="1400" b="0" i="0" u="none" strike="noStrike" dirty="0">
              <a:solidFill>
                <a:srgbClr val="000000"/>
              </a:solidFill>
              <a:latin typeface="微软雅黑"/>
              <a:ea typeface="微软雅黑"/>
              <a:cs typeface="微软雅黑"/>
              <a:sym typeface="微软雅黑"/>
            </a:endParaRPr>
          </a:p>
          <a:p>
            <a:pPr marL="0" indent="0" algn="l">
              <a:lnSpc>
                <a:spcPct val="100000"/>
              </a:lnSpc>
              <a:defRPr/>
            </a:pPr>
            <a:r>
              <a:rPr lang="en-US" sz="1400" b="0" i="0" u="none" strike="noStrike" dirty="0">
                <a:solidFill>
                  <a:srgbClr val="000000"/>
                </a:solidFill>
                <a:latin typeface="微软雅黑"/>
                <a:ea typeface="微软雅黑"/>
                <a:cs typeface="微软雅黑"/>
                <a:sym typeface="微软雅黑"/>
              </a:rPr>
              <a:t>，</a:t>
            </a:r>
            <a:r>
              <a:rPr lang="en-US" sz="1400" b="0" i="0" u="none" strike="noStrike" dirty="0" err="1">
                <a:solidFill>
                  <a:srgbClr val="000000"/>
                </a:solidFill>
                <a:latin typeface="微软雅黑"/>
                <a:ea typeface="微软雅黑"/>
                <a:cs typeface="微软雅黑"/>
                <a:sym typeface="微软雅黑"/>
              </a:rPr>
              <a:t>外观表现出的差异往往非常巨大，增加了识别难度</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7" name="AutoShape 7"/>
          <p:cNvSpPr/>
          <p:nvPr/>
        </p:nvSpPr>
        <p:spPr>
          <a:xfrm>
            <a:off x="843911" y="2159000"/>
            <a:ext cx="4965700" cy="50800"/>
          </a:xfrm>
          <a:prstGeom prst="roundRect">
            <a:avLst>
              <a:gd name="adj" fmla="val 0"/>
            </a:avLst>
          </a:prstGeom>
          <a:pattFill prst="dkDnDiag">
            <a:fgClr>
              <a:srgbClr val="C7C7C7">
                <a:alpha val="100000"/>
              </a:srgbClr>
            </a:fgClr>
            <a:bgClr>
              <a:srgbClr val="FFFFFF">
                <a:alpha val="100000"/>
              </a:srgbClr>
            </a:bgClr>
          </a:patt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43911" y="2971800"/>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a:solidFill>
                  <a:srgbClr val="072063"/>
                </a:solidFill>
                <a:latin typeface="微软雅黑"/>
                <a:ea typeface="微软雅黑"/>
                <a:cs typeface="微软雅黑"/>
                <a:sym typeface="微软雅黑"/>
              </a:rPr>
              <a:t>02 类间差异小</a:t>
            </a:r>
            <a:endParaRPr lang="en-US" sz="1100"/>
          </a:p>
        </p:txBody>
      </p:sp>
      <p:sp>
        <p:nvSpPr>
          <p:cNvPr id="9" name="AutoShape 9"/>
          <p:cNvSpPr/>
          <p:nvPr/>
        </p:nvSpPr>
        <p:spPr>
          <a:xfrm>
            <a:off x="843911" y="3517900"/>
            <a:ext cx="5029200" cy="5207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不同品种的猫之间的区分特征通常仅体现在耳朵形状</a:t>
            </a:r>
            <a:r>
              <a:rPr lang="en-US" sz="1400" b="0" i="0" u="none" strike="noStrike" dirty="0">
                <a:solidFill>
                  <a:srgbClr val="000000"/>
                </a:solidFill>
                <a:latin typeface="微软雅黑"/>
                <a:ea typeface="微软雅黑"/>
                <a:cs typeface="微软雅黑"/>
                <a:sym typeface="微软雅黑"/>
              </a:rPr>
              <a:t>、</a:t>
            </a: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脸部轮廓、毛发纹理等细微之处，人眼也难以轻易辨别</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10" name="AutoShape 10"/>
          <p:cNvSpPr/>
          <p:nvPr/>
        </p:nvSpPr>
        <p:spPr>
          <a:xfrm>
            <a:off x="843911" y="3390900"/>
            <a:ext cx="4965700" cy="50800"/>
          </a:xfrm>
          <a:prstGeom prst="roundRect">
            <a:avLst>
              <a:gd name="adj" fmla="val 0"/>
            </a:avLst>
          </a:prstGeom>
          <a:pattFill prst="dkDnDiag">
            <a:fgClr>
              <a:srgbClr val="C7C7C7">
                <a:alpha val="100000"/>
              </a:srgbClr>
            </a:fgClr>
            <a:bgClr>
              <a:srgbClr val="FFFFFF">
                <a:alpha val="100000"/>
              </a:srgbClr>
            </a:bgClr>
          </a:patt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43911" y="4267200"/>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a:solidFill>
                  <a:srgbClr val="072063"/>
                </a:solidFill>
                <a:latin typeface="微软雅黑"/>
                <a:ea typeface="微软雅黑"/>
                <a:cs typeface="微软雅黑"/>
                <a:sym typeface="微软雅黑"/>
              </a:rPr>
              <a:t>03 数据稀缺性</a:t>
            </a:r>
            <a:endParaRPr lang="en-US" sz="1100"/>
          </a:p>
        </p:txBody>
      </p:sp>
      <p:sp>
        <p:nvSpPr>
          <p:cNvPr id="12" name="AutoShape 12"/>
          <p:cNvSpPr/>
          <p:nvPr/>
        </p:nvSpPr>
        <p:spPr>
          <a:xfrm>
            <a:off x="843911" y="4813300"/>
            <a:ext cx="5029200" cy="5207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细粒度类别的专业标注数据十分稀缺，依靠小样本进行</a:t>
            </a:r>
            <a:endParaRPr lang="en-US" sz="1400" b="0" i="0" u="none" strike="noStrike" dirty="0">
              <a:solidFill>
                <a:srgbClr val="000000"/>
              </a:solidFill>
              <a:latin typeface="微软雅黑"/>
              <a:ea typeface="微软雅黑"/>
              <a:cs typeface="微软雅黑"/>
              <a:sym typeface="微软雅黑"/>
            </a:endParaRP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模型训练极易出现过拟合现象，泛化能力大打折扣</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13" name="AutoShape 13"/>
          <p:cNvSpPr/>
          <p:nvPr/>
        </p:nvSpPr>
        <p:spPr>
          <a:xfrm>
            <a:off x="843911" y="4686300"/>
            <a:ext cx="4965700" cy="50800"/>
          </a:xfrm>
          <a:prstGeom prst="roundRect">
            <a:avLst>
              <a:gd name="adj" fmla="val 0"/>
            </a:avLst>
          </a:prstGeom>
          <a:pattFill prst="dkDnDiag">
            <a:fgClr>
              <a:srgbClr val="C7C7C7">
                <a:alpha val="100000"/>
              </a:srgbClr>
            </a:fgClr>
            <a:bgClr>
              <a:srgbClr val="FFFFFF">
                <a:alpha val="100000"/>
              </a:srgbClr>
            </a:bgClr>
          </a:patt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4"/>
          <a:srcRect/>
          <a:stretch>
            <a:fillRect/>
          </a:stretch>
        </p:blipFill>
        <p:spPr>
          <a:xfrm>
            <a:off x="7162800" y="6172200"/>
            <a:ext cx="1778000" cy="444500"/>
          </a:xfrm>
          <a:prstGeom prst="rect">
            <a:avLst/>
          </a:prstGeom>
          <a:noFill/>
          <a:ln w="25400" cap="flat" cmpd="sng">
            <a:noFill/>
            <a:prstDash val="solid"/>
            <a:rou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6858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39800" y="977900"/>
            <a:ext cx="7277100" cy="469900"/>
          </a:xfrm>
          <a:prstGeom prst="rect">
            <a:avLst/>
          </a:prstGeom>
          <a:noFill/>
          <a:ln w="25400" cap="flat" cmpd="sng">
            <a:noFill/>
            <a:prstDash val="solid"/>
            <a:round/>
          </a:ln>
        </p:spPr>
      </p:pic>
      <p:sp>
        <p:nvSpPr>
          <p:cNvPr id="4" name="AutoShape 4"/>
          <p:cNvSpPr/>
          <p:nvPr/>
        </p:nvSpPr>
        <p:spPr>
          <a:xfrm>
            <a:off x="457200" y="342900"/>
            <a:ext cx="8229600" cy="5715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072063"/>
                </a:solidFill>
                <a:latin typeface="微软雅黑"/>
                <a:ea typeface="微软雅黑"/>
                <a:cs typeface="微软雅黑"/>
                <a:sym typeface="微软雅黑"/>
              </a:rPr>
              <a:t>研究目标</a:t>
            </a:r>
            <a:endParaRPr lang="en-US" sz="1100"/>
          </a:p>
        </p:txBody>
      </p:sp>
      <p:sp>
        <p:nvSpPr>
          <p:cNvPr id="5" name="AutoShape 5"/>
          <p:cNvSpPr/>
          <p:nvPr/>
        </p:nvSpPr>
        <p:spPr>
          <a:xfrm>
            <a:off x="2311400" y="3273643"/>
            <a:ext cx="1003300" cy="3429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a:solidFill>
                  <a:srgbClr val="072063"/>
                </a:solidFill>
                <a:latin typeface="微软雅黑"/>
                <a:ea typeface="微软雅黑"/>
                <a:cs typeface="微软雅黑"/>
                <a:sym typeface="微软雅黑"/>
              </a:rPr>
              <a:t>迁移学习</a:t>
            </a:r>
            <a:endParaRPr lang="en-US" sz="1100"/>
          </a:p>
        </p:txBody>
      </p:sp>
      <p:sp>
        <p:nvSpPr>
          <p:cNvPr id="6" name="AutoShape 6"/>
          <p:cNvSpPr/>
          <p:nvPr/>
        </p:nvSpPr>
        <p:spPr>
          <a:xfrm>
            <a:off x="1645949" y="3647858"/>
            <a:ext cx="1889701" cy="9271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引入大数据集预训练模型</a:t>
            </a:r>
            <a:r>
              <a:rPr lang="en-US" sz="1200" b="0" i="0" u="none" strike="noStrike" dirty="0">
                <a:solidFill>
                  <a:srgbClr val="072063"/>
                </a:solidFill>
                <a:latin typeface="微软雅黑"/>
                <a:ea typeface="微软雅黑"/>
                <a:cs typeface="微软雅黑"/>
                <a:sym typeface="微软雅黑"/>
              </a:rPr>
              <a:t>，</a:t>
            </a:r>
          </a:p>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充分利用通用视觉特征</a:t>
            </a:r>
            <a:r>
              <a:rPr lang="en-US" sz="1200" b="0" i="0" u="none" strike="noStrike" dirty="0">
                <a:solidFill>
                  <a:srgbClr val="072063"/>
                </a:solidFill>
                <a:latin typeface="微软雅黑"/>
                <a:ea typeface="微软雅黑"/>
                <a:cs typeface="微软雅黑"/>
                <a:sym typeface="微软雅黑"/>
              </a:rPr>
              <a:t>，</a:t>
            </a:r>
          </a:p>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解决小样本场景下的</a:t>
            </a:r>
            <a:endParaRPr lang="en-US" sz="1200" dirty="0">
              <a:solidFill>
                <a:srgbClr val="072063"/>
              </a:solidFill>
              <a:latin typeface="微软雅黑"/>
              <a:ea typeface="微软雅黑"/>
              <a:cs typeface="微软雅黑"/>
              <a:sym typeface="微软雅黑"/>
            </a:endParaRPr>
          </a:p>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过拟合问题</a:t>
            </a:r>
            <a:r>
              <a:rPr lang="en-US" sz="1200" b="0" i="0" u="none" strike="noStrike" dirty="0">
                <a:solidFill>
                  <a:srgbClr val="072063"/>
                </a:solidFill>
                <a:latin typeface="微软雅黑"/>
                <a:ea typeface="微软雅黑"/>
                <a:cs typeface="微软雅黑"/>
                <a:sym typeface="微软雅黑"/>
              </a:rPr>
              <a:t>，</a:t>
            </a:r>
            <a:endParaRPr lang="en-US" sz="1100" dirty="0"/>
          </a:p>
        </p:txBody>
      </p:sp>
      <p:sp>
        <p:nvSpPr>
          <p:cNvPr id="7" name="AutoShape 7"/>
          <p:cNvSpPr/>
          <p:nvPr/>
        </p:nvSpPr>
        <p:spPr>
          <a:xfrm>
            <a:off x="4178300" y="3299043"/>
            <a:ext cx="1003300" cy="3429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a:solidFill>
                  <a:srgbClr val="000000"/>
                </a:solidFill>
                <a:latin typeface="微软雅黑"/>
                <a:ea typeface="微软雅黑"/>
                <a:cs typeface="微软雅黑"/>
                <a:sym typeface="微软雅黑"/>
              </a:rPr>
              <a:t>模型对比</a:t>
            </a:r>
            <a:endParaRPr lang="en-US" sz="1100"/>
          </a:p>
        </p:txBody>
      </p:sp>
      <p:sp>
        <p:nvSpPr>
          <p:cNvPr id="8" name="AutoShape 8"/>
          <p:cNvSpPr/>
          <p:nvPr/>
        </p:nvSpPr>
        <p:spPr>
          <a:xfrm>
            <a:off x="3556691" y="3647858"/>
            <a:ext cx="2329759" cy="84476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16666"/>
              </a:lnSpc>
              <a:defRPr/>
            </a:pPr>
            <a:r>
              <a:rPr lang="en-US" sz="1200" b="0" i="0" u="none" strike="noStrike" dirty="0" err="1">
                <a:solidFill>
                  <a:srgbClr val="000000"/>
                </a:solidFill>
                <a:latin typeface="微软雅黑"/>
                <a:ea typeface="微软雅黑"/>
                <a:cs typeface="微软雅黑"/>
                <a:sym typeface="微软雅黑"/>
              </a:rPr>
              <a:t>深度对比CSWin与</a:t>
            </a:r>
            <a:endParaRPr lang="en-US" sz="1200" b="0" i="0" u="none" strike="noStrike" dirty="0">
              <a:solidFill>
                <a:srgbClr val="000000"/>
              </a:solidFill>
              <a:latin typeface="微软雅黑"/>
              <a:ea typeface="微软雅黑"/>
              <a:cs typeface="微软雅黑"/>
              <a:sym typeface="微软雅黑"/>
            </a:endParaRPr>
          </a:p>
          <a:p>
            <a:pPr marL="0" indent="0" algn="l">
              <a:lnSpc>
                <a:spcPct val="116666"/>
              </a:lnSpc>
              <a:defRPr/>
            </a:pPr>
            <a:r>
              <a:rPr lang="en-US" sz="1200" b="0" i="0" u="none" strike="noStrike" dirty="0">
                <a:solidFill>
                  <a:srgbClr val="000000"/>
                </a:solidFill>
                <a:latin typeface="微软雅黑"/>
                <a:ea typeface="微软雅黑"/>
                <a:cs typeface="微软雅黑"/>
                <a:sym typeface="微软雅黑"/>
              </a:rPr>
              <a:t>Swin </a:t>
            </a:r>
            <a:r>
              <a:rPr lang="en-US" sz="1200" b="0" i="0" u="none" strike="noStrike" dirty="0" err="1">
                <a:solidFill>
                  <a:srgbClr val="000000"/>
                </a:solidFill>
                <a:latin typeface="微软雅黑"/>
                <a:ea typeface="微软雅黑"/>
                <a:cs typeface="微软雅黑"/>
                <a:sym typeface="微软雅黑"/>
              </a:rPr>
              <a:t>Transformer架构</a:t>
            </a:r>
            <a:r>
              <a:rPr lang="en-US" sz="1200" b="0" i="0" u="none" strike="noStrike" dirty="0">
                <a:solidFill>
                  <a:srgbClr val="000000"/>
                </a:solidFill>
                <a:latin typeface="微软雅黑"/>
                <a:ea typeface="微软雅黑"/>
                <a:cs typeface="微软雅黑"/>
                <a:sym typeface="微软雅黑"/>
              </a:rPr>
              <a:t>，</a:t>
            </a:r>
          </a:p>
          <a:p>
            <a:pPr marL="0" indent="0" algn="l">
              <a:lnSpc>
                <a:spcPct val="116666"/>
              </a:lnSpc>
              <a:defRPr/>
            </a:pPr>
            <a:r>
              <a:rPr lang="en-US" sz="1200" b="0" i="0" u="none" strike="noStrike" dirty="0" err="1">
                <a:solidFill>
                  <a:srgbClr val="000000"/>
                </a:solidFill>
                <a:latin typeface="微软雅黑"/>
                <a:ea typeface="微软雅黑"/>
                <a:cs typeface="微软雅黑"/>
                <a:sym typeface="微软雅黑"/>
              </a:rPr>
              <a:t>分析二者在细粒度特征提取与</a:t>
            </a:r>
            <a:endParaRPr lang="en-US" sz="1200" b="0" i="0" u="none" strike="noStrike" dirty="0">
              <a:solidFill>
                <a:srgbClr val="000000"/>
              </a:solidFill>
              <a:latin typeface="微软雅黑"/>
              <a:ea typeface="微软雅黑"/>
              <a:cs typeface="微软雅黑"/>
              <a:sym typeface="微软雅黑"/>
            </a:endParaRPr>
          </a:p>
          <a:p>
            <a:pPr marL="0" indent="0" algn="l">
              <a:lnSpc>
                <a:spcPct val="116666"/>
              </a:lnSpc>
              <a:defRPr/>
            </a:pPr>
            <a:r>
              <a:rPr lang="en-US" sz="1200" b="0" i="0" u="none" strike="noStrike" dirty="0" err="1">
                <a:solidFill>
                  <a:srgbClr val="000000"/>
                </a:solidFill>
                <a:latin typeface="微软雅黑"/>
                <a:ea typeface="微软雅黑"/>
                <a:cs typeface="微软雅黑"/>
                <a:sym typeface="微软雅黑"/>
              </a:rPr>
              <a:t>分类任务中的性能表现与适用场景</a:t>
            </a:r>
            <a:r>
              <a:rPr lang="en-US" sz="1200" b="0" i="0" u="none" strike="noStrike" dirty="0">
                <a:solidFill>
                  <a:srgbClr val="000000"/>
                </a:solidFill>
                <a:latin typeface="微软雅黑"/>
                <a:ea typeface="微软雅黑"/>
                <a:cs typeface="微软雅黑"/>
                <a:sym typeface="微软雅黑"/>
              </a:rPr>
              <a:t>。</a:t>
            </a:r>
            <a:endParaRPr lang="en-US" sz="1100" dirty="0"/>
          </a:p>
        </p:txBody>
      </p:sp>
      <p:sp>
        <p:nvSpPr>
          <p:cNvPr id="9" name="AutoShape 9"/>
          <p:cNvSpPr/>
          <p:nvPr/>
        </p:nvSpPr>
        <p:spPr>
          <a:xfrm>
            <a:off x="6057900" y="3299043"/>
            <a:ext cx="1003300" cy="3429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a:solidFill>
                  <a:srgbClr val="072063"/>
                </a:solidFill>
                <a:latin typeface="微软雅黑"/>
                <a:ea typeface="微软雅黑"/>
                <a:cs typeface="微软雅黑"/>
                <a:sym typeface="微软雅黑"/>
              </a:rPr>
              <a:t>策略优化</a:t>
            </a:r>
            <a:endParaRPr lang="en-US" sz="1100"/>
          </a:p>
        </p:txBody>
      </p:sp>
      <p:sp>
        <p:nvSpPr>
          <p:cNvPr id="10" name="AutoShape 10"/>
          <p:cNvSpPr/>
          <p:nvPr/>
        </p:nvSpPr>
        <p:spPr>
          <a:xfrm>
            <a:off x="5954473" y="3603843"/>
            <a:ext cx="2646646" cy="9271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融合TTA测试时增强</a:t>
            </a:r>
            <a:endParaRPr lang="en-US" sz="1200" b="0" i="0" u="none" strike="noStrike" dirty="0">
              <a:solidFill>
                <a:srgbClr val="072063"/>
              </a:solidFill>
              <a:latin typeface="微软雅黑"/>
              <a:ea typeface="微软雅黑"/>
              <a:cs typeface="微软雅黑"/>
              <a:sym typeface="微软雅黑"/>
            </a:endParaRPr>
          </a:p>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与多模型集成技术</a:t>
            </a:r>
            <a:r>
              <a:rPr lang="en-US" sz="1200" b="0" i="0" u="none" strike="noStrike" dirty="0">
                <a:solidFill>
                  <a:srgbClr val="072063"/>
                </a:solidFill>
                <a:latin typeface="微软雅黑"/>
                <a:ea typeface="微软雅黑"/>
                <a:cs typeface="微软雅黑"/>
                <a:sym typeface="微软雅黑"/>
              </a:rPr>
              <a:t>，</a:t>
            </a:r>
          </a:p>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互补单一模型短板</a:t>
            </a:r>
            <a:r>
              <a:rPr lang="en-US" sz="1200" b="0" i="0" u="none" strike="noStrike" dirty="0">
                <a:solidFill>
                  <a:srgbClr val="072063"/>
                </a:solidFill>
                <a:latin typeface="微软雅黑"/>
                <a:ea typeface="微软雅黑"/>
                <a:cs typeface="微软雅黑"/>
                <a:sym typeface="微软雅黑"/>
              </a:rPr>
              <a:t>，</a:t>
            </a:r>
          </a:p>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显著提升模型的泛化能力</a:t>
            </a:r>
            <a:endParaRPr lang="en-US" sz="1200" b="0" i="0" u="none" strike="noStrike" dirty="0">
              <a:solidFill>
                <a:srgbClr val="072063"/>
              </a:solidFill>
              <a:latin typeface="微软雅黑"/>
              <a:ea typeface="微软雅黑"/>
              <a:cs typeface="微软雅黑"/>
              <a:sym typeface="微软雅黑"/>
            </a:endParaRPr>
          </a:p>
          <a:p>
            <a:pPr marL="0" indent="0" algn="l">
              <a:lnSpc>
                <a:spcPct val="116666"/>
              </a:lnSpc>
              <a:defRPr/>
            </a:pPr>
            <a:r>
              <a:rPr lang="en-US" sz="1200" b="0" i="0" u="none" strike="noStrike" dirty="0" err="1">
                <a:solidFill>
                  <a:srgbClr val="072063"/>
                </a:solidFill>
                <a:latin typeface="微软雅黑"/>
                <a:ea typeface="微软雅黑"/>
                <a:cs typeface="微软雅黑"/>
                <a:sym typeface="微软雅黑"/>
              </a:rPr>
              <a:t>与预测准确率</a:t>
            </a:r>
            <a:r>
              <a:rPr lang="en-US" sz="1200" b="0" i="0" u="none" strike="noStrike" dirty="0">
                <a:solidFill>
                  <a:srgbClr val="072063"/>
                </a:solidFill>
                <a:latin typeface="微软雅黑"/>
                <a:ea typeface="微软雅黑"/>
                <a:cs typeface="微软雅黑"/>
                <a:sym typeface="微软雅黑"/>
              </a:rPr>
              <a:t>。</a:t>
            </a:r>
            <a:endParaRPr lang="en-US" sz="1100" dirty="0"/>
          </a:p>
        </p:txBody>
      </p:sp>
      <p:sp>
        <p:nvSpPr>
          <p:cNvPr id="13" name="AutoShape 13"/>
          <p:cNvSpPr/>
          <p:nvPr/>
        </p:nvSpPr>
        <p:spPr>
          <a:xfrm>
            <a:off x="5867400" y="1787743"/>
            <a:ext cx="1295400" cy="1295400"/>
          </a:xfrm>
          <a:prstGeom prst="ellipse">
            <a:avLst/>
          </a:prstGeom>
          <a:solidFill>
            <a:srgbClr val="0720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Freeform 14"/>
          <p:cNvSpPr/>
          <p:nvPr/>
        </p:nvSpPr>
        <p:spPr>
          <a:xfrm>
            <a:off x="6311900" y="2181443"/>
            <a:ext cx="473738" cy="462994"/>
          </a:xfrm>
          <a:custGeom>
            <a:avLst/>
            <a:gdLst/>
            <a:ahLst/>
            <a:cxnLst/>
            <a:rect l="l" t="t" r="r" b="b"/>
            <a:pathLst>
              <a:path w="473738" h="462994">
                <a:moveTo>
                  <a:pt x="82808" y="296316"/>
                </a:moveTo>
                <a:cubicBezTo>
                  <a:pt x="248423" y="296316"/>
                  <a:pt x="248423" y="296316"/>
                  <a:pt x="248423" y="296316"/>
                </a:cubicBezTo>
                <a:cubicBezTo>
                  <a:pt x="248423" y="311749"/>
                  <a:pt x="248423" y="311749"/>
                  <a:pt x="248423" y="311749"/>
                </a:cubicBezTo>
                <a:cubicBezTo>
                  <a:pt x="82808" y="311749"/>
                  <a:pt x="82808" y="311749"/>
                  <a:pt x="82808" y="311749"/>
                </a:cubicBezTo>
                <a:lnTo>
                  <a:pt x="82808" y="296316"/>
                </a:lnTo>
                <a:close/>
                <a:moveTo>
                  <a:pt x="248423" y="194457"/>
                </a:moveTo>
                <a:cubicBezTo>
                  <a:pt x="82808" y="194457"/>
                  <a:pt x="82808" y="194457"/>
                  <a:pt x="82808" y="194457"/>
                </a:cubicBezTo>
                <a:cubicBezTo>
                  <a:pt x="82808" y="208347"/>
                  <a:pt x="82808" y="208347"/>
                  <a:pt x="82808" y="208347"/>
                </a:cubicBezTo>
                <a:cubicBezTo>
                  <a:pt x="248423" y="208347"/>
                  <a:pt x="248423" y="208347"/>
                  <a:pt x="248423" y="208347"/>
                </a:cubicBezTo>
                <a:lnTo>
                  <a:pt x="248423" y="194457"/>
                </a:lnTo>
                <a:close/>
                <a:moveTo>
                  <a:pt x="400559" y="171308"/>
                </a:moveTo>
                <a:cubicBezTo>
                  <a:pt x="414039" y="155875"/>
                  <a:pt x="414039" y="155875"/>
                  <a:pt x="414039" y="155875"/>
                </a:cubicBezTo>
                <a:cubicBezTo>
                  <a:pt x="421743" y="155875"/>
                  <a:pt x="421743" y="155875"/>
                  <a:pt x="421743" y="155875"/>
                </a:cubicBezTo>
                <a:cubicBezTo>
                  <a:pt x="421743" y="138899"/>
                  <a:pt x="421743" y="138899"/>
                  <a:pt x="421743" y="138899"/>
                </a:cubicBezTo>
                <a:cubicBezTo>
                  <a:pt x="400559" y="163591"/>
                  <a:pt x="400559" y="163591"/>
                  <a:pt x="400559" y="163591"/>
                </a:cubicBezTo>
                <a:lnTo>
                  <a:pt x="400559" y="171308"/>
                </a:lnTo>
                <a:close/>
                <a:moveTo>
                  <a:pt x="225315" y="141985"/>
                </a:moveTo>
                <a:cubicBezTo>
                  <a:pt x="82808" y="141985"/>
                  <a:pt x="82808" y="141985"/>
                  <a:pt x="82808" y="141985"/>
                </a:cubicBezTo>
                <a:cubicBezTo>
                  <a:pt x="82808" y="157418"/>
                  <a:pt x="82808" y="157418"/>
                  <a:pt x="82808" y="157418"/>
                </a:cubicBezTo>
                <a:cubicBezTo>
                  <a:pt x="225315" y="157418"/>
                  <a:pt x="225315" y="157418"/>
                  <a:pt x="225315" y="157418"/>
                </a:cubicBezTo>
                <a:lnTo>
                  <a:pt x="225315" y="141985"/>
                </a:lnTo>
                <a:close/>
                <a:moveTo>
                  <a:pt x="82808" y="362679"/>
                </a:moveTo>
                <a:cubicBezTo>
                  <a:pt x="225315" y="362679"/>
                  <a:pt x="225315" y="362679"/>
                  <a:pt x="225315" y="362679"/>
                </a:cubicBezTo>
                <a:cubicBezTo>
                  <a:pt x="225315" y="348789"/>
                  <a:pt x="225315" y="348789"/>
                  <a:pt x="225315" y="348789"/>
                </a:cubicBezTo>
                <a:cubicBezTo>
                  <a:pt x="82808" y="348789"/>
                  <a:pt x="82808" y="348789"/>
                  <a:pt x="82808" y="348789"/>
                </a:cubicBezTo>
                <a:lnTo>
                  <a:pt x="82808" y="362679"/>
                </a:lnTo>
                <a:close/>
                <a:moveTo>
                  <a:pt x="400559" y="442932"/>
                </a:moveTo>
                <a:cubicBezTo>
                  <a:pt x="21184" y="442932"/>
                  <a:pt x="21184" y="442932"/>
                  <a:pt x="21184" y="442932"/>
                </a:cubicBezTo>
                <a:cubicBezTo>
                  <a:pt x="21184" y="55559"/>
                  <a:pt x="21184" y="55559"/>
                  <a:pt x="21184" y="55559"/>
                </a:cubicBezTo>
                <a:cubicBezTo>
                  <a:pt x="67401" y="55559"/>
                  <a:pt x="67401" y="55559"/>
                  <a:pt x="67401" y="55559"/>
                </a:cubicBezTo>
                <a:cubicBezTo>
                  <a:pt x="71253" y="47842"/>
                  <a:pt x="77031" y="40126"/>
                  <a:pt x="84733" y="33953"/>
                </a:cubicBezTo>
                <a:cubicBezTo>
                  <a:pt x="0" y="33953"/>
                  <a:pt x="0" y="33953"/>
                  <a:pt x="0" y="33953"/>
                </a:cubicBezTo>
                <a:cubicBezTo>
                  <a:pt x="0" y="462994"/>
                  <a:pt x="0" y="462994"/>
                  <a:pt x="0" y="462994"/>
                </a:cubicBezTo>
                <a:cubicBezTo>
                  <a:pt x="421743" y="462994"/>
                  <a:pt x="421743" y="462994"/>
                  <a:pt x="421743" y="462994"/>
                </a:cubicBezTo>
                <a:cubicBezTo>
                  <a:pt x="421743" y="242301"/>
                  <a:pt x="421743" y="242301"/>
                  <a:pt x="421743" y="242301"/>
                </a:cubicBezTo>
                <a:cubicBezTo>
                  <a:pt x="400559" y="266993"/>
                  <a:pt x="400559" y="266993"/>
                  <a:pt x="400559" y="266993"/>
                </a:cubicBezTo>
                <a:lnTo>
                  <a:pt x="400559" y="442932"/>
                </a:lnTo>
                <a:close/>
                <a:moveTo>
                  <a:pt x="225315" y="245387"/>
                </a:moveTo>
                <a:cubicBezTo>
                  <a:pt x="82808" y="245387"/>
                  <a:pt x="82808" y="245387"/>
                  <a:pt x="82808" y="245387"/>
                </a:cubicBezTo>
                <a:cubicBezTo>
                  <a:pt x="82808" y="260820"/>
                  <a:pt x="82808" y="260820"/>
                  <a:pt x="82808" y="260820"/>
                </a:cubicBezTo>
                <a:cubicBezTo>
                  <a:pt x="225315" y="260820"/>
                  <a:pt x="225315" y="260820"/>
                  <a:pt x="225315" y="260820"/>
                </a:cubicBezTo>
                <a:lnTo>
                  <a:pt x="225315" y="245387"/>
                </a:lnTo>
                <a:close/>
                <a:moveTo>
                  <a:pt x="78956" y="55559"/>
                </a:moveTo>
                <a:cubicBezTo>
                  <a:pt x="82808" y="44756"/>
                  <a:pt x="96288" y="38583"/>
                  <a:pt x="109769" y="33953"/>
                </a:cubicBezTo>
                <a:cubicBezTo>
                  <a:pt x="121323" y="32409"/>
                  <a:pt x="136729" y="30866"/>
                  <a:pt x="148284" y="30866"/>
                </a:cubicBezTo>
                <a:cubicBezTo>
                  <a:pt x="154061" y="30866"/>
                  <a:pt x="159838" y="30866"/>
                  <a:pt x="165616" y="30866"/>
                </a:cubicBezTo>
                <a:cubicBezTo>
                  <a:pt x="167541" y="30866"/>
                  <a:pt x="169468" y="30866"/>
                  <a:pt x="171393" y="30866"/>
                </a:cubicBezTo>
                <a:cubicBezTo>
                  <a:pt x="171393" y="13890"/>
                  <a:pt x="188725" y="0"/>
                  <a:pt x="211833" y="0"/>
                </a:cubicBezTo>
                <a:cubicBezTo>
                  <a:pt x="233017" y="0"/>
                  <a:pt x="250349" y="13890"/>
                  <a:pt x="250349" y="30866"/>
                </a:cubicBezTo>
                <a:cubicBezTo>
                  <a:pt x="252275" y="30866"/>
                  <a:pt x="254201" y="30866"/>
                  <a:pt x="256127" y="30866"/>
                </a:cubicBezTo>
                <a:cubicBezTo>
                  <a:pt x="261904" y="30866"/>
                  <a:pt x="267682" y="30866"/>
                  <a:pt x="273459" y="30866"/>
                </a:cubicBezTo>
                <a:cubicBezTo>
                  <a:pt x="286939" y="30866"/>
                  <a:pt x="300420" y="32409"/>
                  <a:pt x="311974" y="33953"/>
                </a:cubicBezTo>
                <a:cubicBezTo>
                  <a:pt x="327379" y="38583"/>
                  <a:pt x="338935" y="44756"/>
                  <a:pt x="342786" y="55559"/>
                </a:cubicBezTo>
                <a:cubicBezTo>
                  <a:pt x="344712" y="58646"/>
                  <a:pt x="344712" y="63276"/>
                  <a:pt x="344712" y="66363"/>
                </a:cubicBezTo>
                <a:cubicBezTo>
                  <a:pt x="279236" y="66363"/>
                  <a:pt x="142507" y="66363"/>
                  <a:pt x="77031" y="66363"/>
                </a:cubicBezTo>
                <a:cubicBezTo>
                  <a:pt x="77031" y="63276"/>
                  <a:pt x="78956" y="58646"/>
                  <a:pt x="78956" y="55559"/>
                </a:cubicBezTo>
                <a:close/>
                <a:moveTo>
                  <a:pt x="190651" y="30866"/>
                </a:moveTo>
                <a:cubicBezTo>
                  <a:pt x="198354" y="30866"/>
                  <a:pt x="204131" y="30866"/>
                  <a:pt x="211833" y="30866"/>
                </a:cubicBezTo>
                <a:cubicBezTo>
                  <a:pt x="217612" y="30866"/>
                  <a:pt x="223389" y="30866"/>
                  <a:pt x="231092" y="30866"/>
                </a:cubicBezTo>
                <a:cubicBezTo>
                  <a:pt x="229166" y="23150"/>
                  <a:pt x="221463" y="16976"/>
                  <a:pt x="211833" y="16976"/>
                </a:cubicBezTo>
                <a:cubicBezTo>
                  <a:pt x="200279" y="16976"/>
                  <a:pt x="192576" y="23150"/>
                  <a:pt x="190651" y="30866"/>
                </a:cubicBezTo>
                <a:close/>
                <a:moveTo>
                  <a:pt x="365895" y="415152"/>
                </a:moveTo>
                <a:cubicBezTo>
                  <a:pt x="55847" y="415152"/>
                  <a:pt x="55847" y="415152"/>
                  <a:pt x="55847" y="415152"/>
                </a:cubicBezTo>
                <a:cubicBezTo>
                  <a:pt x="55847" y="91055"/>
                  <a:pt x="55847" y="91055"/>
                  <a:pt x="55847" y="91055"/>
                </a:cubicBezTo>
                <a:cubicBezTo>
                  <a:pt x="365895" y="91055"/>
                  <a:pt x="365895" y="91055"/>
                  <a:pt x="365895" y="91055"/>
                </a:cubicBezTo>
                <a:cubicBezTo>
                  <a:pt x="365895" y="109576"/>
                  <a:pt x="365895" y="109576"/>
                  <a:pt x="365895" y="109576"/>
                </a:cubicBezTo>
                <a:cubicBezTo>
                  <a:pt x="385153" y="87969"/>
                  <a:pt x="385153" y="87969"/>
                  <a:pt x="385153" y="87969"/>
                </a:cubicBezTo>
                <a:cubicBezTo>
                  <a:pt x="385153" y="75622"/>
                  <a:pt x="385153" y="75622"/>
                  <a:pt x="385153" y="75622"/>
                </a:cubicBezTo>
                <a:cubicBezTo>
                  <a:pt x="36590" y="75622"/>
                  <a:pt x="36590" y="75622"/>
                  <a:pt x="36590" y="75622"/>
                </a:cubicBezTo>
                <a:cubicBezTo>
                  <a:pt x="36590" y="429042"/>
                  <a:pt x="36590" y="429042"/>
                  <a:pt x="36590" y="429042"/>
                </a:cubicBezTo>
                <a:cubicBezTo>
                  <a:pt x="385153" y="429042"/>
                  <a:pt x="385153" y="429042"/>
                  <a:pt x="385153" y="429042"/>
                </a:cubicBezTo>
                <a:cubicBezTo>
                  <a:pt x="385153" y="285513"/>
                  <a:pt x="385153" y="285513"/>
                  <a:pt x="385153" y="285513"/>
                </a:cubicBezTo>
                <a:cubicBezTo>
                  <a:pt x="365895" y="307119"/>
                  <a:pt x="365895" y="307119"/>
                  <a:pt x="365895" y="307119"/>
                </a:cubicBezTo>
                <a:lnTo>
                  <a:pt x="365895" y="415152"/>
                </a:lnTo>
                <a:close/>
                <a:moveTo>
                  <a:pt x="385153" y="183655"/>
                </a:moveTo>
                <a:cubicBezTo>
                  <a:pt x="365895" y="205261"/>
                  <a:pt x="365895" y="205261"/>
                  <a:pt x="365895" y="205261"/>
                </a:cubicBezTo>
                <a:cubicBezTo>
                  <a:pt x="365895" y="212978"/>
                  <a:pt x="365895" y="212978"/>
                  <a:pt x="365895" y="212978"/>
                </a:cubicBezTo>
                <a:cubicBezTo>
                  <a:pt x="385153" y="191371"/>
                  <a:pt x="385153" y="191371"/>
                  <a:pt x="385153" y="191371"/>
                </a:cubicBezTo>
                <a:lnTo>
                  <a:pt x="385153" y="183655"/>
                </a:lnTo>
                <a:close/>
                <a:moveTo>
                  <a:pt x="414039" y="54016"/>
                </a:moveTo>
                <a:cubicBezTo>
                  <a:pt x="421743" y="54016"/>
                  <a:pt x="421743" y="54016"/>
                  <a:pt x="421743" y="54016"/>
                </a:cubicBezTo>
                <a:cubicBezTo>
                  <a:pt x="421743" y="33953"/>
                  <a:pt x="421743" y="33953"/>
                  <a:pt x="421743" y="33953"/>
                </a:cubicBezTo>
                <a:cubicBezTo>
                  <a:pt x="337008" y="33953"/>
                  <a:pt x="337008" y="33953"/>
                  <a:pt x="337008" y="33953"/>
                </a:cubicBezTo>
                <a:cubicBezTo>
                  <a:pt x="344712" y="40126"/>
                  <a:pt x="350490" y="46299"/>
                  <a:pt x="354340" y="55559"/>
                </a:cubicBezTo>
                <a:cubicBezTo>
                  <a:pt x="400559" y="55559"/>
                  <a:pt x="400559" y="55559"/>
                  <a:pt x="400559" y="55559"/>
                </a:cubicBezTo>
                <a:cubicBezTo>
                  <a:pt x="400559" y="67906"/>
                  <a:pt x="400559" y="67906"/>
                  <a:pt x="400559" y="67906"/>
                </a:cubicBezTo>
                <a:lnTo>
                  <a:pt x="414039" y="54016"/>
                </a:lnTo>
                <a:close/>
                <a:moveTo>
                  <a:pt x="473738" y="63276"/>
                </a:moveTo>
                <a:cubicBezTo>
                  <a:pt x="350490" y="206804"/>
                  <a:pt x="350490" y="206804"/>
                  <a:pt x="350490" y="206804"/>
                </a:cubicBezTo>
                <a:cubicBezTo>
                  <a:pt x="298493" y="206804"/>
                  <a:pt x="298493" y="206804"/>
                  <a:pt x="298493" y="206804"/>
                </a:cubicBezTo>
                <a:cubicBezTo>
                  <a:pt x="248423" y="141985"/>
                  <a:pt x="248423" y="141985"/>
                  <a:pt x="248423" y="141985"/>
                </a:cubicBezTo>
                <a:cubicBezTo>
                  <a:pt x="300420" y="141985"/>
                  <a:pt x="300420" y="141985"/>
                  <a:pt x="300420" y="141985"/>
                </a:cubicBezTo>
                <a:cubicBezTo>
                  <a:pt x="325454" y="174394"/>
                  <a:pt x="325454" y="174394"/>
                  <a:pt x="325454" y="174394"/>
                </a:cubicBezTo>
                <a:cubicBezTo>
                  <a:pt x="419816" y="63276"/>
                  <a:pt x="419816" y="63276"/>
                  <a:pt x="419816" y="63276"/>
                </a:cubicBezTo>
                <a:lnTo>
                  <a:pt x="473738" y="63276"/>
                </a:lnTo>
                <a:close/>
                <a:moveTo>
                  <a:pt x="473738" y="165134"/>
                </a:moveTo>
                <a:cubicBezTo>
                  <a:pt x="350490" y="310206"/>
                  <a:pt x="350490" y="310206"/>
                  <a:pt x="350490" y="310206"/>
                </a:cubicBezTo>
                <a:cubicBezTo>
                  <a:pt x="298493" y="310206"/>
                  <a:pt x="298493" y="310206"/>
                  <a:pt x="298493" y="310206"/>
                </a:cubicBezTo>
                <a:cubicBezTo>
                  <a:pt x="248423" y="245387"/>
                  <a:pt x="248423" y="245387"/>
                  <a:pt x="248423" y="245387"/>
                </a:cubicBezTo>
                <a:cubicBezTo>
                  <a:pt x="300420" y="245387"/>
                  <a:pt x="300420" y="245387"/>
                  <a:pt x="300420" y="245387"/>
                </a:cubicBezTo>
                <a:cubicBezTo>
                  <a:pt x="325454" y="277796"/>
                  <a:pt x="325454" y="277796"/>
                  <a:pt x="325454" y="277796"/>
                </a:cubicBezTo>
                <a:cubicBezTo>
                  <a:pt x="419816" y="165134"/>
                  <a:pt x="419816" y="165134"/>
                  <a:pt x="419816" y="165134"/>
                </a:cubicBezTo>
                <a:lnTo>
                  <a:pt x="473738" y="165134"/>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2171700" y="1787743"/>
            <a:ext cx="1295400" cy="1295400"/>
          </a:xfrm>
          <a:prstGeom prst="ellipse">
            <a:avLst/>
          </a:prstGeom>
          <a:solidFill>
            <a:srgbClr val="0720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Freeform 19"/>
          <p:cNvSpPr/>
          <p:nvPr/>
        </p:nvSpPr>
        <p:spPr>
          <a:xfrm>
            <a:off x="2590800" y="2168743"/>
            <a:ext cx="449262" cy="473075"/>
          </a:xfrm>
          <a:custGeom>
            <a:avLst/>
            <a:gdLst/>
            <a:ahLst/>
            <a:cxnLst/>
            <a:rect l="l" t="t" r="r" b="b"/>
            <a:pathLst>
              <a:path w="449262" h="473075">
                <a:moveTo>
                  <a:pt x="0" y="441537"/>
                </a:moveTo>
                <a:cubicBezTo>
                  <a:pt x="0" y="190398"/>
                  <a:pt x="0" y="190398"/>
                  <a:pt x="0" y="190398"/>
                </a:cubicBezTo>
                <a:cubicBezTo>
                  <a:pt x="45748" y="190398"/>
                  <a:pt x="45748" y="190398"/>
                  <a:pt x="45748" y="190398"/>
                </a:cubicBezTo>
                <a:cubicBezTo>
                  <a:pt x="45748" y="441537"/>
                  <a:pt x="45748" y="441537"/>
                  <a:pt x="45748" y="441537"/>
                </a:cubicBezTo>
                <a:cubicBezTo>
                  <a:pt x="0" y="441537"/>
                  <a:pt x="0" y="441537"/>
                  <a:pt x="0" y="441537"/>
                </a:cubicBezTo>
                <a:close/>
                <a:moveTo>
                  <a:pt x="418763" y="184558"/>
                </a:moveTo>
                <a:cubicBezTo>
                  <a:pt x="418763" y="184558"/>
                  <a:pt x="362459" y="183389"/>
                  <a:pt x="308501" y="182221"/>
                </a:cubicBezTo>
                <a:cubicBezTo>
                  <a:pt x="317885" y="160028"/>
                  <a:pt x="329616" y="131994"/>
                  <a:pt x="335481" y="113304"/>
                </a:cubicBezTo>
                <a:cubicBezTo>
                  <a:pt x="346037" y="75926"/>
                  <a:pt x="350730" y="1168"/>
                  <a:pt x="304982" y="0"/>
                </a:cubicBezTo>
                <a:cubicBezTo>
                  <a:pt x="287387" y="0"/>
                  <a:pt x="273310" y="12849"/>
                  <a:pt x="273310" y="30371"/>
                </a:cubicBezTo>
                <a:cubicBezTo>
                  <a:pt x="273310" y="96952"/>
                  <a:pt x="231083" y="153020"/>
                  <a:pt x="153664" y="169372"/>
                </a:cubicBezTo>
                <a:cubicBezTo>
                  <a:pt x="117301" y="177549"/>
                  <a:pt x="80937" y="197406"/>
                  <a:pt x="69207" y="216096"/>
                </a:cubicBezTo>
                <a:cubicBezTo>
                  <a:pt x="69207" y="260483"/>
                  <a:pt x="69207" y="425183"/>
                  <a:pt x="69207" y="425183"/>
                </a:cubicBezTo>
                <a:cubicBezTo>
                  <a:pt x="69207" y="425183"/>
                  <a:pt x="148972" y="473075"/>
                  <a:pt x="190028" y="473075"/>
                </a:cubicBezTo>
                <a:cubicBezTo>
                  <a:pt x="191200" y="473075"/>
                  <a:pt x="323750" y="470738"/>
                  <a:pt x="323750" y="470738"/>
                </a:cubicBezTo>
                <a:cubicBezTo>
                  <a:pt x="341346" y="471907"/>
                  <a:pt x="356594" y="457890"/>
                  <a:pt x="357768" y="440369"/>
                </a:cubicBezTo>
                <a:cubicBezTo>
                  <a:pt x="357768" y="427520"/>
                  <a:pt x="351902" y="415839"/>
                  <a:pt x="341346" y="409998"/>
                </a:cubicBezTo>
                <a:cubicBezTo>
                  <a:pt x="341346" y="409998"/>
                  <a:pt x="341346" y="409998"/>
                  <a:pt x="341346" y="409998"/>
                </a:cubicBezTo>
                <a:cubicBezTo>
                  <a:pt x="340172" y="409998"/>
                  <a:pt x="340172" y="409998"/>
                  <a:pt x="340172" y="409998"/>
                </a:cubicBezTo>
                <a:cubicBezTo>
                  <a:pt x="336653" y="408831"/>
                  <a:pt x="335481" y="406494"/>
                  <a:pt x="335481" y="404158"/>
                </a:cubicBezTo>
                <a:cubicBezTo>
                  <a:pt x="335481" y="399486"/>
                  <a:pt x="337826" y="397149"/>
                  <a:pt x="341346" y="397149"/>
                </a:cubicBezTo>
                <a:cubicBezTo>
                  <a:pt x="354249" y="397149"/>
                  <a:pt x="354249" y="397149"/>
                  <a:pt x="354249" y="397149"/>
                </a:cubicBezTo>
                <a:cubicBezTo>
                  <a:pt x="371843" y="397149"/>
                  <a:pt x="387092" y="384301"/>
                  <a:pt x="388266" y="366779"/>
                </a:cubicBezTo>
                <a:cubicBezTo>
                  <a:pt x="388266" y="353930"/>
                  <a:pt x="382401" y="342250"/>
                  <a:pt x="371843" y="336409"/>
                </a:cubicBezTo>
                <a:cubicBezTo>
                  <a:pt x="371843" y="336409"/>
                  <a:pt x="371843" y="336409"/>
                  <a:pt x="371843" y="336409"/>
                </a:cubicBezTo>
                <a:cubicBezTo>
                  <a:pt x="370671" y="336409"/>
                  <a:pt x="370671" y="336409"/>
                  <a:pt x="370671" y="335241"/>
                </a:cubicBezTo>
                <a:cubicBezTo>
                  <a:pt x="367152" y="335241"/>
                  <a:pt x="365978" y="332905"/>
                  <a:pt x="365978" y="329400"/>
                </a:cubicBezTo>
                <a:cubicBezTo>
                  <a:pt x="365978" y="325896"/>
                  <a:pt x="368324" y="323560"/>
                  <a:pt x="371843" y="323560"/>
                </a:cubicBezTo>
                <a:cubicBezTo>
                  <a:pt x="384747" y="322392"/>
                  <a:pt x="384747" y="322392"/>
                  <a:pt x="384747" y="322392"/>
                </a:cubicBezTo>
                <a:cubicBezTo>
                  <a:pt x="402341" y="323560"/>
                  <a:pt x="417591" y="309543"/>
                  <a:pt x="418763" y="292021"/>
                </a:cubicBezTo>
                <a:cubicBezTo>
                  <a:pt x="418763" y="279173"/>
                  <a:pt x="412899" y="267491"/>
                  <a:pt x="402341" y="262819"/>
                </a:cubicBezTo>
                <a:cubicBezTo>
                  <a:pt x="402341" y="262819"/>
                  <a:pt x="402341" y="262819"/>
                  <a:pt x="402341" y="262819"/>
                </a:cubicBezTo>
                <a:cubicBezTo>
                  <a:pt x="401169" y="261652"/>
                  <a:pt x="401169" y="261652"/>
                  <a:pt x="401169" y="261652"/>
                </a:cubicBezTo>
                <a:cubicBezTo>
                  <a:pt x="397650" y="260483"/>
                  <a:pt x="396476" y="258147"/>
                  <a:pt x="396476" y="255811"/>
                </a:cubicBezTo>
                <a:cubicBezTo>
                  <a:pt x="396476" y="252307"/>
                  <a:pt x="398823" y="248802"/>
                  <a:pt x="402341" y="248802"/>
                </a:cubicBezTo>
                <a:cubicBezTo>
                  <a:pt x="415244" y="248802"/>
                  <a:pt x="415244" y="248802"/>
                  <a:pt x="415244" y="248802"/>
                </a:cubicBezTo>
                <a:cubicBezTo>
                  <a:pt x="432840" y="249970"/>
                  <a:pt x="448089" y="235953"/>
                  <a:pt x="449262" y="218432"/>
                </a:cubicBezTo>
                <a:cubicBezTo>
                  <a:pt x="449262" y="200911"/>
                  <a:pt x="438705" y="185726"/>
                  <a:pt x="418763" y="18455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013200" y="1787743"/>
            <a:ext cx="1295400" cy="1295400"/>
          </a:xfrm>
          <a:prstGeom prst="ellipse">
            <a:avLst/>
          </a:prstGeom>
          <a:solidFill>
            <a:srgbClr val="8080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1"/>
          <p:cNvSpPr/>
          <p:nvPr/>
        </p:nvSpPr>
        <p:spPr>
          <a:xfrm>
            <a:off x="4483100" y="2105243"/>
            <a:ext cx="355155" cy="653844"/>
          </a:xfrm>
          <a:custGeom>
            <a:avLst/>
            <a:gdLst/>
            <a:ahLst/>
            <a:cxnLst/>
            <a:rect l="l" t="t" r="r" b="b"/>
            <a:pathLst>
              <a:path w="355155" h="653844">
                <a:moveTo>
                  <a:pt x="8734" y="165641"/>
                </a:moveTo>
                <a:cubicBezTo>
                  <a:pt x="2911" y="171453"/>
                  <a:pt x="2911" y="180170"/>
                  <a:pt x="5822" y="188888"/>
                </a:cubicBezTo>
                <a:cubicBezTo>
                  <a:pt x="8734" y="200513"/>
                  <a:pt x="8734" y="200513"/>
                  <a:pt x="8734" y="200513"/>
                </a:cubicBezTo>
                <a:cubicBezTo>
                  <a:pt x="11645" y="215041"/>
                  <a:pt x="26200" y="223760"/>
                  <a:pt x="40756" y="223760"/>
                </a:cubicBezTo>
                <a:cubicBezTo>
                  <a:pt x="40756" y="223760"/>
                  <a:pt x="40756" y="223760"/>
                  <a:pt x="40756" y="223760"/>
                </a:cubicBezTo>
                <a:cubicBezTo>
                  <a:pt x="43666" y="223760"/>
                  <a:pt x="46577" y="223760"/>
                  <a:pt x="49489" y="220854"/>
                </a:cubicBezTo>
                <a:cubicBezTo>
                  <a:pt x="326045" y="139487"/>
                  <a:pt x="326045" y="139487"/>
                  <a:pt x="326045" y="139487"/>
                </a:cubicBezTo>
                <a:cubicBezTo>
                  <a:pt x="334777" y="136581"/>
                  <a:pt x="343511" y="130769"/>
                  <a:pt x="346422" y="122051"/>
                </a:cubicBezTo>
                <a:cubicBezTo>
                  <a:pt x="349333" y="116239"/>
                  <a:pt x="352243" y="107521"/>
                  <a:pt x="349333" y="98803"/>
                </a:cubicBezTo>
                <a:cubicBezTo>
                  <a:pt x="346422" y="87179"/>
                  <a:pt x="346422" y="87179"/>
                  <a:pt x="346422" y="87179"/>
                </a:cubicBezTo>
                <a:cubicBezTo>
                  <a:pt x="340600" y="72649"/>
                  <a:pt x="328955" y="63932"/>
                  <a:pt x="314400" y="63932"/>
                </a:cubicBezTo>
                <a:cubicBezTo>
                  <a:pt x="311488" y="63932"/>
                  <a:pt x="308577" y="63932"/>
                  <a:pt x="305666" y="66838"/>
                </a:cubicBezTo>
                <a:cubicBezTo>
                  <a:pt x="26200" y="148205"/>
                  <a:pt x="26200" y="148205"/>
                  <a:pt x="26200" y="148205"/>
                </a:cubicBezTo>
                <a:cubicBezTo>
                  <a:pt x="17466" y="151111"/>
                  <a:pt x="11645" y="156922"/>
                  <a:pt x="8734" y="165641"/>
                </a:cubicBezTo>
                <a:close/>
                <a:moveTo>
                  <a:pt x="308577" y="81368"/>
                </a:moveTo>
                <a:cubicBezTo>
                  <a:pt x="311488" y="81368"/>
                  <a:pt x="311488" y="81368"/>
                  <a:pt x="314400" y="81368"/>
                </a:cubicBezTo>
                <a:cubicBezTo>
                  <a:pt x="320222" y="81368"/>
                  <a:pt x="326045" y="87179"/>
                  <a:pt x="328955" y="92991"/>
                </a:cubicBezTo>
                <a:cubicBezTo>
                  <a:pt x="331866" y="101709"/>
                  <a:pt x="331866" y="101709"/>
                  <a:pt x="331866" y="101709"/>
                </a:cubicBezTo>
                <a:cubicBezTo>
                  <a:pt x="334777" y="107521"/>
                  <a:pt x="331866" y="110426"/>
                  <a:pt x="331866" y="116239"/>
                </a:cubicBezTo>
                <a:cubicBezTo>
                  <a:pt x="328955" y="119145"/>
                  <a:pt x="326045" y="122051"/>
                  <a:pt x="323132" y="122051"/>
                </a:cubicBezTo>
                <a:cubicBezTo>
                  <a:pt x="43666" y="206324"/>
                  <a:pt x="43666" y="206324"/>
                  <a:pt x="43666" y="206324"/>
                </a:cubicBezTo>
                <a:cubicBezTo>
                  <a:pt x="43666" y="206324"/>
                  <a:pt x="40756" y="206324"/>
                  <a:pt x="40756" y="206324"/>
                </a:cubicBezTo>
                <a:cubicBezTo>
                  <a:pt x="40756" y="206324"/>
                  <a:pt x="40756" y="206324"/>
                  <a:pt x="40756" y="206324"/>
                </a:cubicBezTo>
                <a:cubicBezTo>
                  <a:pt x="32022" y="206324"/>
                  <a:pt x="26200" y="200513"/>
                  <a:pt x="26200" y="194700"/>
                </a:cubicBezTo>
                <a:cubicBezTo>
                  <a:pt x="23289" y="183077"/>
                  <a:pt x="23289" y="183077"/>
                  <a:pt x="23289" y="183077"/>
                </a:cubicBezTo>
                <a:cubicBezTo>
                  <a:pt x="20377" y="180170"/>
                  <a:pt x="20377" y="177264"/>
                  <a:pt x="23289" y="171453"/>
                </a:cubicBezTo>
                <a:cubicBezTo>
                  <a:pt x="26200" y="168547"/>
                  <a:pt x="29111" y="165641"/>
                  <a:pt x="32022" y="165641"/>
                </a:cubicBezTo>
                <a:lnTo>
                  <a:pt x="308577" y="81368"/>
                </a:lnTo>
                <a:close/>
                <a:moveTo>
                  <a:pt x="8734" y="101709"/>
                </a:moveTo>
                <a:cubicBezTo>
                  <a:pt x="11645" y="116239"/>
                  <a:pt x="26200" y="124957"/>
                  <a:pt x="40756" y="124957"/>
                </a:cubicBezTo>
                <a:cubicBezTo>
                  <a:pt x="43666" y="124957"/>
                  <a:pt x="46577" y="124957"/>
                  <a:pt x="49489" y="124957"/>
                </a:cubicBezTo>
                <a:cubicBezTo>
                  <a:pt x="192133" y="81368"/>
                  <a:pt x="192133" y="81368"/>
                  <a:pt x="192133" y="81368"/>
                </a:cubicBezTo>
                <a:cubicBezTo>
                  <a:pt x="209600" y="75555"/>
                  <a:pt x="221244" y="55213"/>
                  <a:pt x="215422" y="37777"/>
                </a:cubicBezTo>
                <a:cubicBezTo>
                  <a:pt x="212510" y="29060"/>
                  <a:pt x="212510" y="29060"/>
                  <a:pt x="212510" y="29060"/>
                </a:cubicBezTo>
                <a:cubicBezTo>
                  <a:pt x="206689" y="11624"/>
                  <a:pt x="189222" y="0"/>
                  <a:pt x="171755" y="5812"/>
                </a:cubicBezTo>
                <a:cubicBezTo>
                  <a:pt x="26200" y="49402"/>
                  <a:pt x="26200" y="49402"/>
                  <a:pt x="26200" y="49402"/>
                </a:cubicBezTo>
                <a:cubicBezTo>
                  <a:pt x="8734" y="55213"/>
                  <a:pt x="0" y="72649"/>
                  <a:pt x="5822" y="90085"/>
                </a:cubicBezTo>
                <a:lnTo>
                  <a:pt x="8734" y="101709"/>
                </a:lnTo>
                <a:close/>
                <a:moveTo>
                  <a:pt x="32022" y="66838"/>
                </a:moveTo>
                <a:cubicBezTo>
                  <a:pt x="177578" y="23247"/>
                  <a:pt x="177578" y="23247"/>
                  <a:pt x="177578" y="23247"/>
                </a:cubicBezTo>
                <a:cubicBezTo>
                  <a:pt x="177578" y="23247"/>
                  <a:pt x="180489" y="23247"/>
                  <a:pt x="180489" y="23247"/>
                </a:cubicBezTo>
                <a:cubicBezTo>
                  <a:pt x="186310" y="23247"/>
                  <a:pt x="195044" y="26154"/>
                  <a:pt x="195044" y="34872"/>
                </a:cubicBezTo>
                <a:cubicBezTo>
                  <a:pt x="197955" y="43590"/>
                  <a:pt x="197955" y="43590"/>
                  <a:pt x="197955" y="43590"/>
                </a:cubicBezTo>
                <a:cubicBezTo>
                  <a:pt x="200866" y="52307"/>
                  <a:pt x="197955" y="61026"/>
                  <a:pt x="189222" y="63932"/>
                </a:cubicBezTo>
                <a:cubicBezTo>
                  <a:pt x="43666" y="107521"/>
                  <a:pt x="43666" y="107521"/>
                  <a:pt x="43666" y="107521"/>
                </a:cubicBezTo>
                <a:cubicBezTo>
                  <a:pt x="43666" y="107521"/>
                  <a:pt x="40756" y="107521"/>
                  <a:pt x="40756" y="107521"/>
                </a:cubicBezTo>
                <a:cubicBezTo>
                  <a:pt x="32022" y="107521"/>
                  <a:pt x="26200" y="104615"/>
                  <a:pt x="26200" y="95898"/>
                </a:cubicBezTo>
                <a:cubicBezTo>
                  <a:pt x="23289" y="87179"/>
                  <a:pt x="23289" y="87179"/>
                  <a:pt x="23289" y="87179"/>
                </a:cubicBezTo>
                <a:cubicBezTo>
                  <a:pt x="20377" y="78462"/>
                  <a:pt x="23289" y="69743"/>
                  <a:pt x="32022" y="66838"/>
                </a:cubicBezTo>
                <a:close/>
                <a:moveTo>
                  <a:pt x="349333" y="293503"/>
                </a:moveTo>
                <a:cubicBezTo>
                  <a:pt x="346422" y="281879"/>
                  <a:pt x="346422" y="281879"/>
                  <a:pt x="346422" y="281879"/>
                </a:cubicBezTo>
                <a:cubicBezTo>
                  <a:pt x="340600" y="267349"/>
                  <a:pt x="320222" y="255726"/>
                  <a:pt x="305666" y="261537"/>
                </a:cubicBezTo>
                <a:cubicBezTo>
                  <a:pt x="238710" y="278973"/>
                  <a:pt x="238710" y="278973"/>
                  <a:pt x="238710" y="278973"/>
                </a:cubicBezTo>
                <a:cubicBezTo>
                  <a:pt x="221244" y="284785"/>
                  <a:pt x="209600" y="302221"/>
                  <a:pt x="209600" y="319656"/>
                </a:cubicBezTo>
                <a:cubicBezTo>
                  <a:pt x="209600" y="401024"/>
                  <a:pt x="209600" y="401024"/>
                  <a:pt x="209600" y="401024"/>
                </a:cubicBezTo>
                <a:cubicBezTo>
                  <a:pt x="160111" y="401024"/>
                  <a:pt x="160111" y="401024"/>
                  <a:pt x="160111" y="401024"/>
                </a:cubicBezTo>
                <a:cubicBezTo>
                  <a:pt x="160111" y="308033"/>
                  <a:pt x="160111" y="308033"/>
                  <a:pt x="160111" y="308033"/>
                </a:cubicBezTo>
                <a:cubicBezTo>
                  <a:pt x="160111" y="302221"/>
                  <a:pt x="157199" y="293503"/>
                  <a:pt x="154288" y="287692"/>
                </a:cubicBezTo>
                <a:cubicBezTo>
                  <a:pt x="326045" y="238290"/>
                  <a:pt x="326045" y="238290"/>
                  <a:pt x="326045" y="238290"/>
                </a:cubicBezTo>
                <a:cubicBezTo>
                  <a:pt x="334777" y="235384"/>
                  <a:pt x="343511" y="229572"/>
                  <a:pt x="346422" y="220854"/>
                </a:cubicBezTo>
                <a:cubicBezTo>
                  <a:pt x="349333" y="212136"/>
                  <a:pt x="352243" y="203418"/>
                  <a:pt x="349333" y="194700"/>
                </a:cubicBezTo>
                <a:cubicBezTo>
                  <a:pt x="346422" y="185983"/>
                  <a:pt x="346422" y="185983"/>
                  <a:pt x="346422" y="185983"/>
                </a:cubicBezTo>
                <a:cubicBezTo>
                  <a:pt x="340600" y="168547"/>
                  <a:pt x="320222" y="156922"/>
                  <a:pt x="305666" y="162734"/>
                </a:cubicBezTo>
                <a:cubicBezTo>
                  <a:pt x="26200" y="247007"/>
                  <a:pt x="26200" y="247007"/>
                  <a:pt x="26200" y="247007"/>
                </a:cubicBezTo>
                <a:cubicBezTo>
                  <a:pt x="17466" y="249913"/>
                  <a:pt x="11645" y="255726"/>
                  <a:pt x="8734" y="261537"/>
                </a:cubicBezTo>
                <a:cubicBezTo>
                  <a:pt x="2911" y="267349"/>
                  <a:pt x="2911" y="276068"/>
                  <a:pt x="2911" y="281879"/>
                </a:cubicBezTo>
                <a:cubicBezTo>
                  <a:pt x="5822" y="284785"/>
                  <a:pt x="5822" y="284785"/>
                  <a:pt x="5822" y="287692"/>
                </a:cubicBezTo>
                <a:cubicBezTo>
                  <a:pt x="8734" y="296409"/>
                  <a:pt x="8734" y="296409"/>
                  <a:pt x="8734" y="296409"/>
                </a:cubicBezTo>
                <a:cubicBezTo>
                  <a:pt x="11645" y="308033"/>
                  <a:pt x="20377" y="316751"/>
                  <a:pt x="29111" y="319656"/>
                </a:cubicBezTo>
                <a:cubicBezTo>
                  <a:pt x="32022" y="319656"/>
                  <a:pt x="32022" y="319656"/>
                  <a:pt x="32022" y="319656"/>
                </a:cubicBezTo>
                <a:cubicBezTo>
                  <a:pt x="66956" y="328375"/>
                  <a:pt x="66956" y="328375"/>
                  <a:pt x="66956" y="328375"/>
                </a:cubicBezTo>
                <a:cubicBezTo>
                  <a:pt x="75688" y="331281"/>
                  <a:pt x="81511" y="342905"/>
                  <a:pt x="81511" y="351622"/>
                </a:cubicBezTo>
                <a:cubicBezTo>
                  <a:pt x="81511" y="401024"/>
                  <a:pt x="81511" y="401024"/>
                  <a:pt x="81511" y="401024"/>
                </a:cubicBezTo>
                <a:cubicBezTo>
                  <a:pt x="49489" y="401024"/>
                  <a:pt x="49489" y="401024"/>
                  <a:pt x="49489" y="401024"/>
                </a:cubicBezTo>
                <a:cubicBezTo>
                  <a:pt x="49489" y="543416"/>
                  <a:pt x="49489" y="543416"/>
                  <a:pt x="49489" y="543416"/>
                </a:cubicBezTo>
                <a:cubicBezTo>
                  <a:pt x="49489" y="578288"/>
                  <a:pt x="81511" y="604443"/>
                  <a:pt x="116444" y="607348"/>
                </a:cubicBezTo>
                <a:cubicBezTo>
                  <a:pt x="116444" y="621878"/>
                  <a:pt x="116444" y="621878"/>
                  <a:pt x="116444" y="621878"/>
                </a:cubicBezTo>
                <a:cubicBezTo>
                  <a:pt x="116444" y="639314"/>
                  <a:pt x="133911" y="653844"/>
                  <a:pt x="154288" y="653844"/>
                </a:cubicBezTo>
                <a:cubicBezTo>
                  <a:pt x="215422" y="653844"/>
                  <a:pt x="215422" y="653844"/>
                  <a:pt x="215422" y="653844"/>
                </a:cubicBezTo>
                <a:cubicBezTo>
                  <a:pt x="235800" y="653844"/>
                  <a:pt x="253266" y="639314"/>
                  <a:pt x="253266" y="621878"/>
                </a:cubicBezTo>
                <a:cubicBezTo>
                  <a:pt x="253266" y="607348"/>
                  <a:pt x="253266" y="607348"/>
                  <a:pt x="253266" y="607348"/>
                </a:cubicBezTo>
                <a:cubicBezTo>
                  <a:pt x="288200" y="604443"/>
                  <a:pt x="320222" y="578288"/>
                  <a:pt x="320222" y="543416"/>
                </a:cubicBezTo>
                <a:cubicBezTo>
                  <a:pt x="320222" y="401024"/>
                  <a:pt x="320222" y="401024"/>
                  <a:pt x="320222" y="401024"/>
                </a:cubicBezTo>
                <a:cubicBezTo>
                  <a:pt x="288200" y="401024"/>
                  <a:pt x="288200" y="401024"/>
                  <a:pt x="288200" y="401024"/>
                </a:cubicBezTo>
                <a:cubicBezTo>
                  <a:pt x="288200" y="363247"/>
                  <a:pt x="288200" y="363247"/>
                  <a:pt x="288200" y="363247"/>
                </a:cubicBezTo>
                <a:cubicBezTo>
                  <a:pt x="288200" y="354528"/>
                  <a:pt x="294022" y="342905"/>
                  <a:pt x="302755" y="339999"/>
                </a:cubicBezTo>
                <a:cubicBezTo>
                  <a:pt x="326045" y="334187"/>
                  <a:pt x="326045" y="334187"/>
                  <a:pt x="326045" y="334187"/>
                </a:cubicBezTo>
                <a:cubicBezTo>
                  <a:pt x="343511" y="328375"/>
                  <a:pt x="355155" y="310939"/>
                  <a:pt x="349333" y="293503"/>
                </a:cubicBezTo>
                <a:close/>
                <a:moveTo>
                  <a:pt x="125178" y="284785"/>
                </a:moveTo>
                <a:cubicBezTo>
                  <a:pt x="130999" y="287692"/>
                  <a:pt x="133911" y="290598"/>
                  <a:pt x="136822" y="293503"/>
                </a:cubicBezTo>
                <a:cubicBezTo>
                  <a:pt x="139733" y="299315"/>
                  <a:pt x="142644" y="302221"/>
                  <a:pt x="142644" y="308033"/>
                </a:cubicBezTo>
                <a:cubicBezTo>
                  <a:pt x="142644" y="401024"/>
                  <a:pt x="142644" y="401024"/>
                  <a:pt x="142644" y="401024"/>
                </a:cubicBezTo>
                <a:cubicBezTo>
                  <a:pt x="101888" y="401024"/>
                  <a:pt x="101888" y="401024"/>
                  <a:pt x="101888" y="401024"/>
                </a:cubicBezTo>
                <a:cubicBezTo>
                  <a:pt x="101888" y="351622"/>
                  <a:pt x="101888" y="351622"/>
                  <a:pt x="101888" y="351622"/>
                </a:cubicBezTo>
                <a:cubicBezTo>
                  <a:pt x="101888" y="337092"/>
                  <a:pt x="87333" y="319656"/>
                  <a:pt x="72777" y="313845"/>
                </a:cubicBezTo>
                <a:cubicBezTo>
                  <a:pt x="72777" y="313845"/>
                  <a:pt x="69867" y="313845"/>
                  <a:pt x="69867" y="313845"/>
                </a:cubicBezTo>
                <a:cubicBezTo>
                  <a:pt x="37845" y="302221"/>
                  <a:pt x="37845" y="302221"/>
                  <a:pt x="37845" y="302221"/>
                </a:cubicBezTo>
                <a:cubicBezTo>
                  <a:pt x="34934" y="302221"/>
                  <a:pt x="34934" y="302221"/>
                  <a:pt x="34934" y="302221"/>
                </a:cubicBezTo>
                <a:cubicBezTo>
                  <a:pt x="29111" y="302221"/>
                  <a:pt x="26200" y="296409"/>
                  <a:pt x="26200" y="293503"/>
                </a:cubicBezTo>
                <a:cubicBezTo>
                  <a:pt x="23289" y="281879"/>
                  <a:pt x="23289" y="281879"/>
                  <a:pt x="23289" y="281879"/>
                </a:cubicBezTo>
                <a:cubicBezTo>
                  <a:pt x="23289" y="281879"/>
                  <a:pt x="23289" y="281879"/>
                  <a:pt x="23289" y="281879"/>
                </a:cubicBezTo>
                <a:cubicBezTo>
                  <a:pt x="20377" y="278973"/>
                  <a:pt x="20377" y="273162"/>
                  <a:pt x="23289" y="270256"/>
                </a:cubicBezTo>
                <a:cubicBezTo>
                  <a:pt x="26200" y="267349"/>
                  <a:pt x="29111" y="264443"/>
                  <a:pt x="32022" y="261537"/>
                </a:cubicBezTo>
                <a:cubicBezTo>
                  <a:pt x="34934" y="261537"/>
                  <a:pt x="34934" y="261537"/>
                  <a:pt x="34934" y="261537"/>
                </a:cubicBezTo>
                <a:cubicBezTo>
                  <a:pt x="37845" y="261537"/>
                  <a:pt x="37845" y="261537"/>
                  <a:pt x="37845" y="261537"/>
                </a:cubicBezTo>
                <a:cubicBezTo>
                  <a:pt x="69867" y="249913"/>
                  <a:pt x="69867" y="249913"/>
                  <a:pt x="69867" y="249913"/>
                </a:cubicBezTo>
                <a:cubicBezTo>
                  <a:pt x="308577" y="180170"/>
                  <a:pt x="308577" y="180170"/>
                  <a:pt x="308577" y="180170"/>
                </a:cubicBezTo>
                <a:cubicBezTo>
                  <a:pt x="311488" y="180170"/>
                  <a:pt x="311488" y="180170"/>
                  <a:pt x="314400" y="180170"/>
                </a:cubicBezTo>
                <a:cubicBezTo>
                  <a:pt x="320222" y="180170"/>
                  <a:pt x="326045" y="183077"/>
                  <a:pt x="328955" y="191794"/>
                </a:cubicBezTo>
                <a:cubicBezTo>
                  <a:pt x="331866" y="200513"/>
                  <a:pt x="331866" y="200513"/>
                  <a:pt x="331866" y="200513"/>
                </a:cubicBezTo>
                <a:cubicBezTo>
                  <a:pt x="334777" y="206324"/>
                  <a:pt x="331866" y="209230"/>
                  <a:pt x="331866" y="212136"/>
                </a:cubicBezTo>
                <a:cubicBezTo>
                  <a:pt x="328955" y="215041"/>
                  <a:pt x="326045" y="217949"/>
                  <a:pt x="323132" y="220854"/>
                </a:cubicBezTo>
                <a:cubicBezTo>
                  <a:pt x="142644" y="273162"/>
                  <a:pt x="142644" y="273162"/>
                  <a:pt x="142644" y="273162"/>
                </a:cubicBezTo>
                <a:cubicBezTo>
                  <a:pt x="113533" y="281879"/>
                  <a:pt x="125178" y="284785"/>
                  <a:pt x="125178" y="284785"/>
                </a:cubicBezTo>
                <a:close/>
                <a:moveTo>
                  <a:pt x="323132" y="316751"/>
                </a:moveTo>
                <a:cubicBezTo>
                  <a:pt x="299844" y="322563"/>
                  <a:pt x="299844" y="322563"/>
                  <a:pt x="299844" y="322563"/>
                </a:cubicBezTo>
                <a:cubicBezTo>
                  <a:pt x="282377" y="328375"/>
                  <a:pt x="267821" y="345811"/>
                  <a:pt x="267821" y="363247"/>
                </a:cubicBezTo>
                <a:cubicBezTo>
                  <a:pt x="267821" y="401024"/>
                  <a:pt x="267821" y="401024"/>
                  <a:pt x="267821" y="401024"/>
                </a:cubicBezTo>
                <a:cubicBezTo>
                  <a:pt x="227066" y="401024"/>
                  <a:pt x="227066" y="401024"/>
                  <a:pt x="227066" y="401024"/>
                </a:cubicBezTo>
                <a:cubicBezTo>
                  <a:pt x="227066" y="319656"/>
                  <a:pt x="227066" y="319656"/>
                  <a:pt x="227066" y="319656"/>
                </a:cubicBezTo>
                <a:cubicBezTo>
                  <a:pt x="227066" y="310939"/>
                  <a:pt x="235800" y="299315"/>
                  <a:pt x="244533" y="296409"/>
                </a:cubicBezTo>
                <a:cubicBezTo>
                  <a:pt x="308577" y="278973"/>
                  <a:pt x="308577" y="278973"/>
                  <a:pt x="308577" y="278973"/>
                </a:cubicBezTo>
                <a:cubicBezTo>
                  <a:pt x="317311" y="276068"/>
                  <a:pt x="326045" y="278973"/>
                  <a:pt x="328955" y="287692"/>
                </a:cubicBezTo>
                <a:cubicBezTo>
                  <a:pt x="331866" y="299315"/>
                  <a:pt x="331866" y="299315"/>
                  <a:pt x="331866" y="299315"/>
                </a:cubicBezTo>
                <a:cubicBezTo>
                  <a:pt x="334777" y="308033"/>
                  <a:pt x="328955" y="316751"/>
                  <a:pt x="323132" y="316751"/>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22" name="Connector 22"/>
          <p:cNvCxnSpPr/>
          <p:nvPr/>
        </p:nvCxnSpPr>
        <p:spPr>
          <a:xfrm rot="21">
            <a:off x="3498701" y="2440497"/>
            <a:ext cx="546248" cy="12700"/>
          </a:xfrm>
          <a:prstGeom prst="line">
            <a:avLst/>
          </a:prstGeom>
          <a:solidFill>
            <a:srgbClr val="DEE0E3">
              <a:alpha val="100000"/>
            </a:srgbClr>
          </a:solidFill>
          <a:ln w="12700" cap="flat" cmpd="sng">
            <a:solidFill>
              <a:srgbClr val="808080">
                <a:alpha val="100000"/>
              </a:srgbClr>
            </a:solidFill>
            <a:prstDash val="solid"/>
            <a:miter lim="10000000"/>
            <a:headEnd type="oval" w="med" len="med"/>
            <a:tailEnd type="oval" w="med" len="med"/>
          </a:ln>
        </p:spPr>
      </p:cxnSp>
      <p:cxnSp>
        <p:nvCxnSpPr>
          <p:cNvPr id="23" name="Connector 23"/>
          <p:cNvCxnSpPr/>
          <p:nvPr/>
        </p:nvCxnSpPr>
        <p:spPr>
          <a:xfrm rot="20">
            <a:off x="4279900" y="2425702"/>
            <a:ext cx="558944" cy="12700"/>
          </a:xfrm>
          <a:prstGeom prst="line">
            <a:avLst/>
          </a:prstGeom>
          <a:solidFill>
            <a:srgbClr val="DEE0E3">
              <a:alpha val="100000"/>
            </a:srgbClr>
          </a:solidFill>
          <a:ln w="12700" cap="flat" cmpd="sng">
            <a:solidFill>
              <a:srgbClr val="808080">
                <a:alpha val="100000"/>
              </a:srgbClr>
            </a:solidFill>
            <a:prstDash val="solid"/>
            <a:miter lim="10000000"/>
            <a:headEnd type="oval" w="med" len="med"/>
            <a:tailEnd type="oval" w="med" len="med"/>
          </a:ln>
        </p:spPr>
      </p:cxnSp>
      <p:sp>
        <p:nvSpPr>
          <p:cNvPr id="25" name="AutoShape 25"/>
          <p:cNvSpPr/>
          <p:nvPr/>
        </p:nvSpPr>
        <p:spPr>
          <a:xfrm>
            <a:off x="825500" y="4940300"/>
            <a:ext cx="7632700" cy="9271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25000"/>
              </a:lnSpc>
              <a:defRPr/>
            </a:pPr>
            <a:r>
              <a:rPr lang="en-US" sz="1200" b="0" i="0" u="none" strike="noStrike" dirty="0">
                <a:solidFill>
                  <a:srgbClr val="000000"/>
                </a:solidFill>
                <a:latin typeface="微软雅黑"/>
                <a:ea typeface="微软雅黑"/>
                <a:cs typeface="微软雅黑"/>
                <a:sym typeface="微软雅黑"/>
              </a:rPr>
              <a:t>本次研究以解决细粒度分类的核心痛点为导向，通过迁移学习突破数据瓶颈，对比主流Transformer模型明确技术路线，结合TTA与集成学习优化预测效果，最终落地端到端的完整技术流程，确保方案兼具理论深度与工程实践价值，为相关视觉应用提供可靠支撑。</a:t>
            </a:r>
            <a:endParaRPr lang="en-US" sz="1100" dirty="0"/>
          </a:p>
        </p:txBody>
      </p:sp>
      <p:cxnSp>
        <p:nvCxnSpPr>
          <p:cNvPr id="26" name="Connector 26"/>
          <p:cNvCxnSpPr/>
          <p:nvPr/>
        </p:nvCxnSpPr>
        <p:spPr>
          <a:xfrm>
            <a:off x="901700" y="4724400"/>
            <a:ext cx="7340611" cy="12700"/>
          </a:xfrm>
          <a:prstGeom prst="line">
            <a:avLst/>
          </a:prstGeom>
          <a:solidFill>
            <a:srgbClr val="DEE0E3">
              <a:alpha val="100000"/>
            </a:srgbClr>
          </a:solidFill>
          <a:ln w="12700" cap="flat" cmpd="sng">
            <a:solidFill>
              <a:srgbClr val="595959">
                <a:alpha val="100000"/>
              </a:srgbClr>
            </a:solidFill>
            <a:prstDash val="dash"/>
            <a:miter lim="10000000"/>
            <a:headEnd type="none" w="med" len="med"/>
            <a:tailEnd type="none" w="med" len="med"/>
          </a:ln>
        </p:spPr>
      </p:cxnSp>
      <p:pic>
        <p:nvPicPr>
          <p:cNvPr id="27" name="Picture 27"/>
          <p:cNvPicPr>
            <a:picLocks noChangeAspect="1"/>
          </p:cNvPicPr>
          <p:nvPr/>
        </p:nvPicPr>
        <p:blipFill>
          <a:blip r:embed="rId4"/>
          <a:srcRect/>
          <a:stretch>
            <a:fillRect/>
          </a:stretch>
        </p:blipFill>
        <p:spPr>
          <a:xfrm>
            <a:off x="7162800" y="6172200"/>
            <a:ext cx="1778000" cy="444500"/>
          </a:xfrm>
          <a:prstGeom prst="rect">
            <a:avLst/>
          </a:prstGeom>
          <a:noFill/>
          <a:ln w="25400" cap="flat" cmpd="sng">
            <a:noFill/>
            <a:prstDash val="solid"/>
            <a:round/>
          </a:ln>
        </p:spPr>
      </p:pic>
      <p:cxnSp>
        <p:nvCxnSpPr>
          <p:cNvPr id="28" name="Connector 22">
            <a:extLst>
              <a:ext uri="{FF2B5EF4-FFF2-40B4-BE49-F238E27FC236}">
                <a16:creationId xmlns:a16="http://schemas.microsoft.com/office/drawing/2014/main" id="{52D07BCD-22C4-CDF1-B869-756C765D3992}"/>
              </a:ext>
            </a:extLst>
          </p:cNvPr>
          <p:cNvCxnSpPr/>
          <p:nvPr/>
        </p:nvCxnSpPr>
        <p:spPr>
          <a:xfrm rot="21">
            <a:off x="5340202" y="2442904"/>
            <a:ext cx="546248" cy="12700"/>
          </a:xfrm>
          <a:prstGeom prst="line">
            <a:avLst/>
          </a:prstGeom>
          <a:solidFill>
            <a:srgbClr val="DEE0E3">
              <a:alpha val="100000"/>
            </a:srgbClr>
          </a:solidFill>
          <a:ln w="12700" cap="flat" cmpd="sng">
            <a:solidFill>
              <a:srgbClr val="808080">
                <a:alpha val="100000"/>
              </a:srgbClr>
            </a:solidFill>
            <a:prstDash val="solid"/>
            <a:miter lim="10000000"/>
            <a:headEnd type="oval" w="med" len="med"/>
            <a:tailEnd type="oval"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90500"/>
            <a:ext cx="8877300" cy="6477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77900" y="4216400"/>
            <a:ext cx="7277100" cy="469900"/>
          </a:xfrm>
          <a:prstGeom prst="rect">
            <a:avLst/>
          </a:prstGeom>
          <a:noFill/>
          <a:ln w="25400" cap="flat" cmpd="sng">
            <a:noFill/>
            <a:prstDash val="solid"/>
            <a:round/>
          </a:ln>
        </p:spPr>
      </p:pic>
      <p:pic>
        <p:nvPicPr>
          <p:cNvPr id="4" name="Picture 4"/>
          <p:cNvPicPr>
            <a:picLocks noChangeAspect="1"/>
          </p:cNvPicPr>
          <p:nvPr/>
        </p:nvPicPr>
        <p:blipFill>
          <a:blip r:embed="rId3"/>
          <a:srcRect l="2825" r="7221" b="57471"/>
          <a:stretch>
            <a:fillRect/>
          </a:stretch>
        </p:blipFill>
        <p:spPr>
          <a:xfrm rot="10800000" flipV="1">
            <a:off x="952500" y="2133600"/>
            <a:ext cx="7277100" cy="469900"/>
          </a:xfrm>
          <a:prstGeom prst="rect">
            <a:avLst/>
          </a:prstGeom>
          <a:noFill/>
          <a:ln w="25400" cap="flat" cmpd="sng">
            <a:noFill/>
            <a:prstDash val="solid"/>
            <a:round/>
          </a:ln>
        </p:spPr>
      </p:pic>
      <p:sp>
        <p:nvSpPr>
          <p:cNvPr id="5" name="AutoShape 5"/>
          <p:cNvSpPr/>
          <p:nvPr/>
        </p:nvSpPr>
        <p:spPr>
          <a:xfrm>
            <a:off x="3111500" y="3162300"/>
            <a:ext cx="4445000" cy="5842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3200" b="1" i="0" u="none" strike="noStrike" dirty="0">
                <a:solidFill>
                  <a:srgbClr val="072063"/>
                </a:solidFill>
                <a:latin typeface="微软雅黑"/>
                <a:ea typeface="微软雅黑"/>
                <a:cs typeface="微软雅黑"/>
                <a:sym typeface="微软雅黑"/>
              </a:rPr>
              <a:t>03 </a:t>
            </a:r>
            <a:r>
              <a:rPr lang="en-US" sz="3200" b="1" i="0" u="none" strike="noStrike" dirty="0" err="1">
                <a:solidFill>
                  <a:srgbClr val="072063"/>
                </a:solidFill>
                <a:latin typeface="微软雅黑"/>
                <a:ea typeface="微软雅黑"/>
                <a:cs typeface="微软雅黑"/>
                <a:sym typeface="微软雅黑"/>
              </a:rPr>
              <a:t>核心模型架构详解</a:t>
            </a:r>
            <a:endParaRPr lang="en-US" sz="1100" dirty="0"/>
          </a:p>
        </p:txBody>
      </p:sp>
      <p:sp>
        <p:nvSpPr>
          <p:cNvPr id="6" name="AutoShape 6"/>
          <p:cNvSpPr/>
          <p:nvPr/>
        </p:nvSpPr>
        <p:spPr>
          <a:xfrm>
            <a:off x="2197100" y="3683000"/>
            <a:ext cx="1219200" cy="393700"/>
          </a:xfrm>
          <a:prstGeom prst="ellipse">
            <a:avLst/>
          </a:prstGeom>
          <a:gradFill rotWithShape="1">
            <a:gsLst>
              <a:gs pos="0">
                <a:srgbClr val="000000">
                  <a:alpha val="68000"/>
                </a:srgbClr>
              </a:gs>
              <a:gs pos="100000">
                <a:srgbClr val="595959">
                  <a:alpha val="0"/>
                </a:srgbClr>
              </a:gs>
            </a:gsLst>
            <a:path path="shap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286000" y="2844800"/>
            <a:ext cx="1092200" cy="1092200"/>
          </a:xfrm>
          <a:prstGeom prst="ellipse">
            <a:avLst/>
          </a:prstGeom>
          <a:solidFill>
            <a:srgbClr val="0720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8"/>
          <p:cNvSpPr/>
          <p:nvPr/>
        </p:nvSpPr>
        <p:spPr>
          <a:xfrm>
            <a:off x="2514600" y="3238500"/>
            <a:ext cx="487048" cy="451891"/>
          </a:xfrm>
          <a:custGeom>
            <a:avLst/>
            <a:gdLst/>
            <a:ahLst/>
            <a:cxnLst/>
            <a:rect l="l" t="t" r="r" b="b"/>
            <a:pathLst>
              <a:path w="487048" h="451891">
                <a:moveTo>
                  <a:pt x="241379" y="0"/>
                </a:moveTo>
                <a:cubicBezTo>
                  <a:pt x="270344" y="0"/>
                  <a:pt x="298237" y="5367"/>
                  <a:pt x="326130" y="17174"/>
                </a:cubicBezTo>
                <a:cubicBezTo>
                  <a:pt x="435554" y="63329"/>
                  <a:pt x="487048" y="189987"/>
                  <a:pt x="440917" y="300546"/>
                </a:cubicBezTo>
                <a:cubicBezTo>
                  <a:pt x="406588" y="383195"/>
                  <a:pt x="326130" y="432570"/>
                  <a:pt x="241379" y="432570"/>
                </a:cubicBezTo>
                <a:cubicBezTo>
                  <a:pt x="241379" y="432570"/>
                  <a:pt x="241379" y="432570"/>
                  <a:pt x="240306" y="432570"/>
                </a:cubicBezTo>
                <a:cubicBezTo>
                  <a:pt x="240306" y="432570"/>
                  <a:pt x="240306" y="432570"/>
                  <a:pt x="240306" y="432570"/>
                </a:cubicBezTo>
                <a:cubicBezTo>
                  <a:pt x="239232" y="432570"/>
                  <a:pt x="237087" y="433644"/>
                  <a:pt x="234941" y="434717"/>
                </a:cubicBezTo>
                <a:cubicBezTo>
                  <a:pt x="208121" y="447598"/>
                  <a:pt x="180230" y="451891"/>
                  <a:pt x="155555" y="451891"/>
                </a:cubicBezTo>
                <a:cubicBezTo>
                  <a:pt x="126590" y="451891"/>
                  <a:pt x="101915" y="446524"/>
                  <a:pt x="90114" y="442231"/>
                </a:cubicBezTo>
                <a:cubicBezTo>
                  <a:pt x="86896" y="441157"/>
                  <a:pt x="84751" y="439011"/>
                  <a:pt x="86896" y="439011"/>
                </a:cubicBezTo>
                <a:cubicBezTo>
                  <a:pt x="119080" y="435790"/>
                  <a:pt x="131953" y="417543"/>
                  <a:pt x="136244" y="410030"/>
                </a:cubicBezTo>
                <a:cubicBezTo>
                  <a:pt x="137317" y="406809"/>
                  <a:pt x="135172" y="404663"/>
                  <a:pt x="134099" y="403589"/>
                </a:cubicBezTo>
                <a:cubicBezTo>
                  <a:pt x="40766" y="350994"/>
                  <a:pt x="0" y="233996"/>
                  <a:pt x="42912" y="132025"/>
                </a:cubicBezTo>
                <a:cubicBezTo>
                  <a:pt x="77241" y="49375"/>
                  <a:pt x="157701" y="0"/>
                  <a:pt x="241379" y="0"/>
                </a:cubicBezTo>
                <a:moveTo>
                  <a:pt x="241379" y="22541"/>
                </a:moveTo>
                <a:cubicBezTo>
                  <a:pt x="164137" y="22541"/>
                  <a:pt x="94405" y="69770"/>
                  <a:pt x="63294" y="141685"/>
                </a:cubicBezTo>
                <a:cubicBezTo>
                  <a:pt x="25747" y="230776"/>
                  <a:pt x="61149" y="335967"/>
                  <a:pt x="145900" y="384269"/>
                </a:cubicBezTo>
                <a:cubicBezTo>
                  <a:pt x="157701" y="391782"/>
                  <a:pt x="163064" y="406809"/>
                  <a:pt x="156628" y="419689"/>
                </a:cubicBezTo>
                <a:cubicBezTo>
                  <a:pt x="156628" y="419689"/>
                  <a:pt x="156628" y="419689"/>
                  <a:pt x="156628" y="419689"/>
                </a:cubicBezTo>
                <a:cubicBezTo>
                  <a:pt x="156628" y="420764"/>
                  <a:pt x="156628" y="420764"/>
                  <a:pt x="156628" y="420764"/>
                </a:cubicBezTo>
                <a:cubicBezTo>
                  <a:pt x="154483" y="422910"/>
                  <a:pt x="153410" y="425056"/>
                  <a:pt x="151263" y="428277"/>
                </a:cubicBezTo>
                <a:cubicBezTo>
                  <a:pt x="152336" y="428277"/>
                  <a:pt x="153410" y="428277"/>
                  <a:pt x="155555" y="428277"/>
                </a:cubicBezTo>
                <a:cubicBezTo>
                  <a:pt x="181301" y="428277"/>
                  <a:pt x="204903" y="422910"/>
                  <a:pt x="225287" y="413249"/>
                </a:cubicBezTo>
                <a:cubicBezTo>
                  <a:pt x="229578" y="411103"/>
                  <a:pt x="234941" y="410030"/>
                  <a:pt x="240306" y="410030"/>
                </a:cubicBezTo>
                <a:cubicBezTo>
                  <a:pt x="241379" y="410030"/>
                  <a:pt x="241379" y="410030"/>
                  <a:pt x="241379" y="410030"/>
                </a:cubicBezTo>
                <a:cubicBezTo>
                  <a:pt x="319692" y="410030"/>
                  <a:pt x="389424" y="363874"/>
                  <a:pt x="419462" y="291958"/>
                </a:cubicBezTo>
                <a:cubicBezTo>
                  <a:pt x="461301" y="193208"/>
                  <a:pt x="415171" y="79430"/>
                  <a:pt x="316474" y="38641"/>
                </a:cubicBezTo>
                <a:cubicBezTo>
                  <a:pt x="292872" y="27908"/>
                  <a:pt x="267125" y="22541"/>
                  <a:pt x="241379" y="22541"/>
                </a:cubicBezTo>
                <a:cubicBezTo>
                  <a:pt x="241379" y="22541"/>
                  <a:pt x="241379" y="22541"/>
                  <a:pt x="241379" y="22541"/>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641600" y="3441700"/>
            <a:ext cx="50800" cy="508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743200" y="3441700"/>
            <a:ext cx="50800" cy="508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2832100" y="3441700"/>
            <a:ext cx="50800" cy="508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12"/>
          <p:cNvSpPr/>
          <p:nvPr/>
        </p:nvSpPr>
        <p:spPr>
          <a:xfrm>
            <a:off x="2755900" y="3098800"/>
            <a:ext cx="375736" cy="413249"/>
          </a:xfrm>
          <a:custGeom>
            <a:avLst/>
            <a:gdLst/>
            <a:ahLst/>
            <a:cxnLst/>
            <a:rect l="l" t="t" r="r" b="b"/>
            <a:pathLst>
              <a:path w="375736" h="413249">
                <a:moveTo>
                  <a:pt x="259795" y="375681"/>
                </a:moveTo>
                <a:cubicBezTo>
                  <a:pt x="258721" y="373534"/>
                  <a:pt x="259795" y="371387"/>
                  <a:pt x="260868" y="371387"/>
                </a:cubicBezTo>
                <a:cubicBezTo>
                  <a:pt x="341384" y="325232"/>
                  <a:pt x="375736" y="225408"/>
                  <a:pt x="339236" y="138466"/>
                </a:cubicBezTo>
                <a:cubicBezTo>
                  <a:pt x="299516" y="44008"/>
                  <a:pt x="191088" y="0"/>
                  <a:pt x="96618" y="39715"/>
                </a:cubicBezTo>
                <a:cubicBezTo>
                  <a:pt x="52603" y="59036"/>
                  <a:pt x="19323" y="92310"/>
                  <a:pt x="0" y="134172"/>
                </a:cubicBezTo>
                <a:cubicBezTo>
                  <a:pt x="2148" y="133099"/>
                  <a:pt x="3221" y="133099"/>
                  <a:pt x="4294" y="133099"/>
                </a:cubicBezTo>
                <a:cubicBezTo>
                  <a:pt x="34354" y="133099"/>
                  <a:pt x="63339" y="139539"/>
                  <a:pt x="92324" y="151346"/>
                </a:cubicBezTo>
                <a:cubicBezTo>
                  <a:pt x="119162" y="162080"/>
                  <a:pt x="142780" y="178180"/>
                  <a:pt x="162103" y="197500"/>
                </a:cubicBezTo>
                <a:cubicBezTo>
                  <a:pt x="165324" y="194281"/>
                  <a:pt x="170692" y="193208"/>
                  <a:pt x="176059" y="193208"/>
                </a:cubicBezTo>
                <a:cubicBezTo>
                  <a:pt x="188942" y="193208"/>
                  <a:pt x="199677" y="203942"/>
                  <a:pt x="199677" y="216822"/>
                </a:cubicBezTo>
                <a:cubicBezTo>
                  <a:pt x="199677" y="223262"/>
                  <a:pt x="197529" y="229702"/>
                  <a:pt x="193236" y="233995"/>
                </a:cubicBezTo>
                <a:cubicBezTo>
                  <a:pt x="226515" y="284444"/>
                  <a:pt x="239398" y="348846"/>
                  <a:pt x="225442" y="411103"/>
                </a:cubicBezTo>
                <a:cubicBezTo>
                  <a:pt x="257647" y="413249"/>
                  <a:pt x="285560" y="407882"/>
                  <a:pt x="298441" y="403588"/>
                </a:cubicBezTo>
                <a:cubicBezTo>
                  <a:pt x="301662" y="402515"/>
                  <a:pt x="302736" y="401442"/>
                  <a:pt x="301662" y="401442"/>
                </a:cubicBezTo>
                <a:cubicBezTo>
                  <a:pt x="273751" y="398221"/>
                  <a:pt x="263016" y="382121"/>
                  <a:pt x="259795" y="375681"/>
                </a:cubicBezTo>
                <a:close/>
                <a:moveTo>
                  <a:pt x="231883" y="216822"/>
                </a:moveTo>
                <a:cubicBezTo>
                  <a:pt x="231883" y="203942"/>
                  <a:pt x="242618" y="193208"/>
                  <a:pt x="256574" y="193208"/>
                </a:cubicBezTo>
                <a:cubicBezTo>
                  <a:pt x="269456" y="193208"/>
                  <a:pt x="280191" y="203942"/>
                  <a:pt x="280191" y="216822"/>
                </a:cubicBezTo>
                <a:cubicBezTo>
                  <a:pt x="280191" y="230776"/>
                  <a:pt x="269456" y="241510"/>
                  <a:pt x="256574" y="241510"/>
                </a:cubicBezTo>
                <a:cubicBezTo>
                  <a:pt x="242618" y="241510"/>
                  <a:pt x="231883" y="230776"/>
                  <a:pt x="231883" y="21682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6858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39800" y="977900"/>
            <a:ext cx="7277100" cy="469900"/>
          </a:xfrm>
          <a:prstGeom prst="rect">
            <a:avLst/>
          </a:prstGeom>
          <a:noFill/>
          <a:ln w="25400" cap="flat" cmpd="sng">
            <a:noFill/>
            <a:prstDash val="solid"/>
            <a:round/>
          </a:ln>
        </p:spPr>
      </p:pic>
      <p:sp>
        <p:nvSpPr>
          <p:cNvPr id="4" name="AutoShape 4"/>
          <p:cNvSpPr/>
          <p:nvPr/>
        </p:nvSpPr>
        <p:spPr>
          <a:xfrm>
            <a:off x="457200" y="342900"/>
            <a:ext cx="8229600" cy="5715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072063"/>
                </a:solidFill>
                <a:latin typeface="微软雅黑"/>
                <a:ea typeface="微软雅黑"/>
                <a:cs typeface="微软雅黑"/>
                <a:sym typeface="微软雅黑"/>
              </a:rPr>
              <a:t>Swin Transformer: 层次化平移窗口注意力</a:t>
            </a:r>
            <a:endParaRPr lang="en-US" sz="1100"/>
          </a:p>
        </p:txBody>
      </p:sp>
      <p:sp>
        <p:nvSpPr>
          <p:cNvPr id="5" name="AutoShape 5"/>
          <p:cNvSpPr/>
          <p:nvPr/>
        </p:nvSpPr>
        <p:spPr>
          <a:xfrm>
            <a:off x="6257309" y="1397001"/>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dirty="0">
                <a:solidFill>
                  <a:srgbClr val="072063"/>
                </a:solidFill>
                <a:latin typeface="微软雅黑"/>
                <a:ea typeface="微软雅黑"/>
                <a:cs typeface="微软雅黑"/>
                <a:sym typeface="微软雅黑"/>
              </a:rPr>
              <a:t>01. </a:t>
            </a:r>
            <a:r>
              <a:rPr lang="en-US" sz="1600" b="1" i="0" u="none" strike="noStrike" dirty="0" err="1">
                <a:solidFill>
                  <a:srgbClr val="072063"/>
                </a:solidFill>
                <a:latin typeface="微软雅黑"/>
                <a:ea typeface="微软雅黑"/>
                <a:cs typeface="微软雅黑"/>
                <a:sym typeface="微软雅黑"/>
              </a:rPr>
              <a:t>窗口化注意力机制</a:t>
            </a:r>
            <a:endParaRPr lang="en-US" sz="1100" dirty="0"/>
          </a:p>
        </p:txBody>
      </p:sp>
      <p:sp>
        <p:nvSpPr>
          <p:cNvPr id="6" name="AutoShape 6"/>
          <p:cNvSpPr/>
          <p:nvPr/>
        </p:nvSpPr>
        <p:spPr>
          <a:xfrm>
            <a:off x="6299200" y="1790701"/>
            <a:ext cx="2967537" cy="1319109"/>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将注意力计算严格限制在</a:t>
            </a:r>
            <a:endParaRPr lang="en-US" sz="1400" b="0" i="0" u="none" strike="noStrike" dirty="0">
              <a:solidFill>
                <a:srgbClr val="000000"/>
              </a:solidFill>
              <a:latin typeface="微软雅黑"/>
              <a:ea typeface="微软雅黑"/>
              <a:cs typeface="微软雅黑"/>
              <a:sym typeface="微软雅黑"/>
            </a:endParaRP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局部窗口内完成，避免了全局注意力</a:t>
            </a:r>
            <a:endParaRPr lang="en-US" sz="1400" b="0" i="0" u="none" strike="noStrike" dirty="0">
              <a:solidFill>
                <a:srgbClr val="000000"/>
              </a:solidFill>
              <a:latin typeface="微软雅黑"/>
              <a:ea typeface="微软雅黑"/>
              <a:cs typeface="微软雅黑"/>
              <a:sym typeface="微软雅黑"/>
            </a:endParaRP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的高复杂度问题</a:t>
            </a:r>
            <a:r>
              <a:rPr lang="en-US" sz="1400" b="0" i="0" u="none" strike="noStrike" dirty="0">
                <a:solidFill>
                  <a:srgbClr val="000000"/>
                </a:solidFill>
                <a:latin typeface="微软雅黑"/>
                <a:ea typeface="微软雅黑"/>
                <a:cs typeface="微软雅黑"/>
                <a:sym typeface="微软雅黑"/>
              </a:rPr>
              <a:t>，</a:t>
            </a: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大幅降低了计算开销</a:t>
            </a:r>
            <a:r>
              <a:rPr lang="en-US" sz="1400" b="0" i="0" u="none" strike="noStrike" dirty="0">
                <a:solidFill>
                  <a:srgbClr val="000000"/>
                </a:solidFill>
                <a:latin typeface="微软雅黑"/>
                <a:ea typeface="微软雅黑"/>
                <a:cs typeface="微软雅黑"/>
                <a:sym typeface="微软雅黑"/>
              </a:rPr>
              <a:t>，</a:t>
            </a: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有效提升了模型处理</a:t>
            </a:r>
            <a:endParaRPr lang="en-US" sz="1400" b="0" i="0" u="none" strike="noStrike" dirty="0">
              <a:solidFill>
                <a:srgbClr val="000000"/>
              </a:solidFill>
              <a:latin typeface="微软雅黑"/>
              <a:ea typeface="微软雅黑"/>
              <a:cs typeface="微软雅黑"/>
              <a:sym typeface="微软雅黑"/>
            </a:endParaRP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高分辨率图像的可行性</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8" name="AutoShape 8"/>
          <p:cNvSpPr/>
          <p:nvPr/>
        </p:nvSpPr>
        <p:spPr>
          <a:xfrm>
            <a:off x="6220914" y="3367589"/>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dirty="0">
                <a:solidFill>
                  <a:srgbClr val="072063"/>
                </a:solidFill>
                <a:latin typeface="微软雅黑"/>
                <a:ea typeface="微软雅黑"/>
                <a:cs typeface="微软雅黑"/>
                <a:sym typeface="微软雅黑"/>
              </a:rPr>
              <a:t>02. </a:t>
            </a:r>
            <a:r>
              <a:rPr lang="en-US" sz="1600" b="1" i="0" u="none" strike="noStrike" dirty="0" err="1">
                <a:solidFill>
                  <a:srgbClr val="072063"/>
                </a:solidFill>
                <a:latin typeface="微软雅黑"/>
                <a:ea typeface="微软雅黑"/>
                <a:cs typeface="微软雅黑"/>
                <a:sym typeface="微软雅黑"/>
              </a:rPr>
              <a:t>交替平移窗口设计</a:t>
            </a:r>
            <a:endParaRPr lang="en-US" sz="1100" dirty="0"/>
          </a:p>
        </p:txBody>
      </p:sp>
      <p:sp>
        <p:nvSpPr>
          <p:cNvPr id="9" name="AutoShape 9"/>
          <p:cNvSpPr/>
          <p:nvPr/>
        </p:nvSpPr>
        <p:spPr>
          <a:xfrm>
            <a:off x="6288502" y="3785842"/>
            <a:ext cx="2506424" cy="1214242"/>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通过在相邻层交替使用常规窗口</a:t>
            </a:r>
            <a:endParaRPr lang="en-US" sz="1400" b="0" i="0" u="none" strike="noStrike" dirty="0">
              <a:solidFill>
                <a:srgbClr val="000000"/>
              </a:solidFill>
              <a:latin typeface="微软雅黑"/>
              <a:ea typeface="微软雅黑"/>
              <a:cs typeface="微软雅黑"/>
              <a:sym typeface="微软雅黑"/>
            </a:endParaRP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与平移窗口的划分方式</a:t>
            </a:r>
            <a:r>
              <a:rPr lang="en-US" sz="1400" b="0" i="0" u="none" strike="noStrike" dirty="0">
                <a:solidFill>
                  <a:srgbClr val="000000"/>
                </a:solidFill>
                <a:latin typeface="微软雅黑"/>
                <a:ea typeface="微软雅黑"/>
                <a:cs typeface="微软雅黑"/>
                <a:sym typeface="微软雅黑"/>
              </a:rPr>
              <a:t>，</a:t>
            </a:r>
            <a:endParaRPr lang="en-US" dirty="0">
              <a:latin typeface="微软雅黑"/>
              <a:ea typeface="微软雅黑"/>
              <a:cs typeface="微软雅黑"/>
              <a:sym typeface="微软雅黑"/>
            </a:endParaRP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巧妙打破了窗口边界的限制</a:t>
            </a:r>
            <a:r>
              <a:rPr lang="en-US" sz="1400" b="0" i="0" u="none" strike="noStrike" dirty="0">
                <a:solidFill>
                  <a:srgbClr val="000000"/>
                </a:solidFill>
                <a:latin typeface="微软雅黑"/>
                <a:ea typeface="微软雅黑"/>
                <a:cs typeface="微软雅黑"/>
                <a:sym typeface="微软雅黑"/>
              </a:rPr>
              <a:t>，</a:t>
            </a: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实现了跨窗口的信息交互与融合</a:t>
            </a:r>
            <a:r>
              <a:rPr lang="en-US" sz="1400" b="0" i="0" u="none" strike="noStrike" dirty="0">
                <a:solidFill>
                  <a:srgbClr val="000000"/>
                </a:solidFill>
                <a:latin typeface="微软雅黑"/>
                <a:ea typeface="微软雅黑"/>
                <a:cs typeface="微软雅黑"/>
                <a:sym typeface="微软雅黑"/>
              </a:rPr>
              <a:t>，</a:t>
            </a: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增强了模型的全局特征建模能力</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11" name="AutoShape 11"/>
          <p:cNvSpPr/>
          <p:nvPr/>
        </p:nvSpPr>
        <p:spPr>
          <a:xfrm>
            <a:off x="684669" y="5249007"/>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dirty="0">
                <a:solidFill>
                  <a:srgbClr val="072063"/>
                </a:solidFill>
                <a:latin typeface="微软雅黑"/>
                <a:ea typeface="微软雅黑"/>
                <a:cs typeface="微软雅黑"/>
                <a:sym typeface="微软雅黑"/>
              </a:rPr>
              <a:t>03. </a:t>
            </a:r>
            <a:r>
              <a:rPr lang="en-US" sz="1600" b="1" i="0" u="none" strike="noStrike" dirty="0" err="1">
                <a:solidFill>
                  <a:srgbClr val="072063"/>
                </a:solidFill>
                <a:latin typeface="微软雅黑"/>
                <a:ea typeface="微软雅黑"/>
                <a:cs typeface="微软雅黑"/>
                <a:sym typeface="微软雅黑"/>
              </a:rPr>
              <a:t>相对位置偏置编码</a:t>
            </a:r>
            <a:endParaRPr lang="en-US" sz="1100" dirty="0"/>
          </a:p>
        </p:txBody>
      </p:sp>
      <p:sp>
        <p:nvSpPr>
          <p:cNvPr id="12" name="AutoShape 12"/>
          <p:cNvSpPr/>
          <p:nvPr/>
        </p:nvSpPr>
        <p:spPr>
          <a:xfrm>
            <a:off x="733445" y="5651500"/>
            <a:ext cx="5523863" cy="773848"/>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在注意力计算中引入可学习的相对位置偏置项</a:t>
            </a:r>
            <a:r>
              <a:rPr lang="en-US" sz="1400" b="0" i="0" u="none" strike="noStrike" dirty="0">
                <a:solidFill>
                  <a:srgbClr val="000000"/>
                </a:solidFill>
                <a:latin typeface="微软雅黑"/>
                <a:ea typeface="微软雅黑"/>
                <a:cs typeface="微软雅黑"/>
                <a:sym typeface="微软雅黑"/>
              </a:rPr>
              <a:t>，</a:t>
            </a: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帮助模型精准捕捉并理解图像中物体的局部几何结构与空间位置关系</a:t>
            </a:r>
            <a:r>
              <a:rPr lang="en-US" sz="1400" b="0" i="0" u="none" strike="noStrike" dirty="0">
                <a:solidFill>
                  <a:srgbClr val="000000"/>
                </a:solidFill>
                <a:latin typeface="微软雅黑"/>
                <a:ea typeface="微软雅黑"/>
                <a:cs typeface="微软雅黑"/>
                <a:sym typeface="微软雅黑"/>
              </a:rPr>
              <a:t>，</a:t>
            </a:r>
          </a:p>
          <a:p>
            <a:pPr marL="0" indent="0" algn="l">
              <a:lnSpc>
                <a:spcPct val="100000"/>
              </a:lnSpc>
              <a:defRPr/>
            </a:pPr>
            <a:r>
              <a:rPr lang="en-US" sz="1400" b="0" i="0" u="none" strike="noStrike" dirty="0" err="1">
                <a:solidFill>
                  <a:srgbClr val="000000"/>
                </a:solidFill>
                <a:latin typeface="微软雅黑"/>
                <a:ea typeface="微软雅黑"/>
                <a:cs typeface="微软雅黑"/>
                <a:sym typeface="微软雅黑"/>
              </a:rPr>
              <a:t>提升了对目标轮廓等细节的识别精度</a:t>
            </a:r>
            <a:r>
              <a:rPr lang="en-US" sz="1400" b="0" i="0" u="none" strike="noStrike" dirty="0">
                <a:solidFill>
                  <a:srgbClr val="000000"/>
                </a:solidFill>
                <a:latin typeface="微软雅黑"/>
                <a:ea typeface="微软雅黑"/>
                <a:cs typeface="微软雅黑"/>
                <a:sym typeface="微软雅黑"/>
              </a:rPr>
              <a:t>。</a:t>
            </a:r>
            <a:endParaRPr lang="en-US" sz="1100" dirty="0"/>
          </a:p>
        </p:txBody>
      </p:sp>
      <p:pic>
        <p:nvPicPr>
          <p:cNvPr id="16" name="Picture 16"/>
          <p:cNvPicPr>
            <a:picLocks noChangeAspect="1"/>
          </p:cNvPicPr>
          <p:nvPr/>
        </p:nvPicPr>
        <p:blipFill>
          <a:blip r:embed="rId4"/>
          <a:srcRect/>
          <a:stretch>
            <a:fillRect/>
          </a:stretch>
        </p:blipFill>
        <p:spPr>
          <a:xfrm>
            <a:off x="7162800" y="6172200"/>
            <a:ext cx="1778000" cy="444500"/>
          </a:xfrm>
          <a:prstGeom prst="rect">
            <a:avLst/>
          </a:prstGeom>
          <a:noFill/>
          <a:ln w="25400" cap="flat" cmpd="sng">
            <a:noFill/>
            <a:prstDash val="solid"/>
            <a:round/>
          </a:ln>
        </p:spPr>
      </p:pic>
      <p:pic>
        <p:nvPicPr>
          <p:cNvPr id="17" name="图片 16">
            <a:extLst>
              <a:ext uri="{FF2B5EF4-FFF2-40B4-BE49-F238E27FC236}">
                <a16:creationId xmlns:a16="http://schemas.microsoft.com/office/drawing/2014/main" id="{2E2F1B61-92B6-50FC-9A88-78AF5C2984FD}"/>
              </a:ext>
            </a:extLst>
          </p:cNvPr>
          <p:cNvPicPr>
            <a:picLocks noChangeAspect="1"/>
          </p:cNvPicPr>
          <p:nvPr/>
        </p:nvPicPr>
        <p:blipFill>
          <a:blip r:embed="rId5"/>
          <a:stretch>
            <a:fillRect/>
          </a:stretch>
        </p:blipFill>
        <p:spPr>
          <a:xfrm>
            <a:off x="341856" y="1631103"/>
            <a:ext cx="6072861" cy="33393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3"/>
          <a:srcRect l="2825" r="7221" b="57471"/>
          <a:stretch>
            <a:fillRect/>
          </a:stretch>
        </p:blipFill>
        <p:spPr>
          <a:xfrm rot="10800000">
            <a:off x="939800" y="977900"/>
            <a:ext cx="7277100" cy="469900"/>
          </a:xfrm>
          <a:prstGeom prst="rect">
            <a:avLst/>
          </a:prstGeom>
          <a:noFill/>
          <a:ln w="25400" cap="flat" cmpd="sng">
            <a:noFill/>
            <a:prstDash val="solid"/>
            <a:round/>
          </a:ln>
        </p:spPr>
      </p:pic>
      <p:sp>
        <p:nvSpPr>
          <p:cNvPr id="4" name="AutoShape 4"/>
          <p:cNvSpPr/>
          <p:nvPr/>
        </p:nvSpPr>
        <p:spPr>
          <a:xfrm>
            <a:off x="457200" y="342900"/>
            <a:ext cx="8229600" cy="5715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072063"/>
                </a:solidFill>
                <a:latin typeface="微软雅黑"/>
                <a:ea typeface="微软雅黑"/>
                <a:cs typeface="微软雅黑"/>
                <a:sym typeface="微软雅黑"/>
              </a:rPr>
              <a:t>CSWin Transformer: 交叉形窗口注意力</a:t>
            </a:r>
            <a:endParaRPr lang="en-US" sz="1100"/>
          </a:p>
        </p:txBody>
      </p:sp>
      <p:sp>
        <p:nvSpPr>
          <p:cNvPr id="11" name="AutoShape 11"/>
          <p:cNvSpPr/>
          <p:nvPr/>
        </p:nvSpPr>
        <p:spPr>
          <a:xfrm>
            <a:off x="712064" y="5491943"/>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dirty="0">
                <a:solidFill>
                  <a:srgbClr val="072063"/>
                </a:solidFill>
                <a:latin typeface="微软雅黑"/>
                <a:ea typeface="微软雅黑"/>
                <a:cs typeface="微软雅黑"/>
                <a:sym typeface="微软雅黑"/>
              </a:rPr>
              <a:t>03. </a:t>
            </a:r>
            <a:r>
              <a:rPr lang="en-US" sz="1600" b="1" i="0" u="none" strike="noStrike" dirty="0" err="1">
                <a:solidFill>
                  <a:srgbClr val="072063"/>
                </a:solidFill>
                <a:latin typeface="微软雅黑"/>
                <a:ea typeface="微软雅黑"/>
                <a:cs typeface="微软雅黑"/>
                <a:sym typeface="微软雅黑"/>
              </a:rPr>
              <a:t>层次化特征提取结构</a:t>
            </a:r>
            <a:endParaRPr lang="en-US" sz="1100" dirty="0"/>
          </a:p>
        </p:txBody>
      </p:sp>
      <p:sp>
        <p:nvSpPr>
          <p:cNvPr id="12" name="AutoShape 12"/>
          <p:cNvSpPr/>
          <p:nvPr/>
        </p:nvSpPr>
        <p:spPr>
          <a:xfrm>
            <a:off x="712064" y="5893652"/>
            <a:ext cx="5029200" cy="6985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dirty="0">
                <a:solidFill>
                  <a:srgbClr val="000000"/>
                </a:solidFill>
                <a:latin typeface="微软雅黑"/>
                <a:ea typeface="微软雅黑"/>
                <a:cs typeface="微软雅黑"/>
                <a:sym typeface="微软雅黑"/>
              </a:rPr>
              <a:t>设计MergeBlock模块实现类似CNN的层次化特征聚合，逐步扩大感受野并整合多尺度信息，有效增强模型的特征表达能力，兼顾局部细节与全局语义的融合。</a:t>
            </a:r>
            <a:endParaRPr lang="en-US" sz="1100" dirty="0"/>
          </a:p>
        </p:txBody>
      </p:sp>
      <p:pic>
        <p:nvPicPr>
          <p:cNvPr id="16" name="Picture 16"/>
          <p:cNvPicPr>
            <a:picLocks noChangeAspect="1"/>
          </p:cNvPicPr>
          <p:nvPr/>
        </p:nvPicPr>
        <p:blipFill>
          <a:blip r:embed="rId4"/>
          <a:srcRect/>
          <a:stretch>
            <a:fillRect/>
          </a:stretch>
        </p:blipFill>
        <p:spPr>
          <a:xfrm>
            <a:off x="7080762" y="6147652"/>
            <a:ext cx="1778000" cy="444500"/>
          </a:xfrm>
          <a:prstGeom prst="rect">
            <a:avLst/>
          </a:prstGeom>
          <a:noFill/>
          <a:ln w="25400" cap="flat" cmpd="sng">
            <a:noFill/>
            <a:prstDash val="solid"/>
            <a:round/>
          </a:ln>
        </p:spPr>
      </p:pic>
      <p:pic>
        <p:nvPicPr>
          <p:cNvPr id="1026" name="Picture 2" descr="teaser">
            <a:extLst>
              <a:ext uri="{FF2B5EF4-FFF2-40B4-BE49-F238E27FC236}">
                <a16:creationId xmlns:a16="http://schemas.microsoft.com/office/drawing/2014/main" id="{201CA534-6FE4-65BC-86D1-DE20E2FA38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45" y="1149757"/>
            <a:ext cx="6235986" cy="4238522"/>
          </a:xfrm>
          <a:prstGeom prst="rect">
            <a:avLst/>
          </a:prstGeom>
          <a:noFill/>
          <a:extLst>
            <a:ext uri="{909E8E84-426E-40DD-AFC4-6F175D3DCCD1}">
              <a14:hiddenFill xmlns:a14="http://schemas.microsoft.com/office/drawing/2010/main">
                <a:solidFill>
                  <a:srgbClr val="FFFFFF"/>
                </a:solidFill>
              </a14:hiddenFill>
            </a:ext>
          </a:extLst>
        </p:spPr>
      </p:pic>
      <p:sp>
        <p:nvSpPr>
          <p:cNvPr id="17" name="AutoShape 5">
            <a:extLst>
              <a:ext uri="{FF2B5EF4-FFF2-40B4-BE49-F238E27FC236}">
                <a16:creationId xmlns:a16="http://schemas.microsoft.com/office/drawing/2014/main" id="{E12DED89-09D7-75FC-DDD8-0612F05A0CDE}"/>
              </a:ext>
            </a:extLst>
          </p:cNvPr>
          <p:cNvSpPr/>
          <p:nvPr/>
        </p:nvSpPr>
        <p:spPr>
          <a:xfrm>
            <a:off x="6313861" y="1360860"/>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dirty="0">
                <a:solidFill>
                  <a:srgbClr val="072063"/>
                </a:solidFill>
                <a:latin typeface="微软雅黑"/>
                <a:ea typeface="微软雅黑"/>
                <a:cs typeface="微软雅黑"/>
                <a:sym typeface="微软雅黑"/>
              </a:rPr>
              <a:t>01. </a:t>
            </a:r>
            <a:r>
              <a:rPr lang="en-US" sz="1600" b="1" i="0" u="none" strike="noStrike" dirty="0" err="1">
                <a:solidFill>
                  <a:srgbClr val="072063"/>
                </a:solidFill>
                <a:latin typeface="微软雅黑"/>
                <a:ea typeface="微软雅黑"/>
                <a:cs typeface="微软雅黑"/>
                <a:sym typeface="微软雅黑"/>
              </a:rPr>
              <a:t>交叉窗口注意力机制</a:t>
            </a:r>
            <a:endParaRPr lang="en-US" sz="1100" dirty="0"/>
          </a:p>
        </p:txBody>
      </p:sp>
      <p:sp>
        <p:nvSpPr>
          <p:cNvPr id="18" name="AutoShape 6">
            <a:extLst>
              <a:ext uri="{FF2B5EF4-FFF2-40B4-BE49-F238E27FC236}">
                <a16:creationId xmlns:a16="http://schemas.microsoft.com/office/drawing/2014/main" id="{46313DEC-3189-568A-F866-1066DAA2D8DF}"/>
              </a:ext>
            </a:extLst>
          </p:cNvPr>
          <p:cNvSpPr/>
          <p:nvPr/>
        </p:nvSpPr>
        <p:spPr>
          <a:xfrm>
            <a:off x="6349319" y="1774165"/>
            <a:ext cx="2247730" cy="1568917"/>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dirty="0">
                <a:solidFill>
                  <a:srgbClr val="000000"/>
                </a:solidFill>
                <a:latin typeface="微软雅黑"/>
                <a:ea typeface="微软雅黑"/>
                <a:cs typeface="微软雅黑"/>
                <a:sym typeface="微软雅黑"/>
              </a:rPr>
              <a:t>通过水平和垂直条带窗口并行计算注意力，避免全局计算的高复杂度，在大幅降低计算开销的同时，能够高效捕获图像中的长距离依赖关系与物体的整体结构信息。</a:t>
            </a:r>
            <a:endParaRPr lang="en-US" sz="1100" dirty="0"/>
          </a:p>
        </p:txBody>
      </p:sp>
      <p:sp>
        <p:nvSpPr>
          <p:cNvPr id="20" name="AutoShape 8">
            <a:extLst>
              <a:ext uri="{FF2B5EF4-FFF2-40B4-BE49-F238E27FC236}">
                <a16:creationId xmlns:a16="http://schemas.microsoft.com/office/drawing/2014/main" id="{2753AC94-1AD6-2693-4937-2A5EF0561319}"/>
              </a:ext>
            </a:extLst>
          </p:cNvPr>
          <p:cNvSpPr/>
          <p:nvPr/>
        </p:nvSpPr>
        <p:spPr>
          <a:xfrm>
            <a:off x="6313861" y="3343083"/>
            <a:ext cx="2641600" cy="342900"/>
          </a:xfrm>
          <a:prstGeom prst="rect">
            <a:avLst/>
          </a:prstGeom>
          <a:noFill/>
          <a:ln w="9525" cap="flat" cmpd="sng">
            <a:noFill/>
            <a:prstDash val="solid"/>
            <a:round/>
          </a:ln>
        </p:spPr>
        <p:txBody>
          <a:bodyPr vert="horz" wrap="none" lIns="88900" tIns="50800" rIns="88900" bIns="50800" rtlCol="0" anchor="t" anchorCtr="0"/>
          <a:lstStyle/>
          <a:p>
            <a:pPr marL="0" indent="0" algn="l">
              <a:lnSpc>
                <a:spcPct val="100000"/>
              </a:lnSpc>
              <a:defRPr/>
            </a:pPr>
            <a:r>
              <a:rPr lang="en-US" sz="1600" b="1" i="0" u="none" strike="noStrike" dirty="0">
                <a:solidFill>
                  <a:srgbClr val="072063"/>
                </a:solidFill>
                <a:latin typeface="微软雅黑"/>
                <a:ea typeface="微软雅黑"/>
                <a:cs typeface="微软雅黑"/>
                <a:sym typeface="微软雅黑"/>
              </a:rPr>
              <a:t>02. </a:t>
            </a:r>
            <a:r>
              <a:rPr lang="en-US" sz="1600" b="1" i="0" u="none" strike="noStrike" dirty="0" err="1">
                <a:solidFill>
                  <a:srgbClr val="072063"/>
                </a:solidFill>
                <a:latin typeface="微软雅黑"/>
                <a:ea typeface="微软雅黑"/>
                <a:cs typeface="微软雅黑"/>
                <a:sym typeface="微软雅黑"/>
              </a:rPr>
              <a:t>局部增强位置编码</a:t>
            </a:r>
            <a:r>
              <a:rPr lang="en-US" sz="1600" b="1" i="0" u="none" strike="noStrike" dirty="0">
                <a:solidFill>
                  <a:srgbClr val="072063"/>
                </a:solidFill>
                <a:latin typeface="微软雅黑"/>
                <a:ea typeface="微软雅黑"/>
                <a:cs typeface="微软雅黑"/>
                <a:sym typeface="微软雅黑"/>
              </a:rPr>
              <a:t> (</a:t>
            </a:r>
            <a:r>
              <a:rPr lang="en-US" sz="1600" b="1" i="0" u="none" strike="noStrike" dirty="0" err="1">
                <a:solidFill>
                  <a:srgbClr val="072063"/>
                </a:solidFill>
                <a:latin typeface="微软雅黑"/>
                <a:ea typeface="微软雅黑"/>
                <a:cs typeface="微软雅黑"/>
                <a:sym typeface="微软雅黑"/>
              </a:rPr>
              <a:t>LePE</a:t>
            </a:r>
            <a:r>
              <a:rPr lang="en-US" sz="1600" b="1" i="0" u="none" strike="noStrike" dirty="0">
                <a:solidFill>
                  <a:srgbClr val="072063"/>
                </a:solidFill>
                <a:latin typeface="微软雅黑"/>
                <a:ea typeface="微软雅黑"/>
                <a:cs typeface="微软雅黑"/>
                <a:sym typeface="微软雅黑"/>
              </a:rPr>
              <a:t>)</a:t>
            </a:r>
            <a:endParaRPr lang="en-US" sz="1100" dirty="0"/>
          </a:p>
        </p:txBody>
      </p:sp>
      <p:sp>
        <p:nvSpPr>
          <p:cNvPr id="21" name="AutoShape 9">
            <a:extLst>
              <a:ext uri="{FF2B5EF4-FFF2-40B4-BE49-F238E27FC236}">
                <a16:creationId xmlns:a16="http://schemas.microsoft.com/office/drawing/2014/main" id="{F3F1E69B-88BE-D9B3-7203-5B0DAE79A1EA}"/>
              </a:ext>
            </a:extLst>
          </p:cNvPr>
          <p:cNvSpPr/>
          <p:nvPr/>
        </p:nvSpPr>
        <p:spPr>
          <a:xfrm>
            <a:off x="6308960" y="3609783"/>
            <a:ext cx="2549802" cy="1372622"/>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dirty="0">
                <a:solidFill>
                  <a:srgbClr val="000000"/>
                </a:solidFill>
                <a:latin typeface="微软雅黑"/>
                <a:ea typeface="微软雅黑"/>
                <a:cs typeface="微软雅黑"/>
                <a:sym typeface="微软雅黑"/>
              </a:rPr>
              <a:t>摒弃传统固定位置编码方式，通过轻量级卷积操作动态学习位置信息，能够更好地保留图像中毛发、纹理等精细的局部细节特征，对细粒度视觉分类任务至关重要。</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6858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39800" y="977900"/>
            <a:ext cx="7277100" cy="469900"/>
          </a:xfrm>
          <a:prstGeom prst="rect">
            <a:avLst/>
          </a:prstGeom>
          <a:noFill/>
          <a:ln w="25400" cap="flat" cmpd="sng">
            <a:noFill/>
            <a:prstDash val="solid"/>
            <a:round/>
          </a:ln>
        </p:spPr>
      </p:pic>
      <p:sp>
        <p:nvSpPr>
          <p:cNvPr id="4" name="AutoShape 4"/>
          <p:cNvSpPr/>
          <p:nvPr/>
        </p:nvSpPr>
        <p:spPr>
          <a:xfrm>
            <a:off x="457200" y="342900"/>
            <a:ext cx="8229600" cy="5715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072063"/>
                </a:solidFill>
                <a:latin typeface="微软雅黑"/>
                <a:ea typeface="微软雅黑"/>
                <a:cs typeface="微软雅黑"/>
                <a:sym typeface="微软雅黑"/>
              </a:rPr>
              <a:t>集成策略</a:t>
            </a:r>
            <a:endParaRPr lang="en-US" sz="1100" dirty="0"/>
          </a:p>
        </p:txBody>
      </p:sp>
      <p:sp>
        <p:nvSpPr>
          <p:cNvPr id="5" name="Freeform 5"/>
          <p:cNvSpPr/>
          <p:nvPr/>
        </p:nvSpPr>
        <p:spPr>
          <a:xfrm>
            <a:off x="2425700" y="3213100"/>
            <a:ext cx="4237038" cy="400050"/>
          </a:xfrm>
          <a:custGeom>
            <a:avLst/>
            <a:gdLst/>
            <a:ahLst/>
            <a:cxnLst/>
            <a:rect l="l" t="t" r="r" b="b"/>
            <a:pathLst>
              <a:path w="4237038" h="400050">
                <a:moveTo>
                  <a:pt x="0" y="223838"/>
                </a:moveTo>
                <a:lnTo>
                  <a:pt x="0" y="400050"/>
                </a:lnTo>
                <a:lnTo>
                  <a:pt x="4237038" y="400050"/>
                </a:lnTo>
                <a:lnTo>
                  <a:pt x="3619626" y="0"/>
                </a:lnTo>
                <a:lnTo>
                  <a:pt x="3619626" y="225029"/>
                </a:lnTo>
                <a:lnTo>
                  <a:pt x="0" y="223838"/>
                </a:lnTo>
                <a:close/>
              </a:path>
            </a:pathLst>
          </a:custGeom>
          <a:gradFill rotWithShape="1">
            <a:gsLst>
              <a:gs pos="0">
                <a:srgbClr val="1F223E">
                  <a:alpha val="0"/>
                </a:srgbClr>
              </a:gs>
              <a:gs pos="100000">
                <a:srgbClr val="072063">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3886200" y="2387600"/>
            <a:ext cx="1206500" cy="647700"/>
          </a:xfrm>
          <a:prstGeom prst="upArrow">
            <a:avLst>
              <a:gd name="adj1" fmla="val 65157"/>
              <a:gd name="adj2" fmla="val 48347"/>
            </a:avLst>
          </a:prstGeom>
          <a:gradFill rotWithShape="1">
            <a:gsLst>
              <a:gs pos="0">
                <a:srgbClr val="072063">
                  <a:alpha val="100000"/>
                </a:srgbClr>
              </a:gs>
              <a:gs pos="100000">
                <a:srgbClr val="1F223E">
                  <a:alpha val="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flipV="1">
            <a:off x="3886200" y="4254500"/>
            <a:ext cx="1206500" cy="647700"/>
          </a:xfrm>
          <a:prstGeom prst="upArrow">
            <a:avLst>
              <a:gd name="adj1" fmla="val 65157"/>
              <a:gd name="adj2" fmla="val 48347"/>
            </a:avLst>
          </a:prstGeom>
          <a:gradFill rotWithShape="1">
            <a:gsLst>
              <a:gs pos="0">
                <a:srgbClr val="072063">
                  <a:alpha val="100000"/>
                </a:srgbClr>
              </a:gs>
              <a:gs pos="100000">
                <a:srgbClr val="1F223E">
                  <a:alpha val="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cxnSp>
        <p:nvCxnSpPr>
          <p:cNvPr id="8" name="Connector 8"/>
          <p:cNvCxnSpPr/>
          <p:nvPr/>
        </p:nvCxnSpPr>
        <p:spPr>
          <a:xfrm rot="5400000" flipV="1">
            <a:off x="1778000" y="3886200"/>
            <a:ext cx="1003300" cy="1676400"/>
          </a:xfrm>
          <a:prstGeom prst="bentConnector2">
            <a:avLst/>
          </a:prstGeom>
          <a:solidFill>
            <a:srgbClr val="DEE0E3">
              <a:alpha val="100000"/>
            </a:srgbClr>
          </a:solidFill>
          <a:ln w="12700" cap="rnd" cmpd="sng">
            <a:solidFill>
              <a:srgbClr val="1F223E">
                <a:alpha val="100000"/>
              </a:srgbClr>
            </a:solidFill>
            <a:prstDash val="dash"/>
            <a:miter lim="8000000"/>
            <a:headEnd type="none" w="med" len="med"/>
            <a:tailEnd type="none" w="med" len="med"/>
          </a:ln>
        </p:spPr>
      </p:cxnSp>
      <p:cxnSp>
        <p:nvCxnSpPr>
          <p:cNvPr id="9" name="Connector 9"/>
          <p:cNvCxnSpPr/>
          <p:nvPr/>
        </p:nvCxnSpPr>
        <p:spPr>
          <a:xfrm rot="5400000">
            <a:off x="6413500" y="4000500"/>
            <a:ext cx="965200" cy="1473200"/>
          </a:xfrm>
          <a:prstGeom prst="bentConnector2">
            <a:avLst/>
          </a:prstGeom>
          <a:solidFill>
            <a:srgbClr val="DEE0E3">
              <a:alpha val="100000"/>
            </a:srgbClr>
          </a:solidFill>
          <a:ln w="12700" cap="rnd" cmpd="sng">
            <a:solidFill>
              <a:srgbClr val="1F223E">
                <a:alpha val="100000"/>
              </a:srgbClr>
            </a:solidFill>
            <a:prstDash val="dash"/>
            <a:miter lim="8000000"/>
            <a:headEnd type="none" w="med" len="med"/>
            <a:tailEnd type="none" w="med" len="med"/>
          </a:ln>
        </p:spPr>
      </p:cxnSp>
      <p:sp>
        <p:nvSpPr>
          <p:cNvPr id="10" name="Freeform 10"/>
          <p:cNvSpPr/>
          <p:nvPr/>
        </p:nvSpPr>
        <p:spPr>
          <a:xfrm rot="10800000">
            <a:off x="2425700" y="3632200"/>
            <a:ext cx="4237038" cy="400050"/>
          </a:xfrm>
          <a:custGeom>
            <a:avLst/>
            <a:gdLst/>
            <a:ahLst/>
            <a:cxnLst/>
            <a:rect l="l" t="t" r="r" b="b"/>
            <a:pathLst>
              <a:path w="4237038" h="400050">
                <a:moveTo>
                  <a:pt x="0" y="223838"/>
                </a:moveTo>
                <a:lnTo>
                  <a:pt x="0" y="400050"/>
                </a:lnTo>
                <a:lnTo>
                  <a:pt x="4237038" y="400050"/>
                </a:lnTo>
                <a:lnTo>
                  <a:pt x="3619626" y="0"/>
                </a:lnTo>
                <a:lnTo>
                  <a:pt x="3619626" y="225029"/>
                </a:lnTo>
                <a:lnTo>
                  <a:pt x="0" y="223838"/>
                </a:lnTo>
                <a:close/>
              </a:path>
            </a:pathLst>
          </a:custGeom>
          <a:gradFill rotWithShape="1">
            <a:gsLst>
              <a:gs pos="0">
                <a:srgbClr val="1F223E">
                  <a:alpha val="0"/>
                </a:srgbClr>
              </a:gs>
              <a:gs pos="100000">
                <a:srgbClr val="072063">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365500" y="3898900"/>
            <a:ext cx="2286000" cy="5080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spcBef>
                <a:spcPct val="50000"/>
              </a:spcBef>
              <a:defRPr/>
            </a:pPr>
            <a:r>
              <a:rPr lang="en-US" sz="1400" b="0" i="0" u="none" strike="noStrike" dirty="0" err="1">
                <a:solidFill>
                  <a:srgbClr val="1F223E"/>
                </a:solidFill>
                <a:latin typeface="微软雅黑"/>
                <a:ea typeface="微软雅黑"/>
                <a:cs typeface="微软雅黑"/>
                <a:sym typeface="微软雅黑"/>
              </a:rPr>
              <a:t>融合互补特征，规避单一短板</a:t>
            </a:r>
            <a:endParaRPr lang="en-US" sz="1100" dirty="0"/>
          </a:p>
        </p:txBody>
      </p:sp>
      <p:sp>
        <p:nvSpPr>
          <p:cNvPr id="12" name="AutoShape 12"/>
          <p:cNvSpPr/>
          <p:nvPr/>
        </p:nvSpPr>
        <p:spPr>
          <a:xfrm>
            <a:off x="3365500" y="3111500"/>
            <a:ext cx="2286000" cy="5080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spcBef>
                <a:spcPct val="50000"/>
              </a:spcBef>
              <a:defRPr/>
            </a:pPr>
            <a:r>
              <a:rPr lang="en-US" sz="1400" b="0" i="0" u="none" strike="noStrike" dirty="0" err="1">
                <a:solidFill>
                  <a:srgbClr val="1F223E"/>
                </a:solidFill>
                <a:latin typeface="微软雅黑"/>
                <a:ea typeface="微软雅黑"/>
                <a:cs typeface="微软雅黑"/>
                <a:sym typeface="微软雅黑"/>
              </a:rPr>
              <a:t>Logits层精细融合</a:t>
            </a:r>
            <a:endParaRPr lang="en-US" sz="1100" dirty="0"/>
          </a:p>
        </p:txBody>
      </p:sp>
      <p:sp>
        <p:nvSpPr>
          <p:cNvPr id="13" name="AutoShape 13"/>
          <p:cNvSpPr/>
          <p:nvPr/>
        </p:nvSpPr>
        <p:spPr>
          <a:xfrm>
            <a:off x="3124200" y="5003800"/>
            <a:ext cx="3035300" cy="444500"/>
          </a:xfrm>
          <a:prstGeom prst="roundRect">
            <a:avLst>
              <a:gd name="adj" fmla="val 0"/>
            </a:avLst>
          </a:prstGeom>
          <a:solidFill>
            <a:srgbClr val="8080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3200400" y="5080000"/>
            <a:ext cx="2870200" cy="304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dirty="0" err="1">
                <a:solidFill>
                  <a:srgbClr val="FFFFFF"/>
                </a:solidFill>
                <a:latin typeface="微软雅黑"/>
                <a:ea typeface="微软雅黑"/>
                <a:cs typeface="微软雅黑"/>
                <a:sym typeface="微软雅黑"/>
              </a:rPr>
              <a:t>显著降低困难样本误判风险</a:t>
            </a:r>
            <a:endParaRPr lang="en-US" sz="1100" dirty="0"/>
          </a:p>
        </p:txBody>
      </p:sp>
      <p:cxnSp>
        <p:nvCxnSpPr>
          <p:cNvPr id="15" name="Connector 15"/>
          <p:cNvCxnSpPr/>
          <p:nvPr/>
        </p:nvCxnSpPr>
        <p:spPr>
          <a:xfrm rot="-5400000">
            <a:off x="1778000" y="1727200"/>
            <a:ext cx="939800" cy="1600200"/>
          </a:xfrm>
          <a:prstGeom prst="bentConnector2">
            <a:avLst/>
          </a:prstGeom>
          <a:solidFill>
            <a:srgbClr val="DEE0E3">
              <a:alpha val="100000"/>
            </a:srgbClr>
          </a:solidFill>
          <a:ln w="12700" cap="rnd" cmpd="sng">
            <a:solidFill>
              <a:srgbClr val="1F223E">
                <a:alpha val="100000"/>
              </a:srgbClr>
            </a:solidFill>
            <a:prstDash val="dash"/>
            <a:miter lim="8000000"/>
            <a:headEnd type="none" w="med" len="med"/>
            <a:tailEnd type="none" w="med" len="med"/>
          </a:ln>
        </p:spPr>
      </p:cxnSp>
      <p:cxnSp>
        <p:nvCxnSpPr>
          <p:cNvPr id="16" name="Connector 16"/>
          <p:cNvCxnSpPr/>
          <p:nvPr/>
        </p:nvCxnSpPr>
        <p:spPr>
          <a:xfrm rot="-5400000" flipV="1">
            <a:off x="6375400" y="1778000"/>
            <a:ext cx="977900" cy="1549400"/>
          </a:xfrm>
          <a:prstGeom prst="bentConnector2">
            <a:avLst/>
          </a:prstGeom>
          <a:solidFill>
            <a:srgbClr val="DEE0E3">
              <a:alpha val="100000"/>
            </a:srgbClr>
          </a:solidFill>
          <a:ln w="12700" cap="rnd" cmpd="sng">
            <a:solidFill>
              <a:srgbClr val="1F223E">
                <a:alpha val="100000"/>
              </a:srgbClr>
            </a:solidFill>
            <a:prstDash val="dash"/>
            <a:miter lim="8000000"/>
            <a:headEnd type="none" w="med" len="med"/>
            <a:tailEnd type="none" w="med" len="med"/>
          </a:ln>
        </p:spPr>
      </p:cxnSp>
      <p:sp>
        <p:nvSpPr>
          <p:cNvPr id="17" name="AutoShape 17"/>
          <p:cNvSpPr/>
          <p:nvPr/>
        </p:nvSpPr>
        <p:spPr>
          <a:xfrm>
            <a:off x="3048000" y="1828800"/>
            <a:ext cx="3035300" cy="444500"/>
          </a:xfrm>
          <a:prstGeom prst="roundRect">
            <a:avLst>
              <a:gd name="adj" fmla="val 0"/>
            </a:avLst>
          </a:prstGeom>
          <a:solidFill>
            <a:srgbClr val="8080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3124200" y="1905000"/>
            <a:ext cx="2870200" cy="304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dirty="0" err="1">
                <a:solidFill>
                  <a:srgbClr val="FFFFFF"/>
                </a:solidFill>
                <a:latin typeface="微软雅黑"/>
                <a:ea typeface="微软雅黑"/>
                <a:cs typeface="微软雅黑"/>
                <a:sym typeface="微软雅黑"/>
              </a:rPr>
              <a:t>集成方法：Logits分数加权平均</a:t>
            </a:r>
            <a:endParaRPr lang="en-US" sz="1100" dirty="0"/>
          </a:p>
        </p:txBody>
      </p:sp>
      <p:sp>
        <p:nvSpPr>
          <p:cNvPr id="19" name="AutoShape 19"/>
          <p:cNvSpPr/>
          <p:nvPr/>
        </p:nvSpPr>
        <p:spPr>
          <a:xfrm>
            <a:off x="825500" y="2997200"/>
            <a:ext cx="1231900" cy="1231900"/>
          </a:xfrm>
          <a:prstGeom prst="ellipse">
            <a:avLst/>
          </a:prstGeom>
          <a:solidFill>
            <a:srgbClr val="072063">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1600" b="1" i="0" u="none" strike="noStrike">
                <a:solidFill>
                  <a:srgbClr val="FFFFFF"/>
                </a:solidFill>
                <a:latin typeface="微软雅黑"/>
                <a:ea typeface="微软雅黑"/>
                <a:cs typeface="微软雅黑"/>
                <a:sym typeface="微软雅黑"/>
              </a:rPr>
              <a:t>策略</a:t>
            </a:r>
            <a:br>
              <a:rPr lang="en-US" sz="1600" b="1" i="0" u="none" strike="noStrike">
                <a:solidFill>
                  <a:srgbClr val="FFFFFF"/>
                </a:solidFill>
                <a:latin typeface="微软雅黑"/>
                <a:ea typeface="微软雅黑"/>
                <a:cs typeface="微软雅黑"/>
                <a:sym typeface="微软雅黑"/>
              </a:rPr>
            </a:br>
            <a:r>
              <a:rPr lang="en-US" sz="1600" b="1" i="0" u="none" strike="noStrike">
                <a:solidFill>
                  <a:srgbClr val="FFFFFF"/>
                </a:solidFill>
                <a:latin typeface="微软雅黑"/>
                <a:ea typeface="微软雅黑"/>
                <a:cs typeface="微软雅黑"/>
                <a:sym typeface="微软雅黑"/>
              </a:rPr>
              <a:t>动机</a:t>
            </a:r>
            <a:endParaRPr lang="en-US" sz="1100"/>
          </a:p>
        </p:txBody>
      </p:sp>
      <p:sp>
        <p:nvSpPr>
          <p:cNvPr id="20" name="AutoShape 20"/>
          <p:cNvSpPr/>
          <p:nvPr/>
        </p:nvSpPr>
        <p:spPr>
          <a:xfrm>
            <a:off x="7010400" y="3035300"/>
            <a:ext cx="1231900" cy="1231900"/>
          </a:xfrm>
          <a:prstGeom prst="ellipse">
            <a:avLst/>
          </a:prstGeom>
          <a:solidFill>
            <a:srgbClr val="072063">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1600" b="1" i="0" u="none" strike="noStrike" dirty="0" err="1">
                <a:solidFill>
                  <a:srgbClr val="FFFFFF"/>
                </a:solidFill>
                <a:latin typeface="微软雅黑"/>
                <a:ea typeface="微软雅黑"/>
                <a:cs typeface="微软雅黑"/>
                <a:sym typeface="微软雅黑"/>
              </a:rPr>
              <a:t>核心</a:t>
            </a:r>
            <a:br>
              <a:rPr lang="en-US" sz="1600" b="1" i="0" u="none" strike="noStrike" dirty="0">
                <a:solidFill>
                  <a:srgbClr val="FFFFFF"/>
                </a:solidFill>
                <a:latin typeface="微软雅黑"/>
                <a:ea typeface="微软雅黑"/>
                <a:cs typeface="微软雅黑"/>
                <a:sym typeface="微软雅黑"/>
              </a:rPr>
            </a:br>
            <a:r>
              <a:rPr lang="en-US" sz="1600" b="1" i="0" u="none" strike="noStrike" dirty="0" err="1">
                <a:solidFill>
                  <a:srgbClr val="FFFFFF"/>
                </a:solidFill>
                <a:latin typeface="微软雅黑"/>
                <a:ea typeface="微软雅黑"/>
                <a:cs typeface="微软雅黑"/>
                <a:sym typeface="微软雅黑"/>
              </a:rPr>
              <a:t>优势</a:t>
            </a:r>
            <a:endParaRPr lang="en-US" sz="1100" dirty="0"/>
          </a:p>
        </p:txBody>
      </p:sp>
      <p:pic>
        <p:nvPicPr>
          <p:cNvPr id="21" name="Picture 21"/>
          <p:cNvPicPr>
            <a:picLocks noChangeAspect="1"/>
          </p:cNvPicPr>
          <p:nvPr/>
        </p:nvPicPr>
        <p:blipFill>
          <a:blip r:embed="rId4"/>
          <a:srcRect/>
          <a:stretch>
            <a:fillRect/>
          </a:stretch>
        </p:blipFill>
        <p:spPr>
          <a:xfrm>
            <a:off x="7162800" y="6172200"/>
            <a:ext cx="1778000" cy="444500"/>
          </a:xfrm>
          <a:prstGeom prst="rect">
            <a:avLst/>
          </a:prstGeom>
          <a:noFill/>
          <a:ln w="25400" cap="flat" cmpd="sng">
            <a:noFill/>
            <a:prstDash val="solid"/>
            <a:rou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 y="190500"/>
            <a:ext cx="8877300" cy="6477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77900" y="4216400"/>
            <a:ext cx="7277100" cy="469900"/>
          </a:xfrm>
          <a:prstGeom prst="rect">
            <a:avLst/>
          </a:prstGeom>
          <a:noFill/>
          <a:ln w="25400" cap="flat" cmpd="sng">
            <a:noFill/>
            <a:prstDash val="solid"/>
            <a:round/>
          </a:ln>
        </p:spPr>
      </p:pic>
      <p:pic>
        <p:nvPicPr>
          <p:cNvPr id="4" name="Picture 4"/>
          <p:cNvPicPr>
            <a:picLocks noChangeAspect="1"/>
          </p:cNvPicPr>
          <p:nvPr/>
        </p:nvPicPr>
        <p:blipFill>
          <a:blip r:embed="rId3"/>
          <a:srcRect l="2825" r="7221" b="57471"/>
          <a:stretch>
            <a:fillRect/>
          </a:stretch>
        </p:blipFill>
        <p:spPr>
          <a:xfrm rot="10800000" flipV="1">
            <a:off x="952500" y="2133600"/>
            <a:ext cx="7277100" cy="469900"/>
          </a:xfrm>
          <a:prstGeom prst="rect">
            <a:avLst/>
          </a:prstGeom>
          <a:noFill/>
          <a:ln w="25400" cap="flat" cmpd="sng">
            <a:noFill/>
            <a:prstDash val="solid"/>
            <a:round/>
          </a:ln>
        </p:spPr>
      </p:pic>
      <p:sp>
        <p:nvSpPr>
          <p:cNvPr id="5" name="AutoShape 5"/>
          <p:cNvSpPr/>
          <p:nvPr/>
        </p:nvSpPr>
        <p:spPr>
          <a:xfrm>
            <a:off x="3492500" y="3162300"/>
            <a:ext cx="4632772" cy="5842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3200" b="1" i="0" u="none" strike="noStrike" dirty="0">
                <a:solidFill>
                  <a:srgbClr val="072063"/>
                </a:solidFill>
                <a:latin typeface="微软雅黑"/>
                <a:ea typeface="微软雅黑"/>
                <a:cs typeface="微软雅黑"/>
                <a:sym typeface="微软雅黑"/>
              </a:rPr>
              <a:t>04 </a:t>
            </a:r>
            <a:r>
              <a:rPr lang="en-US" sz="3200" b="1" i="0" u="none" strike="noStrike" dirty="0" err="1">
                <a:solidFill>
                  <a:srgbClr val="072063"/>
                </a:solidFill>
                <a:latin typeface="微软雅黑"/>
                <a:ea typeface="微软雅黑"/>
                <a:cs typeface="微软雅黑"/>
                <a:sym typeface="微软雅黑"/>
              </a:rPr>
              <a:t>实验设置与结果分析</a:t>
            </a:r>
            <a:endParaRPr lang="en-US" sz="1100" dirty="0"/>
          </a:p>
        </p:txBody>
      </p:sp>
      <p:sp>
        <p:nvSpPr>
          <p:cNvPr id="6" name="AutoShape 6"/>
          <p:cNvSpPr/>
          <p:nvPr/>
        </p:nvSpPr>
        <p:spPr>
          <a:xfrm>
            <a:off x="2197100" y="3683000"/>
            <a:ext cx="1219200" cy="393700"/>
          </a:xfrm>
          <a:prstGeom prst="ellipse">
            <a:avLst/>
          </a:prstGeom>
          <a:gradFill rotWithShape="1">
            <a:gsLst>
              <a:gs pos="0">
                <a:srgbClr val="000000">
                  <a:alpha val="68000"/>
                </a:srgbClr>
              </a:gs>
              <a:gs pos="100000">
                <a:srgbClr val="595959">
                  <a:alpha val="0"/>
                </a:srgbClr>
              </a:gs>
            </a:gsLst>
            <a:path path="shap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273300" y="2832100"/>
            <a:ext cx="1092200" cy="1092200"/>
          </a:xfrm>
          <a:prstGeom prst="ellipse">
            <a:avLst/>
          </a:prstGeom>
          <a:solidFill>
            <a:srgbClr val="0720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8"/>
          <p:cNvSpPr/>
          <p:nvPr/>
        </p:nvSpPr>
        <p:spPr>
          <a:xfrm>
            <a:off x="2578100" y="3390900"/>
            <a:ext cx="490590" cy="257459"/>
          </a:xfrm>
          <a:custGeom>
            <a:avLst/>
            <a:gdLst/>
            <a:ahLst/>
            <a:cxnLst/>
            <a:rect l="l" t="t" r="r" b="b"/>
            <a:pathLst>
              <a:path w="490590" h="257459">
                <a:moveTo>
                  <a:pt x="490590" y="0"/>
                </a:moveTo>
                <a:cubicBezTo>
                  <a:pt x="490590" y="199028"/>
                  <a:pt x="490590" y="199028"/>
                  <a:pt x="490590" y="199028"/>
                </a:cubicBezTo>
                <a:cubicBezTo>
                  <a:pt x="490590" y="231896"/>
                  <a:pt x="463232" y="257459"/>
                  <a:pt x="432229" y="257459"/>
                </a:cubicBezTo>
                <a:cubicBezTo>
                  <a:pt x="58360" y="257459"/>
                  <a:pt x="58360" y="257459"/>
                  <a:pt x="58360" y="257459"/>
                </a:cubicBezTo>
                <a:cubicBezTo>
                  <a:pt x="27356" y="257459"/>
                  <a:pt x="0" y="231896"/>
                  <a:pt x="0" y="199028"/>
                </a:cubicBezTo>
                <a:cubicBezTo>
                  <a:pt x="0" y="0"/>
                  <a:pt x="0" y="0"/>
                  <a:pt x="0" y="0"/>
                </a:cubicBezTo>
                <a:cubicBezTo>
                  <a:pt x="490590" y="0"/>
                  <a:pt x="490590" y="0"/>
                  <a:pt x="490590" y="0"/>
                </a:cubicBezTo>
                <a:moveTo>
                  <a:pt x="465056" y="23738"/>
                </a:moveTo>
                <a:cubicBezTo>
                  <a:pt x="25532" y="23738"/>
                  <a:pt x="25532" y="23738"/>
                  <a:pt x="25532" y="23738"/>
                </a:cubicBezTo>
                <a:cubicBezTo>
                  <a:pt x="25532" y="197203"/>
                  <a:pt x="25532" y="197203"/>
                  <a:pt x="25532" y="197203"/>
                </a:cubicBezTo>
                <a:cubicBezTo>
                  <a:pt x="25532" y="217288"/>
                  <a:pt x="41947" y="233722"/>
                  <a:pt x="62008" y="233722"/>
                </a:cubicBezTo>
                <a:cubicBezTo>
                  <a:pt x="428582" y="233722"/>
                  <a:pt x="428582" y="233722"/>
                  <a:pt x="428582" y="233722"/>
                </a:cubicBezTo>
                <a:cubicBezTo>
                  <a:pt x="448643" y="233722"/>
                  <a:pt x="465056" y="217288"/>
                  <a:pt x="465056" y="197203"/>
                </a:cubicBezTo>
                <a:cubicBezTo>
                  <a:pt x="465056" y="23738"/>
                  <a:pt x="465056" y="23738"/>
                  <a:pt x="465056" y="2373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9"/>
          <p:cNvSpPr/>
          <p:nvPr/>
        </p:nvSpPr>
        <p:spPr>
          <a:xfrm>
            <a:off x="2578100" y="3302000"/>
            <a:ext cx="490590" cy="74996"/>
          </a:xfrm>
          <a:custGeom>
            <a:avLst/>
            <a:gdLst/>
            <a:ahLst/>
            <a:cxnLst/>
            <a:rect l="l" t="t" r="r" b="b"/>
            <a:pathLst>
              <a:path w="490590" h="74996">
                <a:moveTo>
                  <a:pt x="490590" y="74996"/>
                </a:moveTo>
                <a:cubicBezTo>
                  <a:pt x="490590" y="58533"/>
                  <a:pt x="490590" y="58533"/>
                  <a:pt x="490590" y="58533"/>
                </a:cubicBezTo>
                <a:cubicBezTo>
                  <a:pt x="490590" y="25608"/>
                  <a:pt x="463232" y="0"/>
                  <a:pt x="432229" y="0"/>
                </a:cubicBezTo>
                <a:cubicBezTo>
                  <a:pt x="58360" y="0"/>
                  <a:pt x="58360" y="0"/>
                  <a:pt x="58360" y="0"/>
                </a:cubicBezTo>
                <a:cubicBezTo>
                  <a:pt x="27356" y="0"/>
                  <a:pt x="0" y="25608"/>
                  <a:pt x="0" y="58533"/>
                </a:cubicBezTo>
                <a:cubicBezTo>
                  <a:pt x="0" y="74996"/>
                  <a:pt x="0" y="74996"/>
                  <a:pt x="0" y="74996"/>
                </a:cubicBezTo>
                <a:lnTo>
                  <a:pt x="490590" y="74996"/>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0"/>
          <p:cNvSpPr/>
          <p:nvPr/>
        </p:nvSpPr>
        <p:spPr>
          <a:xfrm>
            <a:off x="2552700" y="3098800"/>
            <a:ext cx="164560" cy="162361"/>
          </a:xfrm>
          <a:custGeom>
            <a:avLst/>
            <a:gdLst/>
            <a:ahLst/>
            <a:cxnLst/>
            <a:rect l="l" t="t" r="r" b="b"/>
            <a:pathLst>
              <a:path w="164560" h="162361">
                <a:moveTo>
                  <a:pt x="71309" y="3649"/>
                </a:moveTo>
                <a:cubicBezTo>
                  <a:pt x="102392" y="63849"/>
                  <a:pt x="102392" y="63849"/>
                  <a:pt x="102392" y="63849"/>
                </a:cubicBezTo>
                <a:cubicBezTo>
                  <a:pt x="85937" y="91214"/>
                  <a:pt x="85937" y="91214"/>
                  <a:pt x="85937" y="91214"/>
                </a:cubicBezTo>
                <a:cubicBezTo>
                  <a:pt x="54854" y="89390"/>
                  <a:pt x="54854" y="89390"/>
                  <a:pt x="54854" y="89390"/>
                </a:cubicBezTo>
                <a:cubicBezTo>
                  <a:pt x="23769" y="29188"/>
                  <a:pt x="23769" y="29188"/>
                  <a:pt x="23769" y="29188"/>
                </a:cubicBezTo>
                <a:cubicBezTo>
                  <a:pt x="3656" y="51079"/>
                  <a:pt x="0" y="83917"/>
                  <a:pt x="14628" y="113105"/>
                </a:cubicBezTo>
                <a:cubicBezTo>
                  <a:pt x="32912" y="147767"/>
                  <a:pt x="78623" y="162361"/>
                  <a:pt x="113364" y="142293"/>
                </a:cubicBezTo>
                <a:cubicBezTo>
                  <a:pt x="149932" y="124051"/>
                  <a:pt x="164560" y="78444"/>
                  <a:pt x="144447" y="41958"/>
                </a:cubicBezTo>
                <a:cubicBezTo>
                  <a:pt x="129819" y="14595"/>
                  <a:pt x="100565" y="0"/>
                  <a:pt x="71309" y="3649"/>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1"/>
          <p:cNvSpPr/>
          <p:nvPr/>
        </p:nvSpPr>
        <p:spPr>
          <a:xfrm>
            <a:off x="2628900" y="3213100"/>
            <a:ext cx="95028" cy="83500"/>
          </a:xfrm>
          <a:custGeom>
            <a:avLst/>
            <a:gdLst/>
            <a:ahLst/>
            <a:cxnLst/>
            <a:rect l="l" t="t" r="r" b="b"/>
            <a:pathLst>
              <a:path w="95028" h="83500">
                <a:moveTo>
                  <a:pt x="95028" y="83500"/>
                </a:moveTo>
                <a:lnTo>
                  <a:pt x="49445" y="0"/>
                </a:lnTo>
                <a:lnTo>
                  <a:pt x="0" y="25514"/>
                </a:lnTo>
                <a:lnTo>
                  <a:pt x="31676" y="83500"/>
                </a:lnTo>
                <a:lnTo>
                  <a:pt x="95028" y="8350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12"/>
          <p:cNvSpPr/>
          <p:nvPr/>
        </p:nvSpPr>
        <p:spPr>
          <a:xfrm>
            <a:off x="2768600" y="3175000"/>
            <a:ext cx="142155" cy="116746"/>
          </a:xfrm>
          <a:custGeom>
            <a:avLst/>
            <a:gdLst/>
            <a:ahLst/>
            <a:cxnLst/>
            <a:rect l="l" t="t" r="r" b="b"/>
            <a:pathLst>
              <a:path w="142155" h="116746">
                <a:moveTo>
                  <a:pt x="129398" y="45604"/>
                </a:moveTo>
                <a:cubicBezTo>
                  <a:pt x="114817" y="12769"/>
                  <a:pt x="76545" y="0"/>
                  <a:pt x="43740" y="14594"/>
                </a:cubicBezTo>
                <a:cubicBezTo>
                  <a:pt x="12757" y="31011"/>
                  <a:pt x="0" y="69318"/>
                  <a:pt x="14580" y="100329"/>
                </a:cubicBezTo>
                <a:cubicBezTo>
                  <a:pt x="18224" y="105801"/>
                  <a:pt x="21869" y="111274"/>
                  <a:pt x="25516" y="116746"/>
                </a:cubicBezTo>
                <a:cubicBezTo>
                  <a:pt x="56497" y="116746"/>
                  <a:pt x="56497" y="116746"/>
                  <a:pt x="56497" y="116746"/>
                </a:cubicBezTo>
                <a:cubicBezTo>
                  <a:pt x="45563" y="113097"/>
                  <a:pt x="34628" y="103977"/>
                  <a:pt x="29160" y="93033"/>
                </a:cubicBezTo>
                <a:cubicBezTo>
                  <a:pt x="18224" y="69318"/>
                  <a:pt x="29160" y="41956"/>
                  <a:pt x="51030" y="31011"/>
                </a:cubicBezTo>
                <a:cubicBezTo>
                  <a:pt x="74723" y="18241"/>
                  <a:pt x="102060" y="29186"/>
                  <a:pt x="114817" y="52901"/>
                </a:cubicBezTo>
                <a:cubicBezTo>
                  <a:pt x="125753" y="74790"/>
                  <a:pt x="114817" y="103977"/>
                  <a:pt x="92947" y="114922"/>
                </a:cubicBezTo>
                <a:cubicBezTo>
                  <a:pt x="91125" y="114922"/>
                  <a:pt x="89303" y="116746"/>
                  <a:pt x="87480" y="116746"/>
                </a:cubicBezTo>
                <a:cubicBezTo>
                  <a:pt x="118463" y="116746"/>
                  <a:pt x="118463" y="116746"/>
                  <a:pt x="118463" y="116746"/>
                </a:cubicBezTo>
                <a:cubicBezTo>
                  <a:pt x="136688" y="98505"/>
                  <a:pt x="142155" y="69318"/>
                  <a:pt x="129398" y="4560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Freeform 13"/>
          <p:cNvSpPr/>
          <p:nvPr/>
        </p:nvSpPr>
        <p:spPr>
          <a:xfrm>
            <a:off x="2692400" y="3098800"/>
            <a:ext cx="285083" cy="189422"/>
          </a:xfrm>
          <a:custGeom>
            <a:avLst/>
            <a:gdLst/>
            <a:ahLst/>
            <a:cxnLst/>
            <a:rect l="l" t="t" r="r" b="b"/>
            <a:pathLst>
              <a:path w="285083" h="189422">
                <a:moveTo>
                  <a:pt x="279601" y="167565"/>
                </a:moveTo>
                <a:cubicBezTo>
                  <a:pt x="244879" y="149352"/>
                  <a:pt x="244879" y="149352"/>
                  <a:pt x="244879" y="149352"/>
                </a:cubicBezTo>
                <a:cubicBezTo>
                  <a:pt x="244879" y="142066"/>
                  <a:pt x="244879" y="136602"/>
                  <a:pt x="243051" y="129316"/>
                </a:cubicBezTo>
                <a:cubicBezTo>
                  <a:pt x="275946" y="107461"/>
                  <a:pt x="275946" y="107461"/>
                  <a:pt x="275946" y="107461"/>
                </a:cubicBezTo>
                <a:cubicBezTo>
                  <a:pt x="279601" y="105639"/>
                  <a:pt x="281428" y="101996"/>
                  <a:pt x="279601" y="98354"/>
                </a:cubicBezTo>
                <a:cubicBezTo>
                  <a:pt x="264980" y="65569"/>
                  <a:pt x="264980" y="65569"/>
                  <a:pt x="264980" y="65569"/>
                </a:cubicBezTo>
                <a:cubicBezTo>
                  <a:pt x="263154" y="63748"/>
                  <a:pt x="257672" y="60105"/>
                  <a:pt x="254017" y="61926"/>
                </a:cubicBezTo>
                <a:cubicBezTo>
                  <a:pt x="217467" y="74676"/>
                  <a:pt x="217467" y="74676"/>
                  <a:pt x="217467" y="74676"/>
                </a:cubicBezTo>
                <a:cubicBezTo>
                  <a:pt x="211985" y="69212"/>
                  <a:pt x="206502" y="65569"/>
                  <a:pt x="201021" y="60105"/>
                </a:cubicBezTo>
                <a:cubicBezTo>
                  <a:pt x="210157" y="21857"/>
                  <a:pt x="210157" y="21857"/>
                  <a:pt x="210157" y="21857"/>
                </a:cubicBezTo>
                <a:cubicBezTo>
                  <a:pt x="210157" y="18213"/>
                  <a:pt x="208330" y="14571"/>
                  <a:pt x="204674" y="12750"/>
                </a:cubicBezTo>
                <a:cubicBezTo>
                  <a:pt x="171780" y="1821"/>
                  <a:pt x="171780" y="1821"/>
                  <a:pt x="171780" y="1821"/>
                </a:cubicBezTo>
                <a:cubicBezTo>
                  <a:pt x="168126" y="0"/>
                  <a:pt x="164471" y="1821"/>
                  <a:pt x="162644" y="5464"/>
                </a:cubicBezTo>
                <a:cubicBezTo>
                  <a:pt x="144369" y="40070"/>
                  <a:pt x="144369" y="40070"/>
                  <a:pt x="144369" y="40070"/>
                </a:cubicBezTo>
                <a:cubicBezTo>
                  <a:pt x="137060" y="40070"/>
                  <a:pt x="129750" y="40070"/>
                  <a:pt x="124267" y="41891"/>
                </a:cubicBezTo>
                <a:cubicBezTo>
                  <a:pt x="102338" y="9107"/>
                  <a:pt x="102338" y="9107"/>
                  <a:pt x="102338" y="9107"/>
                </a:cubicBezTo>
                <a:cubicBezTo>
                  <a:pt x="100510" y="5464"/>
                  <a:pt x="95028" y="5464"/>
                  <a:pt x="91373" y="5464"/>
                </a:cubicBezTo>
                <a:cubicBezTo>
                  <a:pt x="60306" y="21857"/>
                  <a:pt x="60306" y="21857"/>
                  <a:pt x="60306" y="21857"/>
                </a:cubicBezTo>
                <a:cubicBezTo>
                  <a:pt x="56651" y="23678"/>
                  <a:pt x="54823" y="27320"/>
                  <a:pt x="56651" y="30963"/>
                </a:cubicBezTo>
                <a:cubicBezTo>
                  <a:pt x="69444" y="67390"/>
                  <a:pt x="69444" y="67390"/>
                  <a:pt x="69444" y="67390"/>
                </a:cubicBezTo>
                <a:cubicBezTo>
                  <a:pt x="63961" y="72855"/>
                  <a:pt x="58478" y="78318"/>
                  <a:pt x="54823" y="83783"/>
                </a:cubicBezTo>
                <a:cubicBezTo>
                  <a:pt x="18274" y="76497"/>
                  <a:pt x="18274" y="76497"/>
                  <a:pt x="18274" y="76497"/>
                </a:cubicBezTo>
                <a:cubicBezTo>
                  <a:pt x="18274" y="92889"/>
                  <a:pt x="10965" y="109282"/>
                  <a:pt x="0" y="122032"/>
                </a:cubicBezTo>
                <a:cubicBezTo>
                  <a:pt x="1828" y="123853"/>
                  <a:pt x="1828" y="123853"/>
                  <a:pt x="1828" y="123853"/>
                </a:cubicBezTo>
                <a:cubicBezTo>
                  <a:pt x="34722" y="140245"/>
                  <a:pt x="34722" y="140245"/>
                  <a:pt x="34722" y="140245"/>
                </a:cubicBezTo>
                <a:cubicBezTo>
                  <a:pt x="34722" y="147531"/>
                  <a:pt x="34722" y="154816"/>
                  <a:pt x="36549" y="162102"/>
                </a:cubicBezTo>
                <a:cubicBezTo>
                  <a:pt x="25584" y="169388"/>
                  <a:pt x="25584" y="169388"/>
                  <a:pt x="25584" y="169388"/>
                </a:cubicBezTo>
                <a:cubicBezTo>
                  <a:pt x="36549" y="189422"/>
                  <a:pt x="36549" y="189422"/>
                  <a:pt x="36549" y="189422"/>
                </a:cubicBezTo>
                <a:cubicBezTo>
                  <a:pt x="85890" y="189422"/>
                  <a:pt x="85890" y="189422"/>
                  <a:pt x="85890" y="189422"/>
                </a:cubicBezTo>
                <a:cubicBezTo>
                  <a:pt x="82235" y="185779"/>
                  <a:pt x="78580" y="180315"/>
                  <a:pt x="76754" y="174851"/>
                </a:cubicBezTo>
                <a:cubicBezTo>
                  <a:pt x="60306" y="140245"/>
                  <a:pt x="74926" y="98354"/>
                  <a:pt x="109647" y="81962"/>
                </a:cubicBezTo>
                <a:cubicBezTo>
                  <a:pt x="144369" y="65569"/>
                  <a:pt x="186400" y="80140"/>
                  <a:pt x="202847" y="114746"/>
                </a:cubicBezTo>
                <a:cubicBezTo>
                  <a:pt x="215640" y="140245"/>
                  <a:pt x="210157" y="169388"/>
                  <a:pt x="193711" y="189422"/>
                </a:cubicBezTo>
                <a:cubicBezTo>
                  <a:pt x="279601" y="189422"/>
                  <a:pt x="279601" y="189422"/>
                  <a:pt x="279601" y="189422"/>
                </a:cubicBezTo>
                <a:cubicBezTo>
                  <a:pt x="283256" y="176672"/>
                  <a:pt x="283256" y="176672"/>
                  <a:pt x="283256" y="176672"/>
                </a:cubicBezTo>
                <a:cubicBezTo>
                  <a:pt x="285083" y="173030"/>
                  <a:pt x="283256" y="169388"/>
                  <a:pt x="279601" y="167565"/>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Freeform 14"/>
          <p:cNvSpPr/>
          <p:nvPr/>
        </p:nvSpPr>
        <p:spPr>
          <a:xfrm>
            <a:off x="2971800" y="3098800"/>
            <a:ext cx="127476" cy="193286"/>
          </a:xfrm>
          <a:custGeom>
            <a:avLst/>
            <a:gdLst/>
            <a:ahLst/>
            <a:cxnLst/>
            <a:rect l="l" t="t" r="r" b="b"/>
            <a:pathLst>
              <a:path w="127476" h="193286">
                <a:moveTo>
                  <a:pt x="123834" y="7294"/>
                </a:moveTo>
                <a:cubicBezTo>
                  <a:pt x="114728" y="1824"/>
                  <a:pt x="114728" y="1824"/>
                  <a:pt x="114728" y="1824"/>
                </a:cubicBezTo>
                <a:cubicBezTo>
                  <a:pt x="112907" y="0"/>
                  <a:pt x="111086" y="0"/>
                  <a:pt x="109266" y="1824"/>
                </a:cubicBezTo>
                <a:cubicBezTo>
                  <a:pt x="89233" y="32822"/>
                  <a:pt x="89233" y="32822"/>
                  <a:pt x="89233" y="32822"/>
                </a:cubicBezTo>
                <a:cubicBezTo>
                  <a:pt x="87412" y="34646"/>
                  <a:pt x="87412" y="36469"/>
                  <a:pt x="89233" y="36469"/>
                </a:cubicBezTo>
                <a:cubicBezTo>
                  <a:pt x="91054" y="38293"/>
                  <a:pt x="91054" y="38293"/>
                  <a:pt x="91054" y="38293"/>
                </a:cubicBezTo>
                <a:cubicBezTo>
                  <a:pt x="40063" y="127643"/>
                  <a:pt x="40063" y="127643"/>
                  <a:pt x="40063" y="127643"/>
                </a:cubicBezTo>
                <a:cubicBezTo>
                  <a:pt x="40063" y="125819"/>
                  <a:pt x="40063" y="125819"/>
                  <a:pt x="40063" y="125819"/>
                </a:cubicBezTo>
                <a:cubicBezTo>
                  <a:pt x="32780" y="122171"/>
                  <a:pt x="21853" y="123995"/>
                  <a:pt x="18211" y="133113"/>
                </a:cubicBezTo>
                <a:cubicBezTo>
                  <a:pt x="0" y="164112"/>
                  <a:pt x="0" y="164112"/>
                  <a:pt x="0" y="164112"/>
                </a:cubicBezTo>
                <a:cubicBezTo>
                  <a:pt x="12747" y="169582"/>
                  <a:pt x="12747" y="169582"/>
                  <a:pt x="12747" y="169582"/>
                </a:cubicBezTo>
                <a:cubicBezTo>
                  <a:pt x="16389" y="171406"/>
                  <a:pt x="18211" y="176875"/>
                  <a:pt x="16389" y="180523"/>
                </a:cubicBezTo>
                <a:cubicBezTo>
                  <a:pt x="12747" y="193286"/>
                  <a:pt x="12747" y="193286"/>
                  <a:pt x="12747" y="193286"/>
                </a:cubicBezTo>
                <a:cubicBezTo>
                  <a:pt x="38242" y="193286"/>
                  <a:pt x="38242" y="193286"/>
                  <a:pt x="38242" y="193286"/>
                </a:cubicBezTo>
                <a:cubicBezTo>
                  <a:pt x="58275" y="156818"/>
                  <a:pt x="58275" y="156818"/>
                  <a:pt x="58275" y="156818"/>
                </a:cubicBezTo>
                <a:cubicBezTo>
                  <a:pt x="63737" y="149523"/>
                  <a:pt x="60096" y="138584"/>
                  <a:pt x="52812" y="134936"/>
                </a:cubicBezTo>
                <a:cubicBezTo>
                  <a:pt x="52812" y="133113"/>
                  <a:pt x="52812" y="133113"/>
                  <a:pt x="52812" y="133113"/>
                </a:cubicBezTo>
                <a:cubicBezTo>
                  <a:pt x="103802" y="45587"/>
                  <a:pt x="103802" y="45587"/>
                  <a:pt x="103802" y="45587"/>
                </a:cubicBezTo>
                <a:cubicBezTo>
                  <a:pt x="105623" y="47410"/>
                  <a:pt x="105623" y="47410"/>
                  <a:pt x="105623" y="47410"/>
                </a:cubicBezTo>
                <a:cubicBezTo>
                  <a:pt x="107445" y="47410"/>
                  <a:pt x="109266" y="47410"/>
                  <a:pt x="111086" y="45587"/>
                </a:cubicBezTo>
                <a:cubicBezTo>
                  <a:pt x="125655" y="10941"/>
                  <a:pt x="125655" y="10941"/>
                  <a:pt x="125655" y="10941"/>
                </a:cubicBezTo>
                <a:cubicBezTo>
                  <a:pt x="127476" y="9117"/>
                  <a:pt x="125655" y="7294"/>
                  <a:pt x="123834" y="729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6858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39800" y="977900"/>
            <a:ext cx="7277100" cy="469900"/>
          </a:xfrm>
          <a:prstGeom prst="rect">
            <a:avLst/>
          </a:prstGeom>
          <a:noFill/>
          <a:ln w="25400" cap="flat" cmpd="sng">
            <a:noFill/>
            <a:prstDash val="solid"/>
            <a:round/>
          </a:ln>
        </p:spPr>
      </p:pic>
      <p:sp>
        <p:nvSpPr>
          <p:cNvPr id="4" name="AutoShape 4"/>
          <p:cNvSpPr/>
          <p:nvPr/>
        </p:nvSpPr>
        <p:spPr>
          <a:xfrm>
            <a:off x="457200" y="342900"/>
            <a:ext cx="8229600" cy="5715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072063"/>
                </a:solidFill>
                <a:latin typeface="微软雅黑"/>
                <a:ea typeface="微软雅黑"/>
                <a:cs typeface="微软雅黑"/>
                <a:sym typeface="微软雅黑"/>
              </a:rPr>
              <a:t>实验环境与关键超参数</a:t>
            </a:r>
            <a:endParaRPr lang="en-US" sz="1100"/>
          </a:p>
        </p:txBody>
      </p:sp>
      <p:sp>
        <p:nvSpPr>
          <p:cNvPr id="5" name="AutoShape 5"/>
          <p:cNvSpPr/>
          <p:nvPr/>
        </p:nvSpPr>
        <p:spPr>
          <a:xfrm>
            <a:off x="6223000" y="5359400"/>
            <a:ext cx="2374900" cy="292100"/>
          </a:xfrm>
          <a:prstGeom prst="roundRect">
            <a:avLst>
              <a:gd name="adj" fmla="val 0"/>
            </a:avLst>
          </a:prstGeom>
          <a:gradFill rotWithShape="1">
            <a:gsLst>
              <a:gs pos="0">
                <a:srgbClr val="000000">
                  <a:alpha val="100000"/>
                </a:srgbClr>
              </a:gs>
              <a:gs pos="100000">
                <a:srgbClr val="1F223E">
                  <a:alpha val="0"/>
                </a:srgbClr>
              </a:gs>
            </a:gsLst>
            <a:path path="shap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261100" y="4076700"/>
            <a:ext cx="2311400" cy="1460500"/>
          </a:xfrm>
          <a:prstGeom prst="roundRect">
            <a:avLst>
              <a:gd name="adj" fmla="val 0"/>
            </a:avLst>
          </a:prstGeom>
          <a:solidFill>
            <a:srgbClr val="EBF5FF">
              <a:alpha val="100000"/>
            </a:srgbClr>
          </a:solidFill>
          <a:ln w="12700" cap="flat" cmpd="sng">
            <a:solidFill>
              <a:srgbClr val="A6A6A6">
                <a:alpha val="100000"/>
              </a:srgbClr>
            </a:solidFill>
            <a:prstDash val="solid"/>
            <a:miter lim="8000000"/>
          </a:ln>
        </p:spPr>
        <p:txBody>
          <a:bodyPr vert="horz" wrap="square" lIns="63500" tIns="63500" rIns="63500" bIns="63500" rtlCol="0" anchor="ctr"/>
          <a:lstStyle/>
          <a:p>
            <a:pPr algn="ctr">
              <a:defRPr/>
            </a:pPr>
            <a:endParaRPr/>
          </a:p>
        </p:txBody>
      </p:sp>
      <p:sp>
        <p:nvSpPr>
          <p:cNvPr id="7" name="AutoShape 7"/>
          <p:cNvSpPr/>
          <p:nvPr/>
        </p:nvSpPr>
        <p:spPr>
          <a:xfrm>
            <a:off x="6324600" y="4140200"/>
            <a:ext cx="2184400" cy="1333500"/>
          </a:xfrm>
          <a:prstGeom prst="rect">
            <a:avLst/>
          </a:prstGeom>
          <a:noFill/>
          <a:ln w="9525"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072063"/>
                </a:solidFill>
                <a:latin typeface="Noto Sans SC"/>
                <a:ea typeface="Noto Sans SC"/>
                <a:cs typeface="Noto Sans SC"/>
                <a:sym typeface="Noto Sans SC"/>
              </a:rPr>
              <a:t>训练策略优化</a:t>
            </a:r>
            <a:endParaRPr lang="en-US" sz="1100"/>
          </a:p>
          <a:p>
            <a:pPr marL="0" indent="0" algn="l">
              <a:lnSpc>
                <a:spcPct val="100000"/>
              </a:lnSpc>
            </a:pPr>
            <a:r>
              <a:rPr lang="en-US" sz="1100" b="0" i="0" u="none" strike="noStrike">
                <a:solidFill>
                  <a:srgbClr val="3C3C3C"/>
                </a:solidFill>
                <a:latin typeface="Noto Sans SC"/>
                <a:ea typeface="Noto Sans SC"/>
                <a:cs typeface="Noto Sans SC"/>
                <a:sym typeface="Noto Sans SC"/>
              </a:rPr>
              <a:t>采用AdamW优化器、余弦退火学习率调度策略；引入标签平滑技术提升泛化性，分两阶段训练确保模型收敛稳定。</a:t>
            </a:r>
          </a:p>
        </p:txBody>
      </p:sp>
      <p:sp>
        <p:nvSpPr>
          <p:cNvPr id="8" name="AutoShape 8"/>
          <p:cNvSpPr/>
          <p:nvPr/>
        </p:nvSpPr>
        <p:spPr>
          <a:xfrm>
            <a:off x="3479800" y="5359400"/>
            <a:ext cx="2374900" cy="292100"/>
          </a:xfrm>
          <a:prstGeom prst="roundRect">
            <a:avLst>
              <a:gd name="adj" fmla="val 0"/>
            </a:avLst>
          </a:prstGeom>
          <a:gradFill rotWithShape="1">
            <a:gsLst>
              <a:gs pos="0">
                <a:srgbClr val="000000">
                  <a:alpha val="100000"/>
                </a:srgbClr>
              </a:gs>
              <a:gs pos="100000">
                <a:srgbClr val="1F223E">
                  <a:alpha val="0"/>
                </a:srgbClr>
              </a:gs>
            </a:gsLst>
            <a:path path="shap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543300" y="4089400"/>
            <a:ext cx="2273300" cy="1460500"/>
          </a:xfrm>
          <a:prstGeom prst="roundRect">
            <a:avLst>
              <a:gd name="adj" fmla="val 0"/>
            </a:avLst>
          </a:prstGeom>
          <a:solidFill>
            <a:srgbClr val="EBF5FF">
              <a:alpha val="100000"/>
            </a:srgbClr>
          </a:solidFill>
          <a:ln w="12700" cap="flat" cmpd="sng">
            <a:solidFill>
              <a:srgbClr val="A6A6A6">
                <a:alpha val="100000"/>
              </a:srgbClr>
            </a:solidFill>
            <a:prstDash val="solid"/>
            <a:miter lim="8000000"/>
          </a:ln>
        </p:spPr>
        <p:txBody>
          <a:bodyPr vert="horz" wrap="square" lIns="63500" tIns="63500" rIns="63500" bIns="63500" rtlCol="0" anchor="ctr"/>
          <a:lstStyle/>
          <a:p>
            <a:pPr algn="ctr">
              <a:defRPr/>
            </a:pPr>
            <a:endParaRPr/>
          </a:p>
        </p:txBody>
      </p:sp>
      <p:sp>
        <p:nvSpPr>
          <p:cNvPr id="10" name="AutoShape 10"/>
          <p:cNvSpPr/>
          <p:nvPr/>
        </p:nvSpPr>
        <p:spPr>
          <a:xfrm>
            <a:off x="3606800" y="4152900"/>
            <a:ext cx="2146300" cy="1333500"/>
          </a:xfrm>
          <a:prstGeom prst="rect">
            <a:avLst/>
          </a:prstGeom>
          <a:noFill/>
          <a:ln w="9525"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dirty="0" err="1">
                <a:solidFill>
                  <a:srgbClr val="072063"/>
                </a:solidFill>
                <a:latin typeface="Noto Sans SC"/>
                <a:ea typeface="Noto Sans SC"/>
                <a:cs typeface="Noto Sans SC"/>
                <a:sym typeface="Noto Sans SC"/>
              </a:rPr>
              <a:t>核心超参数配置</a:t>
            </a:r>
            <a:endParaRPr lang="en-US" sz="1100" dirty="0"/>
          </a:p>
          <a:p>
            <a:pPr marL="0" indent="0" algn="l">
              <a:lnSpc>
                <a:spcPct val="100000"/>
              </a:lnSpc>
            </a:pPr>
            <a:r>
              <a:rPr lang="en-US" sz="1100" b="0" i="0" u="none" strike="noStrike" dirty="0">
                <a:solidFill>
                  <a:srgbClr val="3C3C3C"/>
                </a:solidFill>
                <a:latin typeface="Noto Sans SC"/>
                <a:ea typeface="Noto Sans SC"/>
                <a:cs typeface="Noto Sans SC"/>
                <a:sym typeface="Noto Sans SC"/>
              </a:rPr>
              <a:t>输入图像分辨率设为384×384；总训练轮数36轮，前5轮冻结骨干网络仅训练分类头，后续进行全网络微调。</a:t>
            </a:r>
          </a:p>
        </p:txBody>
      </p:sp>
      <p:sp>
        <p:nvSpPr>
          <p:cNvPr id="11" name="AutoShape 11"/>
          <p:cNvSpPr/>
          <p:nvPr/>
        </p:nvSpPr>
        <p:spPr>
          <a:xfrm>
            <a:off x="762000" y="5346700"/>
            <a:ext cx="2374900" cy="292100"/>
          </a:xfrm>
          <a:prstGeom prst="roundRect">
            <a:avLst>
              <a:gd name="adj" fmla="val 0"/>
            </a:avLst>
          </a:prstGeom>
          <a:gradFill rotWithShape="1">
            <a:gsLst>
              <a:gs pos="0">
                <a:srgbClr val="000000">
                  <a:alpha val="100000"/>
                </a:srgbClr>
              </a:gs>
              <a:gs pos="100000">
                <a:srgbClr val="1F223E">
                  <a:alpha val="0"/>
                </a:srgbClr>
              </a:gs>
            </a:gsLst>
            <a:path path="shap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12800" y="4076700"/>
            <a:ext cx="2298700" cy="1460500"/>
          </a:xfrm>
          <a:prstGeom prst="roundRect">
            <a:avLst>
              <a:gd name="adj" fmla="val 0"/>
            </a:avLst>
          </a:prstGeom>
          <a:solidFill>
            <a:srgbClr val="EBF5FF">
              <a:alpha val="100000"/>
            </a:srgbClr>
          </a:solidFill>
          <a:ln w="12700" cap="flat" cmpd="sng">
            <a:solidFill>
              <a:srgbClr val="A6A6A6">
                <a:alpha val="100000"/>
              </a:srgbClr>
            </a:solidFill>
            <a:prstDash val="solid"/>
            <a:miter lim="8000000"/>
          </a:ln>
        </p:spPr>
        <p:txBody>
          <a:bodyPr vert="horz" wrap="square" lIns="63500" tIns="63500" rIns="63500" bIns="63500" rtlCol="0" anchor="ctr"/>
          <a:lstStyle/>
          <a:p>
            <a:pPr algn="ctr">
              <a:defRPr/>
            </a:pPr>
            <a:endParaRPr/>
          </a:p>
        </p:txBody>
      </p:sp>
      <p:sp>
        <p:nvSpPr>
          <p:cNvPr id="13" name="AutoShape 13"/>
          <p:cNvSpPr/>
          <p:nvPr/>
        </p:nvSpPr>
        <p:spPr>
          <a:xfrm>
            <a:off x="876300" y="4140200"/>
            <a:ext cx="2171700" cy="1333500"/>
          </a:xfrm>
          <a:prstGeom prst="rect">
            <a:avLst/>
          </a:prstGeom>
          <a:noFill/>
          <a:ln w="9525"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dirty="0" err="1">
                <a:solidFill>
                  <a:srgbClr val="072063"/>
                </a:solidFill>
                <a:latin typeface="Noto Sans SC"/>
                <a:ea typeface="Noto Sans SC"/>
                <a:cs typeface="Noto Sans SC"/>
                <a:sym typeface="Noto Sans SC"/>
              </a:rPr>
              <a:t>软硬件实验环境</a:t>
            </a:r>
            <a:endParaRPr lang="en-US" sz="1100" dirty="0"/>
          </a:p>
          <a:p>
            <a:pPr marL="0" indent="0" algn="l">
              <a:lnSpc>
                <a:spcPct val="100000"/>
              </a:lnSpc>
            </a:pPr>
            <a:r>
              <a:rPr lang="en-US" sz="1100" b="0" i="0" u="none" strike="noStrike" dirty="0" err="1">
                <a:solidFill>
                  <a:srgbClr val="3C3C3C"/>
                </a:solidFill>
                <a:latin typeface="Noto Sans SC"/>
                <a:ea typeface="Noto Sans SC"/>
                <a:cs typeface="Noto Sans SC"/>
                <a:sym typeface="Noto Sans SC"/>
              </a:rPr>
              <a:t>基于Windows系统搭建，搭载NVIDIA</a:t>
            </a:r>
            <a:r>
              <a:rPr lang="en-US" sz="1100" b="0" i="0" u="none" strike="noStrike" dirty="0">
                <a:solidFill>
                  <a:srgbClr val="3C3C3C"/>
                </a:solidFill>
                <a:latin typeface="Noto Sans SC"/>
                <a:ea typeface="Noto Sans SC"/>
                <a:cs typeface="Noto Sans SC"/>
                <a:sym typeface="Noto Sans SC"/>
              </a:rPr>
              <a:t> RTX 4060 </a:t>
            </a:r>
            <a:r>
              <a:rPr lang="en-US" sz="1100" b="0" i="0" u="none" strike="noStrike" dirty="0" err="1">
                <a:solidFill>
                  <a:srgbClr val="3C3C3C"/>
                </a:solidFill>
                <a:latin typeface="Noto Sans SC"/>
                <a:ea typeface="Noto Sans SC"/>
                <a:cs typeface="Noto Sans SC"/>
                <a:sym typeface="Noto Sans SC"/>
              </a:rPr>
              <a:t>GPU加速计算；采用PaddlePaddle深度学习框架与PaddleClas模型库作为核心工具链</a:t>
            </a:r>
            <a:r>
              <a:rPr lang="en-US" sz="1100" b="0" i="0" u="none" strike="noStrike" dirty="0">
                <a:solidFill>
                  <a:srgbClr val="3C3C3C"/>
                </a:solidFill>
                <a:latin typeface="Noto Sans SC"/>
                <a:ea typeface="Noto Sans SC"/>
                <a:cs typeface="Noto Sans SC"/>
                <a:sym typeface="Noto Sans SC"/>
              </a:rPr>
              <a:t>。</a:t>
            </a:r>
          </a:p>
        </p:txBody>
      </p:sp>
      <p:sp>
        <p:nvSpPr>
          <p:cNvPr id="14" name="AutoShape 14"/>
          <p:cNvSpPr/>
          <p:nvPr/>
        </p:nvSpPr>
        <p:spPr>
          <a:xfrm>
            <a:off x="647700" y="1485901"/>
            <a:ext cx="8064500" cy="12319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33333"/>
              </a:lnSpc>
              <a:spcBef>
                <a:spcPts val="1200"/>
              </a:spcBef>
            </a:pPr>
            <a:r>
              <a:rPr lang="en-US" sz="1400" b="0" i="0" u="none" strike="noStrike" dirty="0" err="1">
                <a:solidFill>
                  <a:srgbClr val="000000"/>
                </a:solidFill>
                <a:latin typeface="微软雅黑"/>
                <a:ea typeface="微软雅黑"/>
                <a:cs typeface="微软雅黑"/>
                <a:sym typeface="微软雅黑"/>
              </a:rPr>
              <a:t>输入图像尺寸</a:t>
            </a:r>
            <a:r>
              <a:rPr lang="zh-CN" altLang="en-US" sz="1400" b="0" i="0" u="none" strike="noStrike" dirty="0">
                <a:solidFill>
                  <a:srgbClr val="000000"/>
                </a:solidFill>
                <a:latin typeface="微软雅黑"/>
                <a:ea typeface="微软雅黑"/>
                <a:cs typeface="微软雅黑"/>
                <a:sym typeface="微软雅黑"/>
              </a:rPr>
              <a:t>：</a:t>
            </a:r>
            <a:r>
              <a:rPr lang="en-US" sz="1400" b="0" i="0" u="none" strike="noStrike" dirty="0">
                <a:solidFill>
                  <a:srgbClr val="000000"/>
                </a:solidFill>
                <a:latin typeface="微软雅黑"/>
                <a:ea typeface="微软雅黑"/>
                <a:cs typeface="微软雅黑"/>
                <a:sym typeface="微软雅黑"/>
              </a:rPr>
              <a:t>统一设定为384×384以保留更多图像细节特征；</a:t>
            </a:r>
          </a:p>
          <a:p>
            <a:pPr marL="0" indent="0" algn="l">
              <a:lnSpc>
                <a:spcPct val="133333"/>
              </a:lnSpc>
              <a:spcBef>
                <a:spcPts val="1200"/>
              </a:spcBef>
            </a:pPr>
            <a:r>
              <a:rPr lang="en-US" sz="1400" b="0" i="0" u="none" strike="noStrike" dirty="0" err="1">
                <a:solidFill>
                  <a:srgbClr val="000000"/>
                </a:solidFill>
                <a:latin typeface="微软雅黑"/>
                <a:ea typeface="微软雅黑"/>
                <a:cs typeface="微软雅黑"/>
                <a:sym typeface="微软雅黑"/>
              </a:rPr>
              <a:t>Batch_size</a:t>
            </a:r>
            <a:r>
              <a:rPr lang="en-US" dirty="0">
                <a:latin typeface="微软雅黑"/>
                <a:ea typeface="微软雅黑"/>
                <a:cs typeface="微软雅黑"/>
                <a:sym typeface="微软雅黑"/>
              </a:rPr>
              <a:t>=2, </a:t>
            </a:r>
            <a:r>
              <a:rPr lang="en-US" dirty="0" err="1">
                <a:latin typeface="微软雅黑"/>
                <a:ea typeface="微软雅黑"/>
                <a:cs typeface="微软雅黑"/>
                <a:sym typeface="微软雅黑"/>
              </a:rPr>
              <a:t>accum_step</a:t>
            </a:r>
            <a:r>
              <a:rPr lang="en-US" dirty="0">
                <a:latin typeface="微软雅黑"/>
                <a:ea typeface="微软雅黑"/>
                <a:cs typeface="微软雅黑"/>
                <a:sym typeface="微软雅黑"/>
              </a:rPr>
              <a:t>=4</a:t>
            </a:r>
            <a:endParaRPr lang="en-US" sz="1400" b="0" i="0" u="none" strike="noStrike" dirty="0">
              <a:solidFill>
                <a:srgbClr val="000000"/>
              </a:solidFill>
              <a:latin typeface="微软雅黑"/>
              <a:ea typeface="微软雅黑"/>
              <a:cs typeface="微软雅黑"/>
              <a:sym typeface="微软雅黑"/>
            </a:endParaRPr>
          </a:p>
          <a:p>
            <a:pPr marL="0" indent="0" algn="l">
              <a:lnSpc>
                <a:spcPct val="133333"/>
              </a:lnSpc>
              <a:spcBef>
                <a:spcPts val="1200"/>
              </a:spcBef>
            </a:pPr>
            <a:r>
              <a:rPr lang="en-US" sz="1400" b="0" i="0" u="none" strike="noStrike" dirty="0" err="1">
                <a:solidFill>
                  <a:srgbClr val="000000"/>
                </a:solidFill>
                <a:latin typeface="微软雅黑"/>
                <a:ea typeface="微软雅黑"/>
                <a:cs typeface="微软雅黑"/>
                <a:sym typeface="微软雅黑"/>
              </a:rPr>
              <a:t>训练流程</a:t>
            </a:r>
            <a:r>
              <a:rPr lang="zh-CN" altLang="en-US" sz="1400" b="0" i="0" u="none" strike="noStrike" dirty="0">
                <a:solidFill>
                  <a:srgbClr val="000000"/>
                </a:solidFill>
                <a:latin typeface="微软雅黑"/>
                <a:ea typeface="微软雅黑"/>
                <a:cs typeface="微软雅黑"/>
                <a:sym typeface="微软雅黑"/>
              </a:rPr>
              <a:t>：</a:t>
            </a:r>
            <a:r>
              <a:rPr lang="en-US" sz="1400" b="0" i="0" u="none" strike="noStrike" dirty="0">
                <a:solidFill>
                  <a:srgbClr val="000000"/>
                </a:solidFill>
                <a:latin typeface="微软雅黑"/>
                <a:ea typeface="微软雅黑"/>
                <a:cs typeface="微软雅黑"/>
                <a:sym typeface="微软雅黑"/>
              </a:rPr>
              <a:t>分为两个阶段，前5轮冻结骨干网络权重仅训练分类头，后续31轮解冻进行全网络微调</a:t>
            </a:r>
          </a:p>
          <a:p>
            <a:pPr marL="0" indent="0" algn="l">
              <a:lnSpc>
                <a:spcPct val="133333"/>
              </a:lnSpc>
              <a:spcBef>
                <a:spcPts val="1200"/>
              </a:spcBef>
            </a:pPr>
            <a:r>
              <a:rPr lang="en-US" sz="1400" b="0" i="0" u="none" strike="noStrike" dirty="0" err="1">
                <a:solidFill>
                  <a:srgbClr val="000000"/>
                </a:solidFill>
                <a:latin typeface="微软雅黑"/>
                <a:ea typeface="微软雅黑"/>
                <a:cs typeface="微软雅黑"/>
                <a:sym typeface="微软雅黑"/>
              </a:rPr>
              <a:t>引入AdamW优化器、余弦退火学习率调度机制以及标签平滑正则化策略，有效避免过拟合并提升了模型的分类精度与鲁棒性</a:t>
            </a:r>
            <a:r>
              <a:rPr lang="en-US" sz="1400" b="0" i="0" u="none" strike="noStrike" dirty="0">
                <a:solidFill>
                  <a:srgbClr val="000000"/>
                </a:solidFill>
                <a:latin typeface="微软雅黑"/>
                <a:ea typeface="微软雅黑"/>
                <a:cs typeface="微软雅黑"/>
                <a:sym typeface="微软雅黑"/>
              </a:rPr>
              <a:t>。</a:t>
            </a:r>
          </a:p>
        </p:txBody>
      </p:sp>
      <p:pic>
        <p:nvPicPr>
          <p:cNvPr id="15" name="Picture 15"/>
          <p:cNvPicPr>
            <a:picLocks noChangeAspect="1"/>
          </p:cNvPicPr>
          <p:nvPr/>
        </p:nvPicPr>
        <p:blipFill>
          <a:blip r:embed="rId4"/>
          <a:srcRect/>
          <a:stretch>
            <a:fillRect/>
          </a:stretch>
        </p:blipFill>
        <p:spPr>
          <a:xfrm>
            <a:off x="7162800" y="6172200"/>
            <a:ext cx="1778000" cy="444500"/>
          </a:xfrm>
          <a:prstGeom prst="rect">
            <a:avLst/>
          </a:prstGeom>
          <a:noFill/>
          <a:ln w="25400" cap="flat" cmpd="sng">
            <a:noFill/>
            <a:prstDash val="solid"/>
            <a:rou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6858000"/>
          </a:xfrm>
          <a:prstGeom prst="roundRect">
            <a:avLst>
              <a:gd name="adj" fmla="val 0"/>
            </a:avLst>
          </a:prstGeom>
          <a:solidFill>
            <a:srgbClr val="F4F4F4">
              <a:alpha val="100000"/>
            </a:srgbClr>
          </a:solidFill>
          <a:ln w="12700" cap="flat" cmpd="sng">
            <a:solidFill>
              <a:srgbClr val="D9D9D9">
                <a:alpha val="100000"/>
              </a:srgbClr>
            </a:soli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2825" r="7221" b="57471"/>
          <a:stretch>
            <a:fillRect/>
          </a:stretch>
        </p:blipFill>
        <p:spPr>
          <a:xfrm rot="10800000">
            <a:off x="939800" y="977900"/>
            <a:ext cx="7277100" cy="469900"/>
          </a:xfrm>
          <a:prstGeom prst="rect">
            <a:avLst/>
          </a:prstGeom>
          <a:noFill/>
          <a:ln w="25400" cap="flat" cmpd="sng">
            <a:noFill/>
            <a:prstDash val="solid"/>
            <a:round/>
          </a:ln>
        </p:spPr>
      </p:pic>
      <p:sp>
        <p:nvSpPr>
          <p:cNvPr id="4" name="AutoShape 4"/>
          <p:cNvSpPr/>
          <p:nvPr/>
        </p:nvSpPr>
        <p:spPr>
          <a:xfrm>
            <a:off x="457200" y="342900"/>
            <a:ext cx="8229600" cy="571500"/>
          </a:xfrm>
          <a:prstGeom prst="rect">
            <a:avLst/>
          </a:prstGeom>
          <a:noFill/>
          <a:ln w="9525"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072063"/>
                </a:solidFill>
                <a:latin typeface="微软雅黑"/>
                <a:ea typeface="微软雅黑"/>
                <a:cs typeface="微软雅黑"/>
                <a:sym typeface="微软雅黑"/>
              </a:rPr>
              <a:t>预测策略：TTA与模型集成</a:t>
            </a:r>
            <a:endParaRPr lang="en-US" sz="1100" dirty="0"/>
          </a:p>
        </p:txBody>
      </p:sp>
      <p:sp>
        <p:nvSpPr>
          <p:cNvPr id="5" name="AutoShape 5"/>
          <p:cNvSpPr/>
          <p:nvPr/>
        </p:nvSpPr>
        <p:spPr>
          <a:xfrm>
            <a:off x="393700" y="3340100"/>
            <a:ext cx="8496300" cy="2108200"/>
          </a:xfrm>
          <a:prstGeom prst="roundRect">
            <a:avLst>
              <a:gd name="adj" fmla="val 5421"/>
            </a:avLst>
          </a:prstGeom>
          <a:noFill/>
          <a:ln w="12700" cap="flat" cmpd="sng">
            <a:solidFill>
              <a:srgbClr val="808080">
                <a:alpha val="100000"/>
              </a:srgbClr>
            </a:solidFill>
            <a:prstDash val="dash"/>
            <a:miter lim="10000000"/>
          </a:ln>
        </p:spPr>
        <p:txBody>
          <a:bodyPr vert="horz" wrap="square" lIns="63500" tIns="63500" rIns="63500" bIns="63500" rtlCol="0" anchor="ctr"/>
          <a:lstStyle/>
          <a:p>
            <a:pPr algn="ctr">
              <a:defRPr/>
            </a:pPr>
            <a:endParaRPr/>
          </a:p>
        </p:txBody>
      </p:sp>
      <p:sp>
        <p:nvSpPr>
          <p:cNvPr id="6" name="AutoShape 6"/>
          <p:cNvSpPr/>
          <p:nvPr/>
        </p:nvSpPr>
        <p:spPr>
          <a:xfrm>
            <a:off x="393700" y="2057400"/>
            <a:ext cx="1651000" cy="685800"/>
          </a:xfrm>
          <a:prstGeom prst="roundRect">
            <a:avLst>
              <a:gd name="adj" fmla="val 11111"/>
            </a:avLst>
          </a:prstGeom>
          <a:solidFill>
            <a:srgbClr val="072063">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0" i="0" u="none" strike="noStrike" dirty="0" err="1">
                <a:solidFill>
                  <a:srgbClr val="FFFFFF"/>
                </a:solidFill>
                <a:latin typeface="微软雅黑"/>
                <a:ea typeface="微软雅黑"/>
                <a:cs typeface="微软雅黑"/>
                <a:sym typeface="微软雅黑"/>
              </a:rPr>
              <a:t>测试样本输入</a:t>
            </a:r>
            <a:endParaRPr lang="en-US" sz="1100" dirty="0"/>
          </a:p>
        </p:txBody>
      </p:sp>
      <p:sp>
        <p:nvSpPr>
          <p:cNvPr id="7" name="AutoShape 7"/>
          <p:cNvSpPr/>
          <p:nvPr/>
        </p:nvSpPr>
        <p:spPr>
          <a:xfrm>
            <a:off x="2120900" y="2057400"/>
            <a:ext cx="1651000" cy="685800"/>
          </a:xfrm>
          <a:prstGeom prst="roundRect">
            <a:avLst>
              <a:gd name="adj" fmla="val 11111"/>
            </a:avLst>
          </a:prstGeom>
          <a:solidFill>
            <a:srgbClr val="808080">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0" i="0" u="none" strike="noStrike" dirty="0" err="1">
                <a:solidFill>
                  <a:srgbClr val="FFFFFF"/>
                </a:solidFill>
                <a:latin typeface="微软雅黑"/>
                <a:ea typeface="微软雅黑"/>
                <a:cs typeface="微软雅黑"/>
                <a:sym typeface="微软雅黑"/>
              </a:rPr>
              <a:t>多尺度缩放增强</a:t>
            </a:r>
            <a:endParaRPr lang="en-US" sz="1100" dirty="0"/>
          </a:p>
        </p:txBody>
      </p:sp>
      <p:sp>
        <p:nvSpPr>
          <p:cNvPr id="8" name="AutoShape 8"/>
          <p:cNvSpPr/>
          <p:nvPr/>
        </p:nvSpPr>
        <p:spPr>
          <a:xfrm>
            <a:off x="3848100" y="2057400"/>
            <a:ext cx="1663700" cy="685800"/>
          </a:xfrm>
          <a:prstGeom prst="roundRect">
            <a:avLst>
              <a:gd name="adj" fmla="val 11111"/>
            </a:avLst>
          </a:prstGeom>
          <a:solidFill>
            <a:srgbClr val="072063">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0" i="0" u="none" strike="noStrike">
                <a:solidFill>
                  <a:srgbClr val="FFFFFF"/>
                </a:solidFill>
                <a:latin typeface="微软雅黑"/>
                <a:ea typeface="微软雅黑"/>
                <a:cs typeface="微软雅黑"/>
                <a:sym typeface="微软雅黑"/>
              </a:rPr>
              <a:t>翻转视角生成</a:t>
            </a:r>
            <a:endParaRPr lang="en-US" sz="1100"/>
          </a:p>
        </p:txBody>
      </p:sp>
      <p:sp>
        <p:nvSpPr>
          <p:cNvPr id="9" name="AutoShape 9"/>
          <p:cNvSpPr/>
          <p:nvPr/>
        </p:nvSpPr>
        <p:spPr>
          <a:xfrm>
            <a:off x="5575300" y="2057400"/>
            <a:ext cx="1651000" cy="685800"/>
          </a:xfrm>
          <a:prstGeom prst="roundRect">
            <a:avLst>
              <a:gd name="adj" fmla="val 11111"/>
            </a:avLst>
          </a:prstGeom>
          <a:solidFill>
            <a:srgbClr val="808080">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0" i="0" u="none" strike="noStrike">
                <a:solidFill>
                  <a:srgbClr val="FFFFFF"/>
                </a:solidFill>
                <a:latin typeface="微软雅黑"/>
                <a:ea typeface="微软雅黑"/>
                <a:cs typeface="微软雅黑"/>
                <a:sym typeface="微软雅黑"/>
              </a:rPr>
              <a:t>多模型并行预测</a:t>
            </a:r>
            <a:endParaRPr lang="en-US" sz="1100"/>
          </a:p>
        </p:txBody>
      </p:sp>
      <p:sp>
        <p:nvSpPr>
          <p:cNvPr id="10" name="AutoShape 10"/>
          <p:cNvSpPr/>
          <p:nvPr/>
        </p:nvSpPr>
        <p:spPr>
          <a:xfrm>
            <a:off x="7315200" y="2057400"/>
            <a:ext cx="1587500" cy="685800"/>
          </a:xfrm>
          <a:prstGeom prst="roundRect">
            <a:avLst>
              <a:gd name="adj" fmla="val 11111"/>
            </a:avLst>
          </a:prstGeom>
          <a:solidFill>
            <a:srgbClr val="072063">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0" i="0" u="none" strike="noStrike">
                <a:solidFill>
                  <a:srgbClr val="FFFFFF"/>
                </a:solidFill>
                <a:latin typeface="微软雅黑"/>
                <a:ea typeface="微软雅黑"/>
                <a:cs typeface="微软雅黑"/>
                <a:sym typeface="微软雅黑"/>
              </a:rPr>
              <a:t>Logits融合平均</a:t>
            </a:r>
            <a:endParaRPr lang="en-US" sz="1100"/>
          </a:p>
        </p:txBody>
      </p:sp>
      <p:sp>
        <p:nvSpPr>
          <p:cNvPr id="11" name="AutoShape 11"/>
          <p:cNvSpPr/>
          <p:nvPr/>
        </p:nvSpPr>
        <p:spPr>
          <a:xfrm>
            <a:off x="1041400" y="2870200"/>
            <a:ext cx="355600" cy="342900"/>
          </a:xfrm>
          <a:prstGeom prst="downArrow">
            <a:avLst>
              <a:gd name="adj1" fmla="val 50000"/>
              <a:gd name="adj2" fmla="val 50000"/>
            </a:avLst>
          </a:prstGeom>
          <a:solidFill>
            <a:srgbClr val="0720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495800" y="2870200"/>
            <a:ext cx="355600" cy="342900"/>
          </a:xfrm>
          <a:prstGeom prst="downArrow">
            <a:avLst>
              <a:gd name="adj1" fmla="val 50000"/>
              <a:gd name="adj2" fmla="val 50000"/>
            </a:avLst>
          </a:prstGeom>
          <a:solidFill>
            <a:srgbClr val="0720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23000" y="2870200"/>
            <a:ext cx="355600" cy="342900"/>
          </a:xfrm>
          <a:prstGeom prst="downArrow">
            <a:avLst>
              <a:gd name="adj1" fmla="val 50000"/>
              <a:gd name="adj2" fmla="val 50000"/>
            </a:avLst>
          </a:prstGeom>
          <a:solidFill>
            <a:srgbClr val="8080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810500" y="2870200"/>
            <a:ext cx="355600" cy="342900"/>
          </a:xfrm>
          <a:prstGeom prst="downArrow">
            <a:avLst>
              <a:gd name="adj1" fmla="val 50000"/>
              <a:gd name="adj2" fmla="val 50000"/>
            </a:avLst>
          </a:prstGeom>
          <a:solidFill>
            <a:srgbClr val="0720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705100" y="2870200"/>
            <a:ext cx="355600" cy="342900"/>
          </a:xfrm>
          <a:prstGeom prst="downArrow">
            <a:avLst>
              <a:gd name="adj1" fmla="val 50000"/>
              <a:gd name="adj2" fmla="val 50000"/>
            </a:avLst>
          </a:prstGeom>
          <a:solidFill>
            <a:srgbClr val="8080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282700" y="3829050"/>
            <a:ext cx="1155700" cy="1130300"/>
          </a:xfrm>
          <a:prstGeom prst="ellipse">
            <a:avLst/>
          </a:prstGeom>
          <a:solidFill>
            <a:srgbClr val="072063">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1" i="0" u="none" strike="noStrike" dirty="0" err="1">
                <a:solidFill>
                  <a:srgbClr val="FFFFFF"/>
                </a:solidFill>
                <a:latin typeface="微软雅黑"/>
                <a:ea typeface="微软雅黑"/>
                <a:cs typeface="微软雅黑"/>
                <a:sym typeface="微软雅黑"/>
              </a:rPr>
              <a:t>视图扩充</a:t>
            </a:r>
            <a:br>
              <a:rPr lang="en-US" sz="1600" b="1" i="0" u="none" strike="noStrike" dirty="0">
                <a:solidFill>
                  <a:srgbClr val="FFFFFF"/>
                </a:solidFill>
                <a:latin typeface="微软雅黑"/>
                <a:ea typeface="微软雅黑"/>
                <a:cs typeface="微软雅黑"/>
                <a:sym typeface="微软雅黑"/>
              </a:rPr>
            </a:br>
            <a:r>
              <a:rPr lang="en-US" sz="1600" b="1" i="0" u="none" strike="noStrike" dirty="0" err="1">
                <a:solidFill>
                  <a:srgbClr val="FFFFFF"/>
                </a:solidFill>
                <a:latin typeface="微软雅黑"/>
                <a:ea typeface="微软雅黑"/>
                <a:cs typeface="微软雅黑"/>
                <a:sym typeface="微软雅黑"/>
              </a:rPr>
              <a:t>提升泛化</a:t>
            </a:r>
            <a:endParaRPr lang="en-US" sz="1100" dirty="0"/>
          </a:p>
        </p:txBody>
      </p:sp>
      <p:sp>
        <p:nvSpPr>
          <p:cNvPr id="18" name="AutoShape 18"/>
          <p:cNvSpPr/>
          <p:nvPr/>
        </p:nvSpPr>
        <p:spPr>
          <a:xfrm>
            <a:off x="4191000" y="3810000"/>
            <a:ext cx="1155700" cy="1130300"/>
          </a:xfrm>
          <a:prstGeom prst="ellipse">
            <a:avLst/>
          </a:prstGeom>
          <a:solidFill>
            <a:srgbClr val="072063">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1" i="0" u="none" strike="noStrike" dirty="0" err="1">
                <a:solidFill>
                  <a:srgbClr val="FFFFFF"/>
                </a:solidFill>
                <a:latin typeface="微软雅黑"/>
                <a:ea typeface="微软雅黑"/>
                <a:cs typeface="微软雅黑"/>
                <a:sym typeface="微软雅黑"/>
              </a:rPr>
              <a:t>模型互补</a:t>
            </a:r>
            <a:br>
              <a:rPr lang="en-US" sz="1600" b="1" i="0" u="none" strike="noStrike" dirty="0">
                <a:solidFill>
                  <a:srgbClr val="FFFFFF"/>
                </a:solidFill>
                <a:latin typeface="微软雅黑"/>
                <a:ea typeface="微软雅黑"/>
                <a:cs typeface="微软雅黑"/>
                <a:sym typeface="微软雅黑"/>
              </a:rPr>
            </a:br>
            <a:r>
              <a:rPr lang="en-US" sz="1600" b="1" i="0" u="none" strike="noStrike" dirty="0" err="1">
                <a:solidFill>
                  <a:srgbClr val="FFFFFF"/>
                </a:solidFill>
                <a:latin typeface="微软雅黑"/>
                <a:ea typeface="微软雅黑"/>
                <a:cs typeface="微软雅黑"/>
                <a:sym typeface="微软雅黑"/>
              </a:rPr>
              <a:t>降低偏差</a:t>
            </a:r>
            <a:endParaRPr lang="en-US" sz="1100" dirty="0"/>
          </a:p>
        </p:txBody>
      </p:sp>
      <p:sp>
        <p:nvSpPr>
          <p:cNvPr id="19" name="AutoShape 19"/>
          <p:cNvSpPr/>
          <p:nvPr/>
        </p:nvSpPr>
        <p:spPr>
          <a:xfrm>
            <a:off x="7099300" y="3746501"/>
            <a:ext cx="1155700" cy="1130300"/>
          </a:xfrm>
          <a:prstGeom prst="ellipse">
            <a:avLst/>
          </a:prstGeom>
          <a:solidFill>
            <a:srgbClr val="072063">
              <a:alpha val="100000"/>
            </a:srgbClr>
          </a:solid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600" b="1" i="0" u="none" strike="noStrike">
                <a:solidFill>
                  <a:srgbClr val="FFFFFF"/>
                </a:solidFill>
                <a:latin typeface="微软雅黑"/>
                <a:ea typeface="微软雅黑"/>
                <a:cs typeface="微软雅黑"/>
                <a:sym typeface="微软雅黑"/>
              </a:rPr>
              <a:t>Logits融合</a:t>
            </a:r>
            <a:br>
              <a:rPr lang="en-US" sz="1600" b="1" i="0" u="none" strike="noStrike">
                <a:solidFill>
                  <a:srgbClr val="FFFFFF"/>
                </a:solidFill>
                <a:latin typeface="微软雅黑"/>
                <a:ea typeface="微软雅黑"/>
                <a:cs typeface="微软雅黑"/>
                <a:sym typeface="微软雅黑"/>
              </a:rPr>
            </a:br>
            <a:r>
              <a:rPr lang="en-US" sz="1600" b="1" i="0" u="none" strike="noStrike">
                <a:solidFill>
                  <a:srgbClr val="FFFFFF"/>
                </a:solidFill>
                <a:latin typeface="微软雅黑"/>
                <a:ea typeface="微软雅黑"/>
                <a:cs typeface="微软雅黑"/>
                <a:sym typeface="微软雅黑"/>
              </a:rPr>
              <a:t>优化边界</a:t>
            </a:r>
            <a:endParaRPr lang="en-US" sz="1100"/>
          </a:p>
        </p:txBody>
      </p:sp>
      <p:sp>
        <p:nvSpPr>
          <p:cNvPr id="20" name="AutoShape 20"/>
          <p:cNvSpPr/>
          <p:nvPr/>
        </p:nvSpPr>
        <p:spPr>
          <a:xfrm rot="5400000">
            <a:off x="3200400" y="4089400"/>
            <a:ext cx="571500" cy="571500"/>
          </a:xfrm>
          <a:prstGeom prst="flowChartExtract">
            <a:avLst/>
          </a:prstGeom>
          <a:solidFill>
            <a:srgbClr val="8080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rot="5400000">
            <a:off x="5924550" y="4108450"/>
            <a:ext cx="571500" cy="571500"/>
          </a:xfrm>
          <a:prstGeom prst="flowChartExtract">
            <a:avLst/>
          </a:prstGeom>
          <a:solidFill>
            <a:srgbClr val="8080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4"/>
          <a:srcRect/>
          <a:stretch>
            <a:fillRect/>
          </a:stretch>
        </p:blipFill>
        <p:spPr>
          <a:xfrm>
            <a:off x="7162800" y="6172200"/>
            <a:ext cx="1778000" cy="444500"/>
          </a:xfrm>
          <a:prstGeom prst="rect">
            <a:avLst/>
          </a:prstGeom>
          <a:noFill/>
          <a:ln w="25400" cap="flat" cmpd="sng">
            <a:noFill/>
            <a:prstDash val="solid"/>
            <a:rou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a:extLst>
              <a:ext uri="{FF2B5EF4-FFF2-40B4-BE49-F238E27FC236}">
                <a16:creationId xmlns:a16="http://schemas.microsoft.com/office/drawing/2014/main" id="{8B9E71A8-CF06-429D-4751-9C86901C89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3174"/>
            <a:ext cx="4358718" cy="4004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a:extLst>
              <a:ext uri="{FF2B5EF4-FFF2-40B4-BE49-F238E27FC236}">
                <a16:creationId xmlns:a16="http://schemas.microsoft.com/office/drawing/2014/main" id="{ABB978CB-8263-1E30-5F16-B6D560D972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9878"/>
            <a:ext cx="4358718" cy="401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23D16891-BCA0-E3D5-7EBA-4242CCCE61EF}"/>
              </a:ext>
            </a:extLst>
          </p:cNvPr>
          <p:cNvPicPr>
            <a:picLocks noChangeAspect="1"/>
          </p:cNvPicPr>
          <p:nvPr/>
        </p:nvPicPr>
        <p:blipFill>
          <a:blip r:embed="rId4"/>
          <a:stretch>
            <a:fillRect/>
          </a:stretch>
        </p:blipFill>
        <p:spPr>
          <a:xfrm>
            <a:off x="417629" y="4455276"/>
            <a:ext cx="3878210" cy="1898538"/>
          </a:xfrm>
          <a:prstGeom prst="rect">
            <a:avLst/>
          </a:prstGeom>
        </p:spPr>
      </p:pic>
      <p:pic>
        <p:nvPicPr>
          <p:cNvPr id="7" name="图片 6">
            <a:extLst>
              <a:ext uri="{FF2B5EF4-FFF2-40B4-BE49-F238E27FC236}">
                <a16:creationId xmlns:a16="http://schemas.microsoft.com/office/drawing/2014/main" id="{12163926-5FA3-2224-4FB1-398CD86CF54D}"/>
              </a:ext>
            </a:extLst>
          </p:cNvPr>
          <p:cNvPicPr>
            <a:picLocks noChangeAspect="1"/>
          </p:cNvPicPr>
          <p:nvPr/>
        </p:nvPicPr>
        <p:blipFill>
          <a:blip r:embed="rId5"/>
          <a:stretch>
            <a:fillRect/>
          </a:stretch>
        </p:blipFill>
        <p:spPr>
          <a:xfrm>
            <a:off x="4848163" y="4455276"/>
            <a:ext cx="3569957" cy="1727399"/>
          </a:xfrm>
          <a:prstGeom prst="rect">
            <a:avLst/>
          </a:prstGeom>
        </p:spPr>
      </p:pic>
    </p:spTree>
    <p:extLst>
      <p:ext uri="{BB962C8B-B14F-4D97-AF65-F5344CB8AC3E}">
        <p14:creationId xmlns:p14="http://schemas.microsoft.com/office/powerpoint/2010/main" val="2349040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94DB764-1905-FF91-A26A-56F49F78F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3175"/>
            <a:ext cx="9106543" cy="278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E3E401E-4EB5-299F-AB46-E9670532E8DD}"/>
              </a:ext>
            </a:extLst>
          </p:cNvPr>
          <p:cNvSpPr txBox="1"/>
          <p:nvPr/>
        </p:nvSpPr>
        <p:spPr>
          <a:xfrm>
            <a:off x="1291819" y="3026664"/>
            <a:ext cx="6379321" cy="3283143"/>
          </a:xfrm>
          <a:prstGeom prst="rect">
            <a:avLst/>
          </a:prstGeom>
          <a:noFill/>
        </p:spPr>
        <p:txBody>
          <a:bodyPr wrap="square">
            <a:spAutoFit/>
          </a:bodyPr>
          <a:lstStyle/>
          <a:p>
            <a:pPr indent="266700" algn="just">
              <a:lnSpc>
                <a:spcPct val="150000"/>
              </a:lnSpc>
              <a:buNone/>
            </a:pPr>
            <a:r>
              <a:rPr lang="zh-CN" altLang="zh-CN" sz="1400" kern="0" dirty="0">
                <a:solidFill>
                  <a:srgbClr val="333333"/>
                </a:solidFill>
                <a:effectLst/>
                <a:latin typeface="Times New Roman" panose="02020603050405020304" pitchFamily="18" charset="0"/>
                <a:ea typeface="宋体" panose="02010600030101010101" pitchFamily="2" charset="-122"/>
              </a:rPr>
              <a:t>前</a:t>
            </a:r>
            <a:r>
              <a:rPr lang="en-US" altLang="zh-CN" sz="1400" kern="0" dirty="0">
                <a:solidFill>
                  <a:srgbClr val="333333"/>
                </a:solidFill>
                <a:effectLst/>
                <a:latin typeface="Times New Roman" panose="02020603050405020304" pitchFamily="18" charset="0"/>
                <a:ea typeface="宋体" panose="02010600030101010101" pitchFamily="2" charset="-122"/>
              </a:rPr>
              <a:t> 5 </a:t>
            </a:r>
            <a:r>
              <a:rPr lang="zh-CN" altLang="zh-CN" sz="1400" kern="0" dirty="0">
                <a:solidFill>
                  <a:srgbClr val="333333"/>
                </a:solidFill>
                <a:effectLst/>
                <a:latin typeface="Times New Roman" panose="02020603050405020304" pitchFamily="18" charset="0"/>
                <a:ea typeface="宋体" panose="02010600030101010101" pitchFamily="2" charset="-122"/>
              </a:rPr>
              <a:t>轮是冻结</a:t>
            </a:r>
            <a:r>
              <a:rPr lang="en-US" altLang="zh-CN" sz="1400" kern="0" dirty="0">
                <a:solidFill>
                  <a:srgbClr val="333333"/>
                </a:solidFill>
                <a:effectLst/>
                <a:latin typeface="Times New Roman" panose="02020603050405020304" pitchFamily="18" charset="0"/>
                <a:ea typeface="宋体" panose="02010600030101010101" pitchFamily="2" charset="-122"/>
              </a:rPr>
              <a:t> backbone </a:t>
            </a:r>
            <a:r>
              <a:rPr lang="zh-CN" altLang="zh-CN" sz="1400" kern="0" dirty="0">
                <a:solidFill>
                  <a:srgbClr val="333333"/>
                </a:solidFill>
                <a:effectLst/>
                <a:latin typeface="Times New Roman" panose="02020603050405020304" pitchFamily="18" charset="0"/>
                <a:ea typeface="宋体" panose="02010600030101010101" pitchFamily="2" charset="-122"/>
              </a:rPr>
              <a:t>只训练分类头，之后进入全模型微调。</a:t>
            </a:r>
            <a:r>
              <a:rPr lang="en-US" altLang="zh-CN" sz="1400" kern="0" dirty="0" err="1">
                <a:solidFill>
                  <a:srgbClr val="333333"/>
                </a:solidFill>
                <a:effectLst/>
                <a:latin typeface="Times New Roman" panose="02020603050405020304" pitchFamily="18" charset="0"/>
                <a:ea typeface="宋体" panose="02010600030101010101" pitchFamily="2" charset="-122"/>
              </a:rPr>
              <a:t>CSWin</a:t>
            </a:r>
            <a:r>
              <a:rPr lang="en-US" altLang="zh-CN" sz="1400" kern="0" dirty="0">
                <a:solidFill>
                  <a:srgbClr val="333333"/>
                </a:solidFill>
                <a:effectLst/>
                <a:latin typeface="Times New Roman" panose="02020603050405020304" pitchFamily="18" charset="0"/>
                <a:ea typeface="宋体" panose="02010600030101010101" pitchFamily="2" charset="-122"/>
              </a:rPr>
              <a:t> </a:t>
            </a:r>
            <a:r>
              <a:rPr lang="zh-CN" altLang="zh-CN" sz="1400" kern="0" dirty="0">
                <a:solidFill>
                  <a:srgbClr val="333333"/>
                </a:solidFill>
                <a:effectLst/>
                <a:latin typeface="Times New Roman" panose="02020603050405020304" pitchFamily="18" charset="0"/>
                <a:ea typeface="宋体" panose="02010600030101010101" pitchFamily="2" charset="-122"/>
              </a:rPr>
              <a:t>在冻结阶段已经从</a:t>
            </a:r>
            <a:r>
              <a:rPr lang="en-US" altLang="zh-CN" sz="1400" kern="0" dirty="0">
                <a:solidFill>
                  <a:srgbClr val="333333"/>
                </a:solidFill>
                <a:effectLst/>
                <a:latin typeface="Times New Roman" panose="02020603050405020304" pitchFamily="18" charset="0"/>
                <a:ea typeface="宋体" panose="02010600030101010101" pitchFamily="2" charset="-122"/>
              </a:rPr>
              <a:t> val_top1=86.11% </a:t>
            </a:r>
            <a:r>
              <a:rPr lang="zh-CN" altLang="zh-CN" sz="1400" kern="0" dirty="0">
                <a:solidFill>
                  <a:srgbClr val="333333"/>
                </a:solidFill>
                <a:effectLst/>
                <a:latin typeface="Times New Roman" panose="02020603050405020304" pitchFamily="18" charset="0"/>
                <a:ea typeface="宋体" panose="02010600030101010101" pitchFamily="2" charset="-122"/>
              </a:rPr>
              <a:t>提升到</a:t>
            </a:r>
            <a:r>
              <a:rPr lang="en-US" altLang="zh-CN" sz="1400" kern="0" dirty="0">
                <a:solidFill>
                  <a:srgbClr val="333333"/>
                </a:solidFill>
                <a:effectLst/>
                <a:latin typeface="Times New Roman" panose="02020603050405020304" pitchFamily="18" charset="0"/>
                <a:ea typeface="宋体" panose="02010600030101010101" pitchFamily="2" charset="-122"/>
              </a:rPr>
              <a:t> 92.28%</a:t>
            </a:r>
            <a:r>
              <a:rPr lang="zh-CN" altLang="zh-CN" sz="1400" kern="0" dirty="0">
                <a:solidFill>
                  <a:srgbClr val="333333"/>
                </a:solidFill>
                <a:effectLst/>
                <a:latin typeface="Times New Roman" panose="02020603050405020304" pitchFamily="18" charset="0"/>
                <a:ea typeface="宋体" panose="02010600030101010101" pitchFamily="2" charset="-122"/>
              </a:rPr>
              <a:t>，说明预训练特征对猫分类任务很有效。解冻后验证集继续提升，在第</a:t>
            </a:r>
            <a:r>
              <a:rPr lang="en-US" altLang="zh-CN" sz="1400" kern="0" dirty="0">
                <a:solidFill>
                  <a:srgbClr val="333333"/>
                </a:solidFill>
                <a:effectLst/>
                <a:latin typeface="Times New Roman" panose="02020603050405020304" pitchFamily="18" charset="0"/>
                <a:ea typeface="宋体" panose="02010600030101010101" pitchFamily="2" charset="-122"/>
              </a:rPr>
              <a:t> 9 </a:t>
            </a:r>
            <a:r>
              <a:rPr lang="zh-CN" altLang="zh-CN" sz="1400" kern="0" dirty="0">
                <a:solidFill>
                  <a:srgbClr val="333333"/>
                </a:solidFill>
                <a:effectLst/>
                <a:latin typeface="Times New Roman" panose="02020603050405020304" pitchFamily="18" charset="0"/>
                <a:ea typeface="宋体" panose="02010600030101010101" pitchFamily="2" charset="-122"/>
              </a:rPr>
              <a:t>轮达到最佳</a:t>
            </a:r>
            <a:r>
              <a:rPr lang="en-US" altLang="zh-CN" sz="1400" kern="0" dirty="0">
                <a:solidFill>
                  <a:srgbClr val="333333"/>
                </a:solidFill>
                <a:effectLst/>
                <a:latin typeface="Times New Roman" panose="02020603050405020304" pitchFamily="18" charset="0"/>
                <a:ea typeface="宋体" panose="02010600030101010101" pitchFamily="2" charset="-122"/>
              </a:rPr>
              <a:t>:</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0" dirty="0" err="1">
                <a:solidFill>
                  <a:srgbClr val="333333"/>
                </a:solidFill>
                <a:effectLst/>
                <a:latin typeface="Times New Roman" panose="02020603050405020304" pitchFamily="18" charset="0"/>
                <a:ea typeface="宋体" panose="02010600030101010101" pitchFamily="2" charset="-122"/>
              </a:rPr>
              <a:t>CSWin</a:t>
            </a:r>
            <a:r>
              <a:rPr lang="en-US" altLang="zh-CN" sz="1400" b="1" kern="0" dirty="0">
                <a:solidFill>
                  <a:srgbClr val="333333"/>
                </a:solidFill>
                <a:effectLst/>
                <a:latin typeface="Times New Roman" panose="02020603050405020304" pitchFamily="18" charset="0"/>
                <a:ea typeface="宋体" panose="02010600030101010101" pitchFamily="2" charset="-122"/>
              </a:rPr>
              <a:t> best epoch</a:t>
            </a:r>
            <a:r>
              <a:rPr lang="en-US" altLang="zh-CN" sz="1400" kern="0" dirty="0">
                <a:solidFill>
                  <a:srgbClr val="333333"/>
                </a:solidFill>
                <a:effectLst/>
                <a:latin typeface="Times New Roman" panose="02020603050405020304" pitchFamily="18" charset="0"/>
                <a:ea typeface="宋体" panose="02010600030101010101" pitchFamily="2" charset="-122"/>
              </a:rPr>
              <a:t>: 9</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0" dirty="0">
                <a:solidFill>
                  <a:srgbClr val="333333"/>
                </a:solidFill>
                <a:effectLst/>
                <a:latin typeface="Times New Roman" panose="02020603050405020304" pitchFamily="18" charset="0"/>
                <a:ea typeface="宋体" panose="02010600030101010101" pitchFamily="2" charset="-122"/>
              </a:rPr>
              <a:t>train_top1</a:t>
            </a:r>
            <a:r>
              <a:rPr lang="en-US" altLang="zh-CN" sz="1400" kern="0" dirty="0">
                <a:solidFill>
                  <a:srgbClr val="333333"/>
                </a:solidFill>
                <a:effectLst/>
                <a:latin typeface="Times New Roman" panose="02020603050405020304" pitchFamily="18" charset="0"/>
                <a:ea typeface="宋体" panose="02010600030101010101" pitchFamily="2" charset="-122"/>
              </a:rPr>
              <a:t>: 96.24%</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0" dirty="0">
                <a:solidFill>
                  <a:srgbClr val="333333"/>
                </a:solidFill>
                <a:effectLst/>
                <a:latin typeface="Times New Roman" panose="02020603050405020304" pitchFamily="18" charset="0"/>
                <a:ea typeface="宋体" panose="02010600030101010101" pitchFamily="2" charset="-122"/>
              </a:rPr>
              <a:t>val_top1</a:t>
            </a:r>
            <a:r>
              <a:rPr lang="en-US" altLang="zh-CN" sz="1400" kern="0" dirty="0">
                <a:solidFill>
                  <a:srgbClr val="333333"/>
                </a:solidFill>
                <a:effectLst/>
                <a:latin typeface="Times New Roman" panose="02020603050405020304" pitchFamily="18" charset="0"/>
                <a:ea typeface="宋体" panose="02010600030101010101" pitchFamily="2" charset="-122"/>
              </a:rPr>
              <a:t>: 98.46%</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0" dirty="0" err="1">
                <a:solidFill>
                  <a:srgbClr val="333333"/>
                </a:solidFill>
                <a:effectLst/>
                <a:latin typeface="Times New Roman" panose="02020603050405020304" pitchFamily="18" charset="0"/>
                <a:ea typeface="宋体" panose="02010600030101010101" pitchFamily="2" charset="-122"/>
              </a:rPr>
              <a:t>val_loss</a:t>
            </a:r>
            <a:r>
              <a:rPr lang="en-US" altLang="zh-CN" sz="1400" kern="0" dirty="0">
                <a:solidFill>
                  <a:srgbClr val="333333"/>
                </a:solidFill>
                <a:effectLst/>
                <a:latin typeface="Times New Roman" panose="02020603050405020304" pitchFamily="18" charset="0"/>
                <a:ea typeface="宋体" panose="02010600030101010101" pitchFamily="2" charset="-122"/>
              </a:rPr>
              <a:t>: 0.1255</a:t>
            </a:r>
            <a:endParaRPr lang="zh-CN" altLang="zh-CN" sz="11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400" kern="0" dirty="0">
                <a:solidFill>
                  <a:srgbClr val="333333"/>
                </a:solidFill>
                <a:effectLst/>
                <a:latin typeface="Times New Roman" panose="02020603050405020304" pitchFamily="18" charset="0"/>
                <a:ea typeface="宋体" panose="02010600030101010101" pitchFamily="2" charset="-122"/>
              </a:rPr>
              <a:t>第</a:t>
            </a:r>
            <a:r>
              <a:rPr lang="en-US" altLang="zh-CN" sz="1400" kern="0" dirty="0">
                <a:solidFill>
                  <a:srgbClr val="333333"/>
                </a:solidFill>
                <a:effectLst/>
                <a:latin typeface="Times New Roman" panose="02020603050405020304" pitchFamily="18" charset="0"/>
                <a:ea typeface="宋体" panose="02010600030101010101" pitchFamily="2" charset="-122"/>
              </a:rPr>
              <a:t> 9 </a:t>
            </a:r>
            <a:r>
              <a:rPr lang="zh-CN" altLang="zh-CN" sz="1400" kern="0" dirty="0">
                <a:solidFill>
                  <a:srgbClr val="333333"/>
                </a:solidFill>
                <a:effectLst/>
                <a:latin typeface="Times New Roman" panose="02020603050405020304" pitchFamily="18" charset="0"/>
                <a:ea typeface="宋体" panose="02010600030101010101" pitchFamily="2" charset="-122"/>
              </a:rPr>
              <a:t>轮之后，训练集准确率继续上升到接近</a:t>
            </a:r>
            <a:r>
              <a:rPr lang="en-US" altLang="zh-CN" sz="1400" kern="0" dirty="0">
                <a:solidFill>
                  <a:srgbClr val="333333"/>
                </a:solidFill>
                <a:effectLst/>
                <a:latin typeface="Times New Roman" panose="02020603050405020304" pitchFamily="18" charset="0"/>
                <a:ea typeface="宋体" panose="02010600030101010101" pitchFamily="2" charset="-122"/>
              </a:rPr>
              <a:t> 99%</a:t>
            </a:r>
            <a:r>
              <a:rPr lang="zh-CN" altLang="zh-CN" sz="1400" kern="0" dirty="0">
                <a:solidFill>
                  <a:srgbClr val="333333"/>
                </a:solidFill>
                <a:effectLst/>
                <a:latin typeface="Times New Roman" panose="02020603050405020304" pitchFamily="18" charset="0"/>
                <a:ea typeface="宋体" panose="02010600030101010101" pitchFamily="2" charset="-122"/>
              </a:rPr>
              <a:t>，但验证集准确率从</a:t>
            </a:r>
            <a:r>
              <a:rPr lang="en-US" altLang="zh-CN" sz="1400" kern="0" dirty="0">
                <a:solidFill>
                  <a:srgbClr val="333333"/>
                </a:solidFill>
                <a:effectLst/>
                <a:latin typeface="Times New Roman" panose="02020603050405020304" pitchFamily="18" charset="0"/>
                <a:ea typeface="宋体" panose="02010600030101010101" pitchFamily="2" charset="-122"/>
              </a:rPr>
              <a:t> 98.46% </a:t>
            </a:r>
            <a:r>
              <a:rPr lang="zh-CN" altLang="zh-CN" sz="1400" kern="0" dirty="0">
                <a:solidFill>
                  <a:srgbClr val="333333"/>
                </a:solidFill>
                <a:effectLst/>
                <a:latin typeface="Times New Roman" panose="02020603050405020304" pitchFamily="18" charset="0"/>
                <a:ea typeface="宋体" panose="02010600030101010101" pitchFamily="2" charset="-122"/>
              </a:rPr>
              <a:t>回落到</a:t>
            </a:r>
            <a:r>
              <a:rPr lang="en-US" altLang="zh-CN" sz="1400" kern="0" dirty="0">
                <a:solidFill>
                  <a:srgbClr val="333333"/>
                </a:solidFill>
                <a:effectLst/>
                <a:latin typeface="Times New Roman" panose="02020603050405020304" pitchFamily="18" charset="0"/>
                <a:ea typeface="宋体" panose="02010600030101010101" pitchFamily="2" charset="-122"/>
              </a:rPr>
              <a:t> 96.30% / 92.90% / 96.91% </a:t>
            </a:r>
            <a:r>
              <a:rPr lang="zh-CN" altLang="zh-CN" sz="1400" kern="0" dirty="0">
                <a:solidFill>
                  <a:srgbClr val="333333"/>
                </a:solidFill>
                <a:effectLst/>
                <a:latin typeface="Times New Roman" panose="02020603050405020304" pitchFamily="18" charset="0"/>
                <a:ea typeface="宋体" panose="02010600030101010101" pitchFamily="2" charset="-122"/>
              </a:rPr>
              <a:t>附近波动。这说明</a:t>
            </a:r>
            <a:r>
              <a:rPr lang="en-US" altLang="zh-CN" sz="1400" kern="0" dirty="0">
                <a:solidFill>
                  <a:srgbClr val="333333"/>
                </a:solidFill>
                <a:effectLst/>
                <a:latin typeface="Times New Roman" panose="02020603050405020304" pitchFamily="18" charset="0"/>
                <a:ea typeface="宋体" panose="02010600030101010101" pitchFamily="2" charset="-122"/>
              </a:rPr>
              <a:t> </a:t>
            </a:r>
            <a:r>
              <a:rPr lang="en-US" altLang="zh-CN" sz="1400" kern="0" dirty="0" err="1">
                <a:solidFill>
                  <a:srgbClr val="333333"/>
                </a:solidFill>
                <a:effectLst/>
                <a:latin typeface="Times New Roman" panose="02020603050405020304" pitchFamily="18" charset="0"/>
                <a:ea typeface="宋体" panose="02010600030101010101" pitchFamily="2" charset="-122"/>
              </a:rPr>
              <a:t>CSWin</a:t>
            </a:r>
            <a:r>
              <a:rPr lang="en-US" altLang="zh-CN" sz="1400" kern="0" dirty="0">
                <a:solidFill>
                  <a:srgbClr val="333333"/>
                </a:solidFill>
                <a:effectLst/>
                <a:latin typeface="Times New Roman" panose="02020603050405020304" pitchFamily="18" charset="0"/>
                <a:ea typeface="宋体" panose="02010600030101010101" pitchFamily="2" charset="-122"/>
              </a:rPr>
              <a:t> </a:t>
            </a:r>
            <a:r>
              <a:rPr lang="zh-CN" altLang="zh-CN" sz="1400" kern="0" dirty="0">
                <a:solidFill>
                  <a:srgbClr val="333333"/>
                </a:solidFill>
                <a:effectLst/>
                <a:latin typeface="Times New Roman" panose="02020603050405020304" pitchFamily="18" charset="0"/>
                <a:ea typeface="宋体" panose="02010600030101010101" pitchFamily="2" charset="-122"/>
              </a:rPr>
              <a:t>在后期已经开始出现过拟合趋势，模型继续适应训练集，但泛化性能没有继续稳定提升。</a:t>
            </a:r>
            <a:endParaRPr lang="zh-CN" altLang="zh-CN" sz="11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48628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DF8D3F6D-6A2F-1913-0E1C-F9B81FF143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6350"/>
            <a:ext cx="9031664" cy="2749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6D1E2CA8-8E53-24FF-DF4A-6BE9BD9B8672}"/>
              </a:ext>
            </a:extLst>
          </p:cNvPr>
          <p:cNvSpPr txBox="1"/>
          <p:nvPr/>
        </p:nvSpPr>
        <p:spPr>
          <a:xfrm>
            <a:off x="1193629" y="3057280"/>
            <a:ext cx="6281130" cy="2959977"/>
          </a:xfrm>
          <a:prstGeom prst="rect">
            <a:avLst/>
          </a:prstGeom>
          <a:noFill/>
        </p:spPr>
        <p:txBody>
          <a:bodyPr wrap="square">
            <a:spAutoFit/>
          </a:bodyPr>
          <a:lstStyle/>
          <a:p>
            <a:pPr indent="266700" algn="just">
              <a:lnSpc>
                <a:spcPct val="150000"/>
              </a:lnSpc>
              <a:buNone/>
            </a:pPr>
            <a:r>
              <a:rPr lang="en-US" altLang="zh-CN" sz="1400" kern="100" dirty="0">
                <a:effectLst/>
                <a:latin typeface="Times New Roman" panose="02020603050405020304" pitchFamily="18" charset="0"/>
                <a:ea typeface="宋体" panose="02010600030101010101" pitchFamily="2" charset="-122"/>
              </a:rPr>
              <a:t>Swin </a:t>
            </a:r>
            <a:r>
              <a:rPr lang="zh-CN" altLang="zh-CN" sz="1400" kern="100" dirty="0">
                <a:effectLst/>
                <a:latin typeface="Times New Roman" panose="02020603050405020304" pitchFamily="18" charset="0"/>
                <a:ea typeface="宋体" panose="02010600030101010101" pitchFamily="2" charset="-122"/>
              </a:rPr>
              <a:t>的冻结阶段起点更高，第</a:t>
            </a:r>
            <a:r>
              <a:rPr lang="en-US" altLang="zh-CN" sz="1400" kern="100" dirty="0">
                <a:effectLst/>
                <a:latin typeface="Times New Roman" panose="02020603050405020304" pitchFamily="18" charset="0"/>
                <a:ea typeface="宋体" panose="02010600030101010101" pitchFamily="2" charset="-122"/>
              </a:rPr>
              <a:t> 1 </a:t>
            </a:r>
            <a:r>
              <a:rPr lang="zh-CN" altLang="zh-CN" sz="1400" kern="100" dirty="0">
                <a:effectLst/>
                <a:latin typeface="Times New Roman" panose="02020603050405020304" pitchFamily="18" charset="0"/>
                <a:ea typeface="宋体" panose="02010600030101010101" pitchFamily="2" charset="-122"/>
              </a:rPr>
              <a:t>轮验证准确率已经达到</a:t>
            </a:r>
            <a:r>
              <a:rPr lang="en-US" altLang="zh-CN" sz="1400" kern="100" dirty="0">
                <a:effectLst/>
                <a:latin typeface="Times New Roman" panose="02020603050405020304" pitchFamily="18" charset="0"/>
                <a:ea typeface="宋体" panose="02010600030101010101" pitchFamily="2" charset="-122"/>
              </a:rPr>
              <a:t> 90.12%</a:t>
            </a:r>
            <a:r>
              <a:rPr lang="zh-CN" altLang="zh-CN" sz="1400" kern="100" dirty="0">
                <a:effectLst/>
                <a:latin typeface="Times New Roman" panose="02020603050405020304" pitchFamily="18" charset="0"/>
                <a:ea typeface="宋体" panose="02010600030101010101" pitchFamily="2" charset="-122"/>
              </a:rPr>
              <a:t>，第</a:t>
            </a:r>
            <a:r>
              <a:rPr lang="en-US" altLang="zh-CN" sz="1400" kern="100" dirty="0">
                <a:effectLst/>
                <a:latin typeface="Times New Roman" panose="02020603050405020304" pitchFamily="18" charset="0"/>
                <a:ea typeface="宋体" panose="02010600030101010101" pitchFamily="2" charset="-122"/>
              </a:rPr>
              <a:t> 5 </a:t>
            </a:r>
            <a:r>
              <a:rPr lang="zh-CN" altLang="zh-CN" sz="1400" kern="100" dirty="0">
                <a:effectLst/>
                <a:latin typeface="Times New Roman" panose="02020603050405020304" pitchFamily="18" charset="0"/>
                <a:ea typeface="宋体" panose="02010600030101010101" pitchFamily="2" charset="-122"/>
              </a:rPr>
              <a:t>轮达到</a:t>
            </a:r>
            <a:r>
              <a:rPr lang="en-US" altLang="zh-CN" sz="1400" kern="100" dirty="0">
                <a:effectLst/>
                <a:latin typeface="Times New Roman" panose="02020603050405020304" pitchFamily="18" charset="0"/>
                <a:ea typeface="宋体" panose="02010600030101010101" pitchFamily="2" charset="-122"/>
              </a:rPr>
              <a:t> 93.52%</a:t>
            </a:r>
            <a:r>
              <a:rPr lang="zh-CN" altLang="zh-CN" sz="1400" kern="100" dirty="0">
                <a:effectLst/>
                <a:latin typeface="Times New Roman" panose="02020603050405020304" pitchFamily="18" charset="0"/>
                <a:ea typeface="宋体" panose="02010600030101010101" pitchFamily="2" charset="-122"/>
              </a:rPr>
              <a:t>。全模型微调后最高达到：</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100" dirty="0">
                <a:effectLst/>
                <a:latin typeface="Times New Roman" panose="02020603050405020304" pitchFamily="18" charset="0"/>
                <a:ea typeface="宋体" panose="02010600030101010101" pitchFamily="2" charset="-122"/>
              </a:rPr>
              <a:t>Swin best epoch</a:t>
            </a:r>
            <a:r>
              <a:rPr lang="en-US" altLang="zh-CN" sz="1400" kern="100" dirty="0">
                <a:effectLst/>
                <a:latin typeface="Times New Roman" panose="02020603050405020304" pitchFamily="18" charset="0"/>
                <a:ea typeface="宋体" panose="02010600030101010101" pitchFamily="2" charset="-122"/>
              </a:rPr>
              <a:t>: 10</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100" dirty="0">
                <a:effectLst/>
                <a:latin typeface="Times New Roman" panose="02020603050405020304" pitchFamily="18" charset="0"/>
                <a:ea typeface="宋体" panose="02010600030101010101" pitchFamily="2" charset="-122"/>
              </a:rPr>
              <a:t>train_top1</a:t>
            </a:r>
            <a:r>
              <a:rPr lang="en-US" altLang="zh-CN" sz="1400" kern="100" dirty="0">
                <a:effectLst/>
                <a:latin typeface="Times New Roman" panose="02020603050405020304" pitchFamily="18" charset="0"/>
                <a:ea typeface="宋体" panose="02010600030101010101" pitchFamily="2" charset="-122"/>
              </a:rPr>
              <a:t>: 100.00%</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100" dirty="0">
                <a:effectLst/>
                <a:latin typeface="Times New Roman" panose="02020603050405020304" pitchFamily="18" charset="0"/>
                <a:ea typeface="宋体" panose="02010600030101010101" pitchFamily="2" charset="-122"/>
              </a:rPr>
              <a:t>val_top1</a:t>
            </a:r>
            <a:r>
              <a:rPr lang="en-US" altLang="zh-CN" sz="1400" kern="100" dirty="0">
                <a:effectLst/>
                <a:latin typeface="Times New Roman" panose="02020603050405020304" pitchFamily="18" charset="0"/>
                <a:ea typeface="宋体" panose="02010600030101010101" pitchFamily="2" charset="-122"/>
              </a:rPr>
              <a:t>: 96.91%</a:t>
            </a:r>
            <a:endParaRPr lang="zh-CN" altLang="zh-CN" sz="1100" kern="100" dirty="0">
              <a:effectLst/>
              <a:latin typeface="Times New Roman" panose="02020603050405020304" pitchFamily="18" charset="0"/>
              <a:ea typeface="宋体" panose="02010600030101010101" pitchFamily="2" charset="-122"/>
            </a:endParaRPr>
          </a:p>
          <a:p>
            <a:pPr algn="ctr">
              <a:lnSpc>
                <a:spcPct val="150000"/>
              </a:lnSpc>
              <a:buNone/>
            </a:pPr>
            <a:r>
              <a:rPr lang="en-US" altLang="zh-CN" sz="1400" b="1" kern="100" dirty="0" err="1">
                <a:effectLst/>
                <a:latin typeface="Times New Roman" panose="02020603050405020304" pitchFamily="18" charset="0"/>
                <a:ea typeface="宋体" panose="02010600030101010101" pitchFamily="2" charset="-122"/>
              </a:rPr>
              <a:t>val_loss</a:t>
            </a:r>
            <a:r>
              <a:rPr lang="en-US" altLang="zh-CN" sz="1400" kern="100" dirty="0">
                <a:effectLst/>
                <a:latin typeface="Times New Roman" panose="02020603050405020304" pitchFamily="18" charset="0"/>
                <a:ea typeface="宋体" panose="02010600030101010101" pitchFamily="2" charset="-122"/>
              </a:rPr>
              <a:t>: 0.1697</a:t>
            </a:r>
            <a:endParaRPr lang="zh-CN" altLang="zh-CN" sz="11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en-US" altLang="zh-CN" sz="1400" kern="100" dirty="0">
                <a:effectLst/>
                <a:latin typeface="Times New Roman" panose="02020603050405020304" pitchFamily="18" charset="0"/>
                <a:ea typeface="宋体" panose="02010600030101010101" pitchFamily="2" charset="-122"/>
              </a:rPr>
              <a:t>Swin </a:t>
            </a:r>
            <a:r>
              <a:rPr lang="zh-CN" altLang="zh-CN" sz="1400" kern="100" dirty="0">
                <a:effectLst/>
                <a:latin typeface="Times New Roman" panose="02020603050405020304" pitchFamily="18" charset="0"/>
                <a:ea typeface="宋体" panose="02010600030101010101" pitchFamily="2" charset="-122"/>
              </a:rPr>
              <a:t>的训练集准确率更快接近</a:t>
            </a:r>
            <a:r>
              <a:rPr lang="en-US" altLang="zh-CN" sz="1400" kern="100" dirty="0">
                <a:effectLst/>
                <a:latin typeface="Times New Roman" panose="02020603050405020304" pitchFamily="18" charset="0"/>
                <a:ea typeface="宋体" panose="02010600030101010101" pitchFamily="2" charset="-122"/>
              </a:rPr>
              <a:t> 100%</a:t>
            </a:r>
            <a:r>
              <a:rPr lang="zh-CN" altLang="zh-CN" sz="1400" kern="100" dirty="0">
                <a:effectLst/>
                <a:latin typeface="Times New Roman" panose="02020603050405020304" pitchFamily="18" charset="0"/>
                <a:ea typeface="宋体" panose="02010600030101010101" pitchFamily="2" charset="-122"/>
              </a:rPr>
              <a:t>，但验证集最高低于</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CSWin</a:t>
            </a:r>
            <a:r>
              <a:rPr lang="zh-CN" altLang="zh-CN" sz="1400" kern="100" dirty="0">
                <a:effectLst/>
                <a:latin typeface="Times New Roman" panose="02020603050405020304" pitchFamily="18" charset="0"/>
                <a:ea typeface="宋体" panose="02010600030101010101" pitchFamily="2" charset="-122"/>
              </a:rPr>
              <a:t>，并且第</a:t>
            </a:r>
            <a:r>
              <a:rPr lang="en-US" altLang="zh-CN" sz="1400" kern="100" dirty="0">
                <a:effectLst/>
                <a:latin typeface="Times New Roman" panose="02020603050405020304" pitchFamily="18" charset="0"/>
                <a:ea typeface="宋体" panose="02010600030101010101" pitchFamily="2" charset="-122"/>
              </a:rPr>
              <a:t> 7</a:t>
            </a:r>
            <a:r>
              <a:rPr lang="zh-CN" altLang="zh-CN" sz="1400" kern="100" dirty="0">
                <a:effectLst/>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12 </a:t>
            </a:r>
            <a:r>
              <a:rPr lang="zh-CN" altLang="zh-CN" sz="1400" kern="100" dirty="0">
                <a:effectLst/>
                <a:latin typeface="Times New Roman" panose="02020603050405020304" pitchFamily="18" charset="0"/>
                <a:ea typeface="宋体" panose="02010600030101010101" pitchFamily="2" charset="-122"/>
              </a:rPr>
              <a:t>轮出现明显波动。这说明</a:t>
            </a:r>
            <a:r>
              <a:rPr lang="en-US" altLang="zh-CN" sz="1400" kern="100" dirty="0">
                <a:effectLst/>
                <a:latin typeface="Times New Roman" panose="02020603050405020304" pitchFamily="18" charset="0"/>
                <a:ea typeface="宋体" panose="02010600030101010101" pitchFamily="2" charset="-122"/>
              </a:rPr>
              <a:t> Swin </a:t>
            </a:r>
            <a:r>
              <a:rPr lang="zh-CN" altLang="zh-CN" sz="1400" kern="100" dirty="0">
                <a:effectLst/>
                <a:latin typeface="Times New Roman" panose="02020603050405020304" pitchFamily="18" charset="0"/>
                <a:ea typeface="宋体" panose="02010600030101010101" pitchFamily="2" charset="-122"/>
              </a:rPr>
              <a:t>对训练集拟合能力很强，但在这个小数据集上泛化略弱，过拟合现象比</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CSWin</a:t>
            </a:r>
            <a:r>
              <a:rPr lang="en-US" altLang="zh-CN" sz="1400" kern="100" dirty="0">
                <a:effectLst/>
                <a:latin typeface="Times New Roman" panose="02020603050405020304" pitchFamily="18" charset="0"/>
                <a:ea typeface="宋体" panose="02010600030101010101" pitchFamily="2" charset="-122"/>
              </a:rPr>
              <a:t> </a:t>
            </a:r>
            <a:r>
              <a:rPr lang="zh-CN" altLang="zh-CN" sz="1400" kern="100" dirty="0">
                <a:effectLst/>
                <a:latin typeface="Times New Roman" panose="02020603050405020304" pitchFamily="18" charset="0"/>
                <a:ea typeface="宋体" panose="02010600030101010101" pitchFamily="2" charset="-122"/>
              </a:rPr>
              <a:t>更明显。</a:t>
            </a:r>
            <a:endParaRPr lang="zh-CN" altLang="zh-CN" sz="11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462677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a:extLst>
              <a:ext uri="{FF2B5EF4-FFF2-40B4-BE49-F238E27FC236}">
                <a16:creationId xmlns:a16="http://schemas.microsoft.com/office/drawing/2014/main" id="{459D025C-16E7-1DEA-AB42-2383671B3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5276850" cy="22860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988A9C82-D1D6-8868-0230-72CC8A3A8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5276850" cy="2413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图片 1">
            <a:extLst>
              <a:ext uri="{FF2B5EF4-FFF2-40B4-BE49-F238E27FC236}">
                <a16:creationId xmlns:a16="http://schemas.microsoft.com/office/drawing/2014/main" id="{75CDFD67-8081-CED3-9742-1F4593033A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841500"/>
            <a:ext cx="5276850" cy="2159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4A66FA4E-316D-83A5-D845-6681307EFA4C}"/>
              </a:ext>
            </a:extLst>
          </p:cNvPr>
          <p:cNvSpPr>
            <a:spLocks noChangeArrowheads="1"/>
          </p:cNvSpPr>
          <p:nvPr/>
        </p:nvSpPr>
        <p:spPr bwMode="auto">
          <a:xfrm>
            <a:off x="0" y="90100"/>
            <a:ext cx="22878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1" i="0" u="none" strike="noStrike" cap="none" normalizeH="0" baseline="0" dirty="0" err="1">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SwinTransformer</a:t>
            </a:r>
            <a:r>
              <a:rPr kumimoji="0" lang="zh-CN" altLang="en-US" sz="1200" b="1"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的评测结果：</a:t>
            </a:r>
            <a:endParaRPr kumimoji="0" lang="zh-CN" altLang="en-US" sz="400" b="0" i="0" u="none" strike="noStrike" cap="none" normalizeH="0" baseline="0" dirty="0">
              <a:ln>
                <a:noFill/>
              </a:ln>
              <a:solidFill>
                <a:schemeClr val="tx1"/>
              </a:solidFill>
              <a:effectLst/>
            </a:endParaRPr>
          </a:p>
        </p:txBody>
      </p:sp>
      <p:sp>
        <p:nvSpPr>
          <p:cNvPr id="3" name="Rectangle 5">
            <a:extLst>
              <a:ext uri="{FF2B5EF4-FFF2-40B4-BE49-F238E27FC236}">
                <a16:creationId xmlns:a16="http://schemas.microsoft.com/office/drawing/2014/main" id="{A7B9CA71-40D0-E3B8-11FE-41DCED4CE2FB}"/>
              </a:ext>
            </a:extLst>
          </p:cNvPr>
          <p:cNvSpPr>
            <a:spLocks noChangeArrowheads="1"/>
          </p:cNvSpPr>
          <p:nvPr/>
        </p:nvSpPr>
        <p:spPr bwMode="auto">
          <a:xfrm>
            <a:off x="0" y="775900"/>
            <a:ext cx="23294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1" i="0" u="none" strike="noStrike" cap="none" normalizeH="0" baseline="0" dirty="0" err="1">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CSwinTransfomer</a:t>
            </a:r>
            <a:r>
              <a:rPr kumimoji="0" lang="zh-CN" altLang="en-US" sz="1200" b="1"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的评测结果：</a:t>
            </a:r>
            <a:endParaRPr kumimoji="0" lang="zh-CN" altLang="en-US" sz="400" b="0" i="0" u="none" strike="noStrike" cap="none" normalizeH="0" baseline="0" dirty="0">
              <a:ln>
                <a:noFill/>
              </a:ln>
              <a:solidFill>
                <a:schemeClr val="tx1"/>
              </a:solidFill>
              <a:effectLst/>
            </a:endParaRPr>
          </a:p>
        </p:txBody>
      </p:sp>
      <p:sp>
        <p:nvSpPr>
          <p:cNvPr id="4" name="Rectangle 6">
            <a:extLst>
              <a:ext uri="{FF2B5EF4-FFF2-40B4-BE49-F238E27FC236}">
                <a16:creationId xmlns:a16="http://schemas.microsoft.com/office/drawing/2014/main" id="{1625A932-866C-56CF-58A2-23FF64904810}"/>
              </a:ext>
            </a:extLst>
          </p:cNvPr>
          <p:cNvSpPr>
            <a:spLocks noChangeArrowheads="1"/>
          </p:cNvSpPr>
          <p:nvPr/>
        </p:nvSpPr>
        <p:spPr bwMode="auto">
          <a:xfrm>
            <a:off x="0" y="1474400"/>
            <a:ext cx="19030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Ensemble</a:t>
            </a:r>
            <a:r>
              <a:rPr kumimoji="0" lang="zh-CN" altLang="en-US" sz="1200" b="1"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联合评测结果：</a:t>
            </a:r>
            <a:endParaRPr kumimoji="0" lang="zh-CN" altLang="en-US" sz="400" b="0" i="0" u="none" strike="noStrike" cap="none" normalizeH="0" baseline="0" dirty="0">
              <a:ln>
                <a:noFill/>
              </a:ln>
              <a:solidFill>
                <a:schemeClr val="tx1"/>
              </a:solidFill>
              <a:effectLst/>
            </a:endParaRPr>
          </a:p>
        </p:txBody>
      </p:sp>
      <p:sp>
        <p:nvSpPr>
          <p:cNvPr id="6" name="文本框 5">
            <a:extLst>
              <a:ext uri="{FF2B5EF4-FFF2-40B4-BE49-F238E27FC236}">
                <a16:creationId xmlns:a16="http://schemas.microsoft.com/office/drawing/2014/main" id="{AE70350C-F92F-18B1-4E65-629E1EA4763C}"/>
              </a:ext>
            </a:extLst>
          </p:cNvPr>
          <p:cNvSpPr txBox="1"/>
          <p:nvPr/>
        </p:nvSpPr>
        <p:spPr>
          <a:xfrm>
            <a:off x="0" y="2090028"/>
            <a:ext cx="9144000" cy="4767972"/>
          </a:xfrm>
          <a:prstGeom prst="rect">
            <a:avLst/>
          </a:prstGeom>
          <a:noFill/>
        </p:spPr>
        <p:txBody>
          <a:bodyPr wrap="square">
            <a:spAutoFit/>
          </a:bodyPr>
          <a:lstStyle/>
          <a:p>
            <a:pPr algn="l">
              <a:spcBef>
                <a:spcPts val="1200"/>
              </a:spcBef>
              <a:spcAft>
                <a:spcPts val="600"/>
              </a:spcAft>
              <a:buFont typeface="Arial" panose="020B0604020202020204" pitchFamily="34" charset="0"/>
              <a:buChar char="•"/>
            </a:pPr>
            <a:r>
              <a:rPr lang="zh-CN" altLang="zh-CN" b="1" i="0" dirty="0">
                <a:solidFill>
                  <a:srgbClr val="0F1115"/>
                </a:solidFill>
                <a:effectLst/>
                <a:latin typeface="quote-cjk-patch"/>
              </a:rPr>
              <a:t>CSWin</a:t>
            </a:r>
            <a:endParaRPr lang="zh-CN" altLang="zh-CN"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zh-CN" altLang="zh-CN" b="0" i="0" dirty="0">
                <a:solidFill>
                  <a:srgbClr val="0F1115"/>
                </a:solidFill>
                <a:effectLst/>
                <a:latin typeface="quote-cjk-patch"/>
              </a:rPr>
              <a:t>采用 Cross-Shaped Window Attention（十字交叉窗口注意力）</a:t>
            </a:r>
          </a:p>
          <a:p>
            <a:pPr marL="742950" lvl="1" indent="-285750" algn="l">
              <a:spcBef>
                <a:spcPts val="450"/>
              </a:spcBef>
              <a:spcAft>
                <a:spcPts val="1200"/>
              </a:spcAft>
              <a:buFont typeface="Arial" panose="020B0604020202020204" pitchFamily="34" charset="0"/>
              <a:buChar char="•"/>
            </a:pPr>
            <a:r>
              <a:rPr lang="zh-CN" altLang="zh-CN" b="0" i="0" dirty="0">
                <a:solidFill>
                  <a:srgbClr val="0F1115"/>
                </a:solidFill>
                <a:effectLst/>
                <a:latin typeface="quote-cjk-patch"/>
              </a:rPr>
              <a:t>沿水平和垂直方向捕捉方向性与结构性特征</a:t>
            </a:r>
          </a:p>
          <a:p>
            <a:pPr marL="742950" lvl="1" indent="-285750" algn="l">
              <a:spcBef>
                <a:spcPts val="450"/>
              </a:spcBef>
              <a:spcAft>
                <a:spcPts val="1200"/>
              </a:spcAft>
              <a:buFont typeface="Arial" panose="020B0604020202020204" pitchFamily="34" charset="0"/>
              <a:buChar char="•"/>
            </a:pPr>
            <a:r>
              <a:rPr lang="zh-CN" altLang="zh-CN" b="0" i="0" dirty="0">
                <a:solidFill>
                  <a:srgbClr val="0F1115"/>
                </a:solidFill>
                <a:effectLst/>
                <a:latin typeface="quote-cjk-patch"/>
              </a:rPr>
              <a:t>更适合细粒度猫分类中的局部纹理（毛色、眼睛、耳朵）和中长距离结构（身体轮廓）</a:t>
            </a:r>
          </a:p>
          <a:p>
            <a:pPr algn="l">
              <a:spcBef>
                <a:spcPts val="450"/>
              </a:spcBef>
              <a:spcAft>
                <a:spcPts val="600"/>
              </a:spcAft>
              <a:buFont typeface="Arial" panose="020B0604020202020204" pitchFamily="34" charset="0"/>
              <a:buChar char="•"/>
            </a:pPr>
            <a:r>
              <a:rPr lang="zh-CN" altLang="zh-CN" b="1" i="0" dirty="0">
                <a:solidFill>
                  <a:srgbClr val="0F1115"/>
                </a:solidFill>
                <a:effectLst/>
                <a:latin typeface="quote-cjk-patch"/>
              </a:rPr>
              <a:t>Swin-Large</a:t>
            </a:r>
            <a:endParaRPr lang="zh-CN" altLang="zh-CN"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zh-CN" altLang="zh-CN" b="0" i="0" dirty="0">
                <a:solidFill>
                  <a:srgbClr val="0F1115"/>
                </a:solidFill>
                <a:effectLst/>
                <a:latin typeface="quote-cjk-patch"/>
              </a:rPr>
              <a:t>使用 shifted window attention，从局部窗口逐步扩展信息交互</a:t>
            </a:r>
          </a:p>
          <a:p>
            <a:pPr marL="742950" lvl="1" indent="-285750" algn="l">
              <a:spcBef>
                <a:spcPts val="450"/>
              </a:spcBef>
              <a:spcAft>
                <a:spcPts val="1200"/>
              </a:spcAft>
              <a:buFont typeface="Arial" panose="020B0604020202020204" pitchFamily="34" charset="0"/>
              <a:buChar char="•"/>
            </a:pPr>
            <a:r>
              <a:rPr lang="zh-CN" altLang="zh-CN" b="0" i="0" dirty="0">
                <a:solidFill>
                  <a:srgbClr val="0F1115"/>
                </a:solidFill>
                <a:effectLst/>
                <a:latin typeface="quote-cjk-patch"/>
              </a:rPr>
              <a:t>层次化结构强，但对跨区域细粒度差异捕捉能力略弱</a:t>
            </a:r>
          </a:p>
          <a:p>
            <a:pPr marL="742950" lvl="1" indent="-285750" algn="l">
              <a:spcBef>
                <a:spcPts val="450"/>
              </a:spcBef>
              <a:spcAft>
                <a:spcPts val="1200"/>
              </a:spcAft>
              <a:buFont typeface="Arial" panose="020B0604020202020204" pitchFamily="34" charset="0"/>
              <a:buChar char="•"/>
            </a:pPr>
            <a:r>
              <a:rPr lang="zh-CN" altLang="zh-CN" b="0" i="0" dirty="0">
                <a:solidFill>
                  <a:srgbClr val="0F1115"/>
                </a:solidFill>
                <a:effectLst/>
                <a:latin typeface="quote-cjk-patch"/>
              </a:rPr>
              <a:t>在小数据集上易过拟合，训练准确率接近100%，验证集波动较大</a:t>
            </a:r>
          </a:p>
          <a:p>
            <a:pPr algn="l">
              <a:spcBef>
                <a:spcPts val="450"/>
              </a:spcBef>
              <a:spcAft>
                <a:spcPts val="600"/>
              </a:spcAft>
              <a:buFont typeface="Arial" panose="020B0604020202020204" pitchFamily="34" charset="0"/>
              <a:buChar char="•"/>
            </a:pPr>
            <a:r>
              <a:rPr lang="zh-CN" altLang="zh-CN" b="1" i="0" dirty="0">
                <a:solidFill>
                  <a:srgbClr val="0F1115"/>
                </a:solidFill>
                <a:effectLst/>
                <a:latin typeface="quote-cjk-patch"/>
              </a:rPr>
              <a:t>模型融合（Ensemble）</a:t>
            </a:r>
            <a:endParaRPr lang="zh-CN" altLang="zh-CN"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zh-CN" altLang="zh-CN" b="0" i="0" dirty="0">
                <a:solidFill>
                  <a:srgbClr val="0F1115"/>
                </a:solidFill>
                <a:effectLst/>
                <a:latin typeface="quote-cjk-patch"/>
              </a:rPr>
              <a:t>两模型结构互补：CSWin擅长全局结构方向，Swin专注局部特征</a:t>
            </a:r>
          </a:p>
          <a:p>
            <a:pPr marL="742950" lvl="1" indent="-285750" algn="l">
              <a:spcBef>
                <a:spcPts val="450"/>
              </a:spcBef>
              <a:spcAft>
                <a:spcPts val="1200"/>
              </a:spcAft>
              <a:buFont typeface="Arial" panose="020B0604020202020204" pitchFamily="34" charset="0"/>
              <a:buChar char="•"/>
            </a:pPr>
            <a:r>
              <a:rPr lang="zh-CN" altLang="zh-CN" b="0" i="0" dirty="0">
                <a:solidFill>
                  <a:srgbClr val="0F1115"/>
                </a:solidFill>
                <a:effectLst/>
                <a:latin typeface="quote-cjk-patch"/>
              </a:rPr>
              <a:t>通过 logits 平均降低单模型高置信度错误，提升泛化稳定性</a:t>
            </a:r>
          </a:p>
          <a:p>
            <a:pPr marL="742950" lvl="1" indent="-285750" algn="l">
              <a:spcBef>
                <a:spcPts val="450"/>
              </a:spcBef>
              <a:spcAft>
                <a:spcPts val="1200"/>
              </a:spcAft>
              <a:buFont typeface="Arial" panose="020B0604020202020204" pitchFamily="34" charset="0"/>
              <a:buChar char="•"/>
            </a:pPr>
            <a:r>
              <a:rPr lang="zh-CN" altLang="zh-CN" b="0" i="0" dirty="0">
                <a:solidFill>
                  <a:srgbClr val="0F1115"/>
                </a:solidFill>
                <a:effectLst/>
                <a:latin typeface="quote-cjk-patch"/>
              </a:rPr>
              <a:t>最终融合结果在验证集上得分最高</a:t>
            </a:r>
          </a:p>
        </p:txBody>
      </p:sp>
    </p:spTree>
    <p:extLst>
      <p:ext uri="{BB962C8B-B14F-4D97-AF65-F5344CB8AC3E}">
        <p14:creationId xmlns:p14="http://schemas.microsoft.com/office/powerpoint/2010/main" val="2626103881"/>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783</TotalTime>
  <Words>812</Words>
  <Application>Microsoft Office PowerPoint</Application>
  <PresentationFormat>全屏显示(4:3)</PresentationFormat>
  <Paragraphs>135</Paragraphs>
  <Slides>14</Slides>
  <Notes>10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14</vt:i4>
      </vt:variant>
    </vt:vector>
  </HeadingPairs>
  <TitlesOfParts>
    <vt:vector size="21" baseType="lpstr">
      <vt:lpstr>Noto Sans SC</vt:lpstr>
      <vt:lpstr>quote-cjk-patch</vt:lpstr>
      <vt:lpstr>微软雅黑</vt:lpstr>
      <vt:lpstr>Arial</vt:lpstr>
      <vt:lpstr>Times New Roman</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8618156016239</cp:lastModifiedBy>
  <cp:revision>9</cp:revision>
  <dcterms:modified xsi:type="dcterms:W3CDTF">2026-06-16T13:07:33Z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{"Label":"1","ContentProducer":"001191110102MACQD9K64010000","ProduceID":"7649790971083050205","ReservedCode1":"","ContentPropagator":"","PropagateID":"","ReservedCode2":""}</vt:lpwstr>
  </property>
</Properties>
</file>