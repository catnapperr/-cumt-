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232" y="1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8687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我汇报的内容是基于MacBERT预训练模型的THUCNews新闻标题分类实验报告。本次实验是我们在大数据综合实践课程中完成的一个完整的文本分类项目，从数据处理到模型调优再到半监督学习，涵盖了NLP文本分类的完整技术流程。</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报告将从七个方面展开。首先介绍实验背景和整体概要，然后讲解模型架构设计，接着是数据预处理与分析工作，再进入核心的MacBERT参数调优环节，之后展示单模型的训练与验证结果，在此基础上介绍伪标签训练方法及其效果，最后总结实验结论和心得体会。</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实验基于THUCNews数据集，该数据集源自新浪新闻2005到2011年间的历史数据，总共包含74万篇新闻文档，整理出14个候选分类类别。其中训练集有75万多条样本，测试集有8万3千多条。我们的目标就是利用预训练语言模型MacBERT，对新闻标题进行准确的14分类。整个实验流程分为四个阶段：数据预处理与分析、模型架构设计、参数调优，以及伪标签训练。经过多轮优化，最终在测试集上取得了90%的准确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在模型架构方面，我们选用了哈工大讯飞联合实验室提出的MacBERT预训练模型。它在BERT的基础上做了两项重要改进：一是Whole Word Masking，也就是对完整的汉语词汇进行掩码，迫使模型预测整个词汇而非子词，从而获得更强的语义理解能力；二是MLM校正，在预训练时使用近义词替换被掩码词，而不是使用MASK标记，这样缩小了预训练与微调之间的差异。在分类头设计上，我们采用了last_hidden_state中CLS位置的向量作为分类特征，经过Dropout正则化后通过一个全连接层映射到14个类别。这样做是为了保留更多的原始上下文信息。</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数据预处理阶段，我们首先对数据进行了全面的统计分析。训练集涵盖14个类别，但分布极不均衡——科技类占将近百分之二十，而星座类仅占百分之零点四三，最大类和最小类的差距达到了45倍之多。标题长度方面，平均每条约19个字符，主要集中在10到30个字符之间，我们将最大序列长度设为64即可覆盖全部样本。另外，通过分析我们还发现训练集和测试集之间存在一定的分布差异，例如测试集中佳能、索尼、留学等词的出现频率显著高于训练集，这为后续的伪标签训练埋下了伏笔。</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参数调优环节，我们经过多轮对比实验确定了最佳超参数组合。最值得分享的几个发现是：第一，初期我们采用了分层学习率策略，给BERT主体设置较低的学习率，但发现这样实际上冻结了预训练模型的表示能力，改用统一的2e-5学习率后效果反而更好。第二，我们曾同时叠加了Focal Loss、类别权重、标签平滑等多种策略来应对类别不平衡，结果准确率反而下降，回归最基础的交叉熵损失函数反而取得最佳效果，这让我们深刻体会到做减法有时比做加法更重要。最终模型在验证集上达到了95.72%的准确率和95.16%的Macro F1。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图展示了完整的训练过程。模型共训练了5个轮次，在第3轮触发了早停机制。从Step级别的Loss曲线可以清晰地看到，第1轮Loss从2.75快速下降到0.42，模型快速收敛。第2轮进入精细调优阶段，Loss降至0.15左右。第3轮验证集Loss达到最低值0.1339，被确定为我们保存的最佳模型。到了第4和第5轮，训练Loss虽然继续下降，但验证Loss开始回升，这是典型的过拟合信号，早停机制及时终止了训练。</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是模型在验证集上的混淆矩阵和各类别详细性能。表现最好的是体育类，F1分数高达0.9915，这是因为体育新闻标题中包含大量独特的球队名称和赛事术语，区分度极高。表现较弱的是游戏类和财经类，主要原因是游戏与科技、财经与股票之间存在语义重叠。值得注意的是，星座类虽然只有322条验证样本，但召回率高达99%，说明模型对语言模式独特的类别识别得非常准确。主要的混淆集中在财经与股票、科技与游戏、社会与时政这几对类别之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完成单模型训练后，我们发现测试集上的表现和验证集还有较大差距，这主要是由训练集和测试集之间的分布偏移造成的。为了解决这个问题，我们采用了伪标签训练方法。具体思路是用训练好的模型对无标签的测试集进行预测，筛选出置信度高于0.95的高确信样本，将这些样本的预测结果作为伪标签，与原始训练数据合并后重新训练模型。通过这种迭代方式，让模型逐步适应测试集的数据分布。代码实现上，我们使用torch.no_grad进行无梯度推理，按批次处理全部8万多条测试样本，筛选出大约4到5万条高置信度样本。</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经过两轮伪标签迭代，测试集准确率从基线的88.47%提升到了90.0012%。其中第一轮贡献了1.51个百分点的提升，效果非常显著，主要原因是测试集中佳能、索尼、留学等词的出现频率远高于训练集，通过伪标签将这些样本纳入训练有效弥合了分布差异。第二轮只提升了0.02个百分点，边际效益明显递减，说明模型已经基本适应了测试集的分布，新增的有效信息非常有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伪标签训练不仅在测试集上带来了提升，在验证集上的表现也有所改善，整体准确率从95.72%提升到了96.12%。分类别来看，提升最明显的是游戏类，提高了1.37个百分点，这是因为测试集中包含大量游戏类样本，伪标签训练有效改善了游戏与科技类之间的混淆。时政类也提升了1.14个百分点，原因是测试集中时政类的占比高于训练集。而体育和星座类几乎没有提升空间，因为它们本身已经接近99%的准确率。这个规律印证了半监督学习中边际效益递减的特点——中等难度的类别受益最大。</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以上就是本次实验的全部汇报内容，感谢各位老师的耐心聆听，欢迎批评指正。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4572000" cy="6858000"/>
          </a:xfrm>
          <a:prstGeom prst="rect">
            <a:avLst/>
          </a:prstGeom>
          <a:gradFill>
            <a:gsLst>
              <a:gs pos="0">
                <a:srgbClr val="1565C0"/>
              </a:gs>
              <a:gs pos="100000">
                <a:srgbClr val="0D47A1"/>
              </a:gs>
            </a:gsLst>
            <a:lin ang="2700000" scaled="1"/>
          </a:gradFill>
          <a:ln>
            <a:noFill/>
          </a:ln>
        </p:spPr>
      </p:sp>
      <p:sp>
        <p:nvSpPr>
          <p:cNvPr id="4" name="Rectangle 4"/>
          <p:cNvSpPr/>
          <p:nvPr/>
        </p:nvSpPr>
        <p:spPr>
          <a:xfrm>
            <a:off x="381000" y="381000"/>
            <a:ext cx="3810000" cy="9525"/>
          </a:xfrm>
          <a:prstGeom prst="rect">
            <a:avLst/>
          </a:prstGeom>
          <a:solidFill>
            <a:srgbClr val="FFFFFF">
              <a:alpha val="30000"/>
            </a:srgbClr>
          </a:solidFill>
          <a:ln>
            <a:noFill/>
          </a:ln>
        </p:spPr>
      </p:sp>
      <p:sp>
        <p:nvSpPr>
          <p:cNvPr id="5" name="Rectangle 5"/>
          <p:cNvSpPr/>
          <p:nvPr/>
        </p:nvSpPr>
        <p:spPr>
          <a:xfrm>
            <a:off x="381000" y="6467475"/>
            <a:ext cx="3810000" cy="9525"/>
          </a:xfrm>
          <a:prstGeom prst="rect">
            <a:avLst/>
          </a:prstGeom>
          <a:solidFill>
            <a:srgbClr val="FFFFFF">
              <a:alpha val="30000"/>
            </a:srgbClr>
          </a:solidFill>
          <a:ln>
            <a:noFill/>
          </a:ln>
        </p:spPr>
      </p:sp>
      <p:sp>
        <p:nvSpPr>
          <p:cNvPr id="6" name="Ellipse 6"/>
          <p:cNvSpPr/>
          <p:nvPr/>
        </p:nvSpPr>
        <p:spPr>
          <a:xfrm>
            <a:off x="-762000" y="3810000"/>
            <a:ext cx="3810000" cy="3810000"/>
          </a:xfrm>
          <a:prstGeom prst="ellipse">
            <a:avLst/>
          </a:prstGeom>
          <a:solidFill>
            <a:srgbClr val="FFFFFF">
              <a:alpha val="3000"/>
            </a:srgbClr>
          </a:solidFill>
          <a:ln>
            <a:noFill/>
          </a:ln>
        </p:spPr>
      </p:sp>
      <p:sp>
        <p:nvSpPr>
          <p:cNvPr id="7" name="Ellipse 7"/>
          <p:cNvSpPr/>
          <p:nvPr/>
        </p:nvSpPr>
        <p:spPr>
          <a:xfrm>
            <a:off x="571500" y="4857750"/>
            <a:ext cx="2667000" cy="2667000"/>
          </a:xfrm>
          <a:prstGeom prst="ellipse">
            <a:avLst/>
          </a:prstGeom>
          <a:solidFill>
            <a:srgbClr val="FFFFFF">
              <a:alpha val="5000"/>
            </a:srgbClr>
          </a:solidFill>
          <a:ln>
            <a:noFill/>
          </a:ln>
        </p:spPr>
      </p:sp>
      <p:sp>
        <p:nvSpPr>
          <p:cNvPr id="8" name="Line 8"/>
          <p:cNvSpPr/>
          <p:nvPr/>
        </p:nvSpPr>
        <p:spPr>
          <a:xfrm>
            <a:off x="762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9" name="Line 9"/>
          <p:cNvSpPr/>
          <p:nvPr/>
        </p:nvSpPr>
        <p:spPr>
          <a:xfrm>
            <a:off x="1524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10" name="Line 10"/>
          <p:cNvSpPr/>
          <p:nvPr/>
        </p:nvSpPr>
        <p:spPr>
          <a:xfrm>
            <a:off x="2286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11" name="Line 11"/>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12" name="Line 12"/>
          <p:cNvSpPr/>
          <p:nvPr/>
        </p:nvSpPr>
        <p:spPr>
          <a:xfrm>
            <a:off x="3810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13" name="Rectangle 13"/>
          <p:cNvSpPr/>
          <p:nvPr/>
        </p:nvSpPr>
        <p:spPr>
          <a:xfrm>
            <a:off x="571500" y="2667000"/>
            <a:ext cx="38100" cy="1524000"/>
          </a:xfrm>
          <a:prstGeom prst="rect">
            <a:avLst/>
          </a:prstGeom>
          <a:gradFill>
            <a:gsLst>
              <a:gs pos="0">
                <a:srgbClr val="FF6F00"/>
              </a:gs>
              <a:gs pos="100000">
                <a:srgbClr val="FF8F00"/>
              </a:gs>
            </a:gsLst>
            <a:lin ang="5400000" scaled="1"/>
          </a:gradFill>
          <a:ln>
            <a:noFill/>
          </a:ln>
        </p:spPr>
      </p:sp>
      <p:sp>
        <p:nvSpPr>
          <p:cNvPr id="14" name="TextBox 14"/>
          <p:cNvSpPr txBox="1"/>
          <p:nvPr/>
        </p:nvSpPr>
        <p:spPr>
          <a:xfrm rot="-5400000">
            <a:off x="157424" y="2737747"/>
            <a:ext cx="1195816" cy="213360"/>
          </a:xfrm>
          <a:prstGeom prst="rect">
            <a:avLst/>
          </a:prstGeom>
          <a:noFill/>
          <a:ln>
            <a:noFill/>
          </a:ln>
        </p:spPr>
        <p:txBody>
          <a:bodyPr wrap="none" lIns="0" tIns="0" rIns="0" bIns="0" anchor="t" anchorCtr="0">
            <a:spAutoFit/>
          </a:bodyPr>
          <a:lstStyle/>
          <a:p>
            <a:pPr algn="l"/>
            <a:r>
              <a:rPr lang="zh-CN" sz="1050" dirty="0">
                <a:solidFill>
                  <a:srgbClr val="FFFFFF">
                    <a:alphaMod val="50000"/>
                  </a:srgbClr>
                </a:solidFill>
                <a:latin typeface="Arial"/>
                <a:ea typeface="Microsoft YaHei"/>
                <a:cs typeface="Arial"/>
              </a:rPr>
              <a:t>BIG DATA PRACTICE</a:t>
            </a:r>
          </a:p>
        </p:txBody>
      </p:sp>
      <p:sp>
        <p:nvSpPr>
          <p:cNvPr id="15" name="Rectangle 15"/>
          <p:cNvSpPr/>
          <p:nvPr/>
        </p:nvSpPr>
        <p:spPr>
          <a:xfrm>
            <a:off x="5143500" y="1905000"/>
            <a:ext cx="571500" cy="38100"/>
          </a:xfrm>
          <a:prstGeom prst="rect">
            <a:avLst/>
          </a:prstGeom>
          <a:solidFill>
            <a:srgbClr val="FF6F00"/>
          </a:solidFill>
          <a:ln>
            <a:noFill/>
          </a:ln>
        </p:spPr>
      </p:sp>
      <p:sp>
        <p:nvSpPr>
          <p:cNvPr id="16" name="TextBox 16"/>
          <p:cNvSpPr txBox="1"/>
          <p:nvPr/>
        </p:nvSpPr>
        <p:spPr>
          <a:xfrm>
            <a:off x="5128260" y="2204085"/>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课程报告</a:t>
            </a:r>
          </a:p>
        </p:txBody>
      </p:sp>
      <p:sp>
        <p:nvSpPr>
          <p:cNvPr id="17" name="TextBox 17"/>
          <p:cNvSpPr txBox="1"/>
          <p:nvPr/>
        </p:nvSpPr>
        <p:spPr>
          <a:xfrm>
            <a:off x="5083492" y="2537936"/>
            <a:ext cx="6008101" cy="960120"/>
          </a:xfrm>
          <a:prstGeom prst="rect">
            <a:avLst/>
          </a:prstGeom>
          <a:noFill/>
          <a:ln>
            <a:noFill/>
          </a:ln>
        </p:spPr>
        <p:txBody>
          <a:bodyPr wrap="none" lIns="0" tIns="0" rIns="0" bIns="0" anchor="t" anchorCtr="0">
            <a:spAutoFit/>
          </a:bodyPr>
          <a:lstStyle/>
          <a:p>
            <a:pPr algn="l"/>
            <a:r>
              <a:rPr lang="zh-CN" sz="4725" b="1" dirty="0">
                <a:solidFill>
                  <a:srgbClr val="1D1D1F"/>
                </a:solidFill>
                <a:latin typeface="Arial"/>
                <a:ea typeface="Microsoft YaHei"/>
                <a:cs typeface="Arial"/>
              </a:rPr>
              <a:t>THUCNews 新闻标题</a:t>
            </a:r>
          </a:p>
        </p:txBody>
      </p:sp>
      <p:sp>
        <p:nvSpPr>
          <p:cNvPr id="18" name="TextBox 18"/>
          <p:cNvSpPr txBox="1"/>
          <p:nvPr/>
        </p:nvSpPr>
        <p:spPr>
          <a:xfrm>
            <a:off x="5083492" y="3252311"/>
            <a:ext cx="4089511" cy="960120"/>
          </a:xfrm>
          <a:prstGeom prst="rect">
            <a:avLst/>
          </a:prstGeom>
          <a:noFill/>
          <a:ln>
            <a:noFill/>
          </a:ln>
        </p:spPr>
        <p:txBody>
          <a:bodyPr wrap="none" lIns="0" tIns="0" rIns="0" bIns="0" anchor="t" anchorCtr="0">
            <a:spAutoFit/>
          </a:bodyPr>
          <a:lstStyle/>
          <a:p>
            <a:pPr algn="l"/>
            <a:r>
              <a:rPr lang="zh-CN" sz="4725" b="1" dirty="0">
                <a:solidFill>
                  <a:srgbClr val="1D1D1F"/>
                </a:solidFill>
                <a:latin typeface="Arial"/>
                <a:ea typeface="Microsoft YaHei"/>
                <a:cs typeface="Arial"/>
              </a:rPr>
              <a:t>分类实验报告</a:t>
            </a:r>
          </a:p>
        </p:txBody>
      </p:sp>
      <p:sp>
        <p:nvSpPr>
          <p:cNvPr id="19" name="TextBox 19"/>
          <p:cNvSpPr txBox="1"/>
          <p:nvPr/>
        </p:nvSpPr>
        <p:spPr>
          <a:xfrm>
            <a:off x="5122545" y="4155758"/>
            <a:ext cx="3705368" cy="335280"/>
          </a:xfrm>
          <a:prstGeom prst="rect">
            <a:avLst/>
          </a:prstGeom>
          <a:noFill/>
          <a:ln>
            <a:noFill/>
          </a:ln>
        </p:spPr>
        <p:txBody>
          <a:bodyPr wrap="none" lIns="0" tIns="0" rIns="0" bIns="0" anchor="t" anchorCtr="0">
            <a:spAutoFit/>
          </a:bodyPr>
          <a:lstStyle/>
          <a:p>
            <a:pPr algn="l"/>
            <a:r>
              <a:rPr lang="zh-CN" sz="1650" dirty="0">
                <a:solidFill>
                  <a:srgbClr val="6B7280"/>
                </a:solidFill>
                <a:latin typeface="Arial"/>
                <a:ea typeface="Microsoft YaHei"/>
                <a:cs typeface="Arial"/>
              </a:rPr>
              <a:t>基于 MacBERT 预训练模型的文本分类</a:t>
            </a:r>
          </a:p>
        </p:txBody>
      </p:sp>
      <p:sp>
        <p:nvSpPr>
          <p:cNvPr id="20" name="Rectangle 20"/>
          <p:cNvSpPr/>
          <p:nvPr/>
        </p:nvSpPr>
        <p:spPr>
          <a:xfrm>
            <a:off x="5143500" y="4619625"/>
            <a:ext cx="762000" cy="19050"/>
          </a:xfrm>
          <a:prstGeom prst="rect">
            <a:avLst/>
          </a:prstGeom>
          <a:solidFill>
            <a:srgbClr val="1565C0"/>
          </a:solidFill>
          <a:ln>
            <a:noFill/>
          </a:ln>
        </p:spPr>
      </p:sp>
      <p:sp>
        <p:nvSpPr>
          <p:cNvPr id="21" name="TextBox 21"/>
          <p:cNvSpPr txBox="1"/>
          <p:nvPr/>
        </p:nvSpPr>
        <p:spPr>
          <a:xfrm>
            <a:off x="5128260" y="4918710"/>
            <a:ext cx="1950720" cy="243840"/>
          </a:xfrm>
          <a:prstGeom prst="rect">
            <a:avLst/>
          </a:prstGeom>
          <a:noFill/>
          <a:ln>
            <a:noFill/>
          </a:ln>
        </p:spPr>
        <p:txBody>
          <a:bodyPr wrap="none" lIns="0" tIns="0" rIns="0" bIns="0" anchor="t" anchorCtr="0">
            <a:spAutoFit/>
          </a:bodyPr>
          <a:lstStyle/>
          <a:p>
            <a:pPr algn="l"/>
            <a:r>
              <a:rPr lang="zh-CN" sz="1200" dirty="0">
                <a:solidFill>
                  <a:srgbClr val="9CA3AF"/>
                </a:solidFill>
                <a:latin typeface="Arial"/>
                <a:ea typeface="Microsoft YaHei"/>
                <a:cs typeface="Arial"/>
              </a:rPr>
              <a:t>大数据综合实践 · 2026.06</a:t>
            </a:r>
          </a:p>
        </p:txBody>
      </p:sp>
      <p:sp>
        <p:nvSpPr>
          <p:cNvPr id="22" name="Rectangle 22"/>
          <p:cNvSpPr/>
          <p:nvPr/>
        </p:nvSpPr>
        <p:spPr>
          <a:xfrm>
            <a:off x="11239500" y="6477000"/>
            <a:ext cx="571500" cy="28575"/>
          </a:xfrm>
          <a:prstGeom prst="rect">
            <a:avLst/>
          </a:prstGeom>
          <a:solidFill>
            <a:srgbClr val="1565C0"/>
          </a:solidFill>
          <a:ln>
            <a:noFill/>
          </a:ln>
        </p:spPr>
      </p:sp>
      <p:sp>
        <p:nvSpPr>
          <p:cNvPr id="23" name="Rectangle 23"/>
          <p:cNvSpPr/>
          <p:nvPr/>
        </p:nvSpPr>
        <p:spPr>
          <a:xfrm>
            <a:off x="11239500" y="6553200"/>
            <a:ext cx="381000" cy="28575"/>
          </a:xfrm>
          <a:prstGeom prst="rect">
            <a:avLst/>
          </a:prstGeom>
          <a:solidFill>
            <a:srgbClr val="FF6F00"/>
          </a:solidFill>
          <a:ln>
            <a:noFill/>
          </a:ln>
        </p:spPr>
      </p:sp>
      <p:sp>
        <p:nvSpPr>
          <p:cNvPr id="24" name="Line 24"/>
          <p:cNvSpPr/>
          <p:nvPr/>
        </p:nvSpPr>
        <p:spPr>
          <a:xfrm>
            <a:off x="5143500" y="5715000"/>
            <a:ext cx="6667500" cy="9525"/>
          </a:xfrm>
          <a:custGeom>
            <a:avLst/>
            <a:gdLst/>
            <a:ahLst/>
            <a:cxnLst/>
            <a:rect l="l" t="t" r="r" b="b"/>
            <a:pathLst>
              <a:path w="6667500" h="9525">
                <a:moveTo>
                  <a:pt x="0" y="0"/>
                </a:moveTo>
                <a:lnTo>
                  <a:pt x="6667500" y="0"/>
                </a:lnTo>
              </a:path>
            </a:pathLst>
          </a:custGeom>
          <a:noFill/>
          <a:ln w="9525">
            <a:solidFill>
              <a:srgbClr val="1565C0">
                <a:alpha val="6000"/>
              </a:srgbClr>
            </a:solidFill>
          </a:ln>
        </p:spPr>
      </p:sp>
      <p:sp>
        <p:nvSpPr>
          <p:cNvPr id="25" name="Ellipse 25"/>
          <p:cNvSpPr/>
          <p:nvPr/>
        </p:nvSpPr>
        <p:spPr>
          <a:xfrm>
            <a:off x="9715500" y="4762500"/>
            <a:ext cx="1524000" cy="1524000"/>
          </a:xfrm>
          <a:prstGeom prst="ellipse">
            <a:avLst/>
          </a:prstGeom>
          <a:solidFill>
            <a:srgbClr val="1565C0">
              <a:alpha val="3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2667000" cy="6858000"/>
          </a:xfrm>
          <a:prstGeom prst="rect">
            <a:avLst/>
          </a:prstGeom>
          <a:gradFill>
            <a:gsLst>
              <a:gs pos="0">
                <a:srgbClr val="1565C0"/>
              </a:gs>
              <a:gs pos="100000">
                <a:srgbClr val="0D47A1"/>
              </a:gs>
            </a:gsLst>
            <a:lin ang="5400000" scaled="1"/>
          </a:gradFill>
          <a:ln>
            <a:noFill/>
          </a:ln>
        </p:spPr>
      </p:sp>
      <p:sp>
        <p:nvSpPr>
          <p:cNvPr id="4" name="TextBox 4"/>
          <p:cNvSpPr txBox="1"/>
          <p:nvPr/>
        </p:nvSpPr>
        <p:spPr>
          <a:xfrm rot="-5400000">
            <a:off x="774573" y="3307080"/>
            <a:ext cx="1102614" cy="243840"/>
          </a:xfrm>
          <a:prstGeom prst="rect">
            <a:avLst/>
          </a:prstGeom>
          <a:noFill/>
          <a:ln>
            <a:noFill/>
          </a:ln>
        </p:spPr>
        <p:txBody>
          <a:bodyPr wrap="none" lIns="0" tIns="0" rIns="0" bIns="0" anchor="t" anchorCtr="0">
            <a:spAutoFit/>
          </a:bodyPr>
          <a:lstStyle/>
          <a:p>
            <a:pPr algn="ctr"/>
            <a:r>
              <a:rPr lang="zh-CN" sz="1200" dirty="0">
                <a:solidFill>
                  <a:srgbClr val="FFFFFF">
                    <a:alphaMod val="50000"/>
                  </a:srgbClr>
                </a:solidFill>
                <a:latin typeface="Arial"/>
                <a:ea typeface="Microsoft YaHei"/>
                <a:cs typeface="Arial"/>
              </a:rPr>
              <a:t>C O N T E N T S</a:t>
            </a:r>
          </a:p>
        </p:txBody>
      </p:sp>
      <p:sp>
        <p:nvSpPr>
          <p:cNvPr id="5" name="Rectangle 5"/>
          <p:cNvSpPr/>
          <p:nvPr/>
        </p:nvSpPr>
        <p:spPr>
          <a:xfrm>
            <a:off x="381000" y="6191250"/>
            <a:ext cx="1905000" cy="9525"/>
          </a:xfrm>
          <a:prstGeom prst="rect">
            <a:avLst/>
          </a:prstGeom>
          <a:solidFill>
            <a:srgbClr val="FFFFFF">
              <a:alpha val="20000"/>
            </a:srgbClr>
          </a:solidFill>
          <a:ln>
            <a:noFill/>
          </a:ln>
        </p:spPr>
      </p:sp>
      <p:sp>
        <p:nvSpPr>
          <p:cNvPr id="6" name="Rectangle 6"/>
          <p:cNvSpPr/>
          <p:nvPr/>
        </p:nvSpPr>
        <p:spPr>
          <a:xfrm>
            <a:off x="3238500" y="762000"/>
            <a:ext cx="571500" cy="38100"/>
          </a:xfrm>
          <a:prstGeom prst="rect">
            <a:avLst/>
          </a:prstGeom>
          <a:solidFill>
            <a:srgbClr val="FF6F00"/>
          </a:solidFill>
          <a:ln>
            <a:noFill/>
          </a:ln>
        </p:spPr>
      </p:sp>
      <p:sp>
        <p:nvSpPr>
          <p:cNvPr id="7" name="TextBox 7"/>
          <p:cNvSpPr txBox="1"/>
          <p:nvPr/>
        </p:nvSpPr>
        <p:spPr>
          <a:xfrm>
            <a:off x="3204210" y="946785"/>
            <a:ext cx="824675" cy="548640"/>
          </a:xfrm>
          <a:prstGeom prst="rect">
            <a:avLst/>
          </a:prstGeom>
          <a:noFill/>
          <a:ln>
            <a:noFill/>
          </a:ln>
        </p:spPr>
        <p:txBody>
          <a:bodyPr wrap="none" lIns="0" tIns="0" rIns="0" bIns="0" anchor="t" anchorCtr="0">
            <a:spAutoFit/>
          </a:bodyPr>
          <a:lstStyle/>
          <a:p>
            <a:pPr algn="l"/>
            <a:r>
              <a:rPr lang="zh-CN" sz="2700" b="1" dirty="0">
                <a:solidFill>
                  <a:srgbClr val="1D1D1F"/>
                </a:solidFill>
                <a:latin typeface="Arial"/>
                <a:ea typeface="Microsoft YaHei"/>
                <a:cs typeface="Arial"/>
              </a:rPr>
              <a:t>目录</a:t>
            </a:r>
          </a:p>
        </p:txBody>
      </p:sp>
      <p:sp>
        <p:nvSpPr>
          <p:cNvPr id="8" name="TextBox 8"/>
          <p:cNvSpPr txBox="1"/>
          <p:nvPr/>
        </p:nvSpPr>
        <p:spPr>
          <a:xfrm>
            <a:off x="3225165" y="1410652"/>
            <a:ext cx="670751"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CONTENTS</a:t>
            </a:r>
          </a:p>
        </p:txBody>
      </p:sp>
      <p:sp>
        <p:nvSpPr>
          <p:cNvPr id="9" name="Rectangle 9"/>
          <p:cNvSpPr/>
          <p:nvPr/>
        </p:nvSpPr>
        <p:spPr>
          <a:xfrm>
            <a:off x="3238500" y="1714500"/>
            <a:ext cx="6667500" cy="9525"/>
          </a:xfrm>
          <a:prstGeom prst="rect">
            <a:avLst/>
          </a:prstGeom>
          <a:solidFill>
            <a:srgbClr val="E5E7EB"/>
          </a:solidFill>
          <a:ln>
            <a:noFill/>
          </a:ln>
        </p:spPr>
      </p:sp>
      <p:sp>
        <p:nvSpPr>
          <p:cNvPr id="10" name="Rectangle 10"/>
          <p:cNvSpPr/>
          <p:nvPr/>
        </p:nvSpPr>
        <p:spPr>
          <a:xfrm>
            <a:off x="3238500" y="2095500"/>
            <a:ext cx="304800" cy="304800"/>
          </a:xfrm>
          <a:prstGeom prst="rect">
            <a:avLst/>
          </a:prstGeom>
          <a:solidFill>
            <a:srgbClr val="1565C0"/>
          </a:solidFill>
          <a:ln>
            <a:noFill/>
          </a:ln>
        </p:spPr>
      </p:sp>
      <p:sp>
        <p:nvSpPr>
          <p:cNvPr id="11" name="TextBox 11"/>
          <p:cNvSpPr txBox="1"/>
          <p:nvPr/>
        </p:nvSpPr>
        <p:spPr>
          <a:xfrm>
            <a:off x="3283248" y="217551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01</a:t>
            </a:r>
          </a:p>
        </p:txBody>
      </p:sp>
      <p:sp>
        <p:nvSpPr>
          <p:cNvPr id="12" name="TextBox 12"/>
          <p:cNvSpPr txBox="1"/>
          <p:nvPr/>
        </p:nvSpPr>
        <p:spPr>
          <a:xfrm>
            <a:off x="3741420" y="2126932"/>
            <a:ext cx="1659112"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背景及实验概要</a:t>
            </a:r>
          </a:p>
        </p:txBody>
      </p:sp>
      <p:sp>
        <p:nvSpPr>
          <p:cNvPr id="13" name="TextBox 13"/>
          <p:cNvSpPr txBox="1"/>
          <p:nvPr/>
        </p:nvSpPr>
        <p:spPr>
          <a:xfrm>
            <a:off x="9702165" y="2191702"/>
            <a:ext cx="257699"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P03</a:t>
            </a:r>
          </a:p>
        </p:txBody>
      </p:sp>
      <p:sp>
        <p:nvSpPr>
          <p:cNvPr id="14" name="Rectangle 14"/>
          <p:cNvSpPr/>
          <p:nvPr/>
        </p:nvSpPr>
        <p:spPr>
          <a:xfrm>
            <a:off x="3238500" y="2552700"/>
            <a:ext cx="6667500" cy="9525"/>
          </a:xfrm>
          <a:prstGeom prst="rect">
            <a:avLst/>
          </a:prstGeom>
          <a:solidFill>
            <a:srgbClr val="F3F4F6"/>
          </a:solidFill>
          <a:ln>
            <a:noFill/>
          </a:ln>
        </p:spPr>
      </p:sp>
      <p:sp>
        <p:nvSpPr>
          <p:cNvPr id="15" name="Rectangle 15"/>
          <p:cNvSpPr/>
          <p:nvPr/>
        </p:nvSpPr>
        <p:spPr>
          <a:xfrm>
            <a:off x="3238500" y="2762250"/>
            <a:ext cx="304800" cy="304800"/>
          </a:xfrm>
          <a:prstGeom prst="rect">
            <a:avLst/>
          </a:prstGeom>
          <a:solidFill>
            <a:srgbClr val="1565C0"/>
          </a:solidFill>
          <a:ln>
            <a:noFill/>
          </a:ln>
        </p:spPr>
      </p:sp>
      <p:sp>
        <p:nvSpPr>
          <p:cNvPr id="16" name="TextBox 16"/>
          <p:cNvSpPr txBox="1"/>
          <p:nvPr/>
        </p:nvSpPr>
        <p:spPr>
          <a:xfrm>
            <a:off x="3283248" y="284226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02</a:t>
            </a:r>
          </a:p>
        </p:txBody>
      </p:sp>
      <p:sp>
        <p:nvSpPr>
          <p:cNvPr id="17" name="TextBox 17"/>
          <p:cNvSpPr txBox="1"/>
          <p:nvPr/>
        </p:nvSpPr>
        <p:spPr>
          <a:xfrm>
            <a:off x="3741420" y="2793682"/>
            <a:ext cx="1428083"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模型架构设计</a:t>
            </a:r>
          </a:p>
        </p:txBody>
      </p:sp>
      <p:sp>
        <p:nvSpPr>
          <p:cNvPr id="18" name="TextBox 18"/>
          <p:cNvSpPr txBox="1"/>
          <p:nvPr/>
        </p:nvSpPr>
        <p:spPr>
          <a:xfrm>
            <a:off x="9702165" y="2858452"/>
            <a:ext cx="257699"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P04</a:t>
            </a:r>
          </a:p>
        </p:txBody>
      </p:sp>
      <p:sp>
        <p:nvSpPr>
          <p:cNvPr id="19" name="Rectangle 19"/>
          <p:cNvSpPr/>
          <p:nvPr/>
        </p:nvSpPr>
        <p:spPr>
          <a:xfrm>
            <a:off x="3238500" y="3219450"/>
            <a:ext cx="6667500" cy="9525"/>
          </a:xfrm>
          <a:prstGeom prst="rect">
            <a:avLst/>
          </a:prstGeom>
          <a:solidFill>
            <a:srgbClr val="F3F4F6"/>
          </a:solidFill>
          <a:ln>
            <a:noFill/>
          </a:ln>
        </p:spPr>
      </p:sp>
      <p:sp>
        <p:nvSpPr>
          <p:cNvPr id="20" name="Rectangle 20"/>
          <p:cNvSpPr/>
          <p:nvPr/>
        </p:nvSpPr>
        <p:spPr>
          <a:xfrm>
            <a:off x="3238500" y="3429000"/>
            <a:ext cx="304800" cy="304800"/>
          </a:xfrm>
          <a:prstGeom prst="rect">
            <a:avLst/>
          </a:prstGeom>
          <a:solidFill>
            <a:srgbClr val="1565C0"/>
          </a:solidFill>
          <a:ln>
            <a:noFill/>
          </a:ln>
        </p:spPr>
      </p:sp>
      <p:sp>
        <p:nvSpPr>
          <p:cNvPr id="21" name="TextBox 21"/>
          <p:cNvSpPr txBox="1"/>
          <p:nvPr/>
        </p:nvSpPr>
        <p:spPr>
          <a:xfrm>
            <a:off x="3283248" y="350901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03</a:t>
            </a:r>
          </a:p>
        </p:txBody>
      </p:sp>
      <p:sp>
        <p:nvSpPr>
          <p:cNvPr id="22" name="TextBox 22"/>
          <p:cNvSpPr txBox="1"/>
          <p:nvPr/>
        </p:nvSpPr>
        <p:spPr>
          <a:xfrm>
            <a:off x="3741420" y="3460432"/>
            <a:ext cx="1890141"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数据预处理与分析</a:t>
            </a:r>
          </a:p>
        </p:txBody>
      </p:sp>
      <p:sp>
        <p:nvSpPr>
          <p:cNvPr id="23" name="TextBox 23"/>
          <p:cNvSpPr txBox="1"/>
          <p:nvPr/>
        </p:nvSpPr>
        <p:spPr>
          <a:xfrm>
            <a:off x="9702165" y="3525202"/>
            <a:ext cx="257699"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P05</a:t>
            </a:r>
          </a:p>
        </p:txBody>
      </p:sp>
      <p:sp>
        <p:nvSpPr>
          <p:cNvPr id="24" name="Rectangle 24"/>
          <p:cNvSpPr/>
          <p:nvPr/>
        </p:nvSpPr>
        <p:spPr>
          <a:xfrm>
            <a:off x="3238500" y="3886200"/>
            <a:ext cx="6667500" cy="9525"/>
          </a:xfrm>
          <a:prstGeom prst="rect">
            <a:avLst/>
          </a:prstGeom>
          <a:solidFill>
            <a:srgbClr val="F3F4F6"/>
          </a:solidFill>
          <a:ln>
            <a:noFill/>
          </a:ln>
        </p:spPr>
      </p:sp>
      <p:sp>
        <p:nvSpPr>
          <p:cNvPr id="25" name="Rectangle 25"/>
          <p:cNvSpPr/>
          <p:nvPr/>
        </p:nvSpPr>
        <p:spPr>
          <a:xfrm>
            <a:off x="3238500" y="4095750"/>
            <a:ext cx="304800" cy="304800"/>
          </a:xfrm>
          <a:prstGeom prst="rect">
            <a:avLst/>
          </a:prstGeom>
          <a:solidFill>
            <a:srgbClr val="FF6F00"/>
          </a:solidFill>
          <a:ln>
            <a:noFill/>
          </a:ln>
        </p:spPr>
      </p:sp>
      <p:sp>
        <p:nvSpPr>
          <p:cNvPr id="26" name="TextBox 26"/>
          <p:cNvSpPr txBox="1"/>
          <p:nvPr/>
        </p:nvSpPr>
        <p:spPr>
          <a:xfrm>
            <a:off x="3283248" y="417576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04</a:t>
            </a:r>
          </a:p>
        </p:txBody>
      </p:sp>
      <p:sp>
        <p:nvSpPr>
          <p:cNvPr id="27" name="TextBox 27"/>
          <p:cNvSpPr txBox="1"/>
          <p:nvPr/>
        </p:nvSpPr>
        <p:spPr>
          <a:xfrm>
            <a:off x="3741420" y="4127182"/>
            <a:ext cx="1901692"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MacBERT参数调优</a:t>
            </a:r>
          </a:p>
        </p:txBody>
      </p:sp>
      <p:sp>
        <p:nvSpPr>
          <p:cNvPr id="28" name="TextBox 28"/>
          <p:cNvSpPr txBox="1"/>
          <p:nvPr/>
        </p:nvSpPr>
        <p:spPr>
          <a:xfrm>
            <a:off x="9702165" y="4191952"/>
            <a:ext cx="257699"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P06</a:t>
            </a:r>
          </a:p>
        </p:txBody>
      </p:sp>
      <p:sp>
        <p:nvSpPr>
          <p:cNvPr id="29" name="Rectangle 29"/>
          <p:cNvSpPr/>
          <p:nvPr/>
        </p:nvSpPr>
        <p:spPr>
          <a:xfrm>
            <a:off x="3238500" y="4552950"/>
            <a:ext cx="6667500" cy="9525"/>
          </a:xfrm>
          <a:prstGeom prst="rect">
            <a:avLst/>
          </a:prstGeom>
          <a:solidFill>
            <a:srgbClr val="F3F4F6"/>
          </a:solidFill>
          <a:ln>
            <a:noFill/>
          </a:ln>
        </p:spPr>
      </p:sp>
      <p:sp>
        <p:nvSpPr>
          <p:cNvPr id="30" name="Rectangle 30"/>
          <p:cNvSpPr/>
          <p:nvPr/>
        </p:nvSpPr>
        <p:spPr>
          <a:xfrm>
            <a:off x="3238500" y="4762500"/>
            <a:ext cx="304800" cy="304800"/>
          </a:xfrm>
          <a:prstGeom prst="rect">
            <a:avLst/>
          </a:prstGeom>
          <a:solidFill>
            <a:srgbClr val="1565C0"/>
          </a:solidFill>
          <a:ln>
            <a:noFill/>
          </a:ln>
        </p:spPr>
      </p:sp>
      <p:sp>
        <p:nvSpPr>
          <p:cNvPr id="31" name="TextBox 31"/>
          <p:cNvSpPr txBox="1"/>
          <p:nvPr/>
        </p:nvSpPr>
        <p:spPr>
          <a:xfrm>
            <a:off x="3283248" y="484251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05</a:t>
            </a:r>
          </a:p>
        </p:txBody>
      </p:sp>
      <p:sp>
        <p:nvSpPr>
          <p:cNvPr id="32" name="TextBox 32"/>
          <p:cNvSpPr txBox="1"/>
          <p:nvPr/>
        </p:nvSpPr>
        <p:spPr>
          <a:xfrm>
            <a:off x="3741420" y="4793932"/>
            <a:ext cx="1890141"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单模型训练与验证</a:t>
            </a:r>
          </a:p>
        </p:txBody>
      </p:sp>
      <p:sp>
        <p:nvSpPr>
          <p:cNvPr id="33" name="TextBox 33"/>
          <p:cNvSpPr txBox="1"/>
          <p:nvPr/>
        </p:nvSpPr>
        <p:spPr>
          <a:xfrm>
            <a:off x="9702165" y="4858702"/>
            <a:ext cx="565737"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P07-P08</a:t>
            </a:r>
          </a:p>
        </p:txBody>
      </p:sp>
      <p:sp>
        <p:nvSpPr>
          <p:cNvPr id="34" name="Rectangle 34"/>
          <p:cNvSpPr/>
          <p:nvPr/>
        </p:nvSpPr>
        <p:spPr>
          <a:xfrm>
            <a:off x="3238500" y="5219700"/>
            <a:ext cx="6667500" cy="9525"/>
          </a:xfrm>
          <a:prstGeom prst="rect">
            <a:avLst/>
          </a:prstGeom>
          <a:solidFill>
            <a:srgbClr val="F3F4F6"/>
          </a:solidFill>
          <a:ln>
            <a:noFill/>
          </a:ln>
        </p:spPr>
      </p:sp>
      <p:sp>
        <p:nvSpPr>
          <p:cNvPr id="35" name="Rectangle 35"/>
          <p:cNvSpPr/>
          <p:nvPr/>
        </p:nvSpPr>
        <p:spPr>
          <a:xfrm>
            <a:off x="3238500" y="5429250"/>
            <a:ext cx="304800" cy="304800"/>
          </a:xfrm>
          <a:prstGeom prst="rect">
            <a:avLst/>
          </a:prstGeom>
          <a:solidFill>
            <a:srgbClr val="1565C0"/>
          </a:solidFill>
          <a:ln>
            <a:noFill/>
          </a:ln>
        </p:spPr>
      </p:sp>
      <p:sp>
        <p:nvSpPr>
          <p:cNvPr id="36" name="TextBox 36"/>
          <p:cNvSpPr txBox="1"/>
          <p:nvPr/>
        </p:nvSpPr>
        <p:spPr>
          <a:xfrm>
            <a:off x="3283248" y="550926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06</a:t>
            </a:r>
          </a:p>
        </p:txBody>
      </p:sp>
      <p:sp>
        <p:nvSpPr>
          <p:cNvPr id="37" name="TextBox 37"/>
          <p:cNvSpPr txBox="1"/>
          <p:nvPr/>
        </p:nvSpPr>
        <p:spPr>
          <a:xfrm>
            <a:off x="3741420" y="5460682"/>
            <a:ext cx="1197054"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伪标签训练</a:t>
            </a:r>
          </a:p>
        </p:txBody>
      </p:sp>
      <p:sp>
        <p:nvSpPr>
          <p:cNvPr id="38" name="TextBox 38"/>
          <p:cNvSpPr txBox="1"/>
          <p:nvPr/>
        </p:nvSpPr>
        <p:spPr>
          <a:xfrm>
            <a:off x="9702165" y="5525452"/>
            <a:ext cx="565737"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P09-P11</a:t>
            </a:r>
          </a:p>
        </p:txBody>
      </p:sp>
      <p:sp>
        <p:nvSpPr>
          <p:cNvPr id="39" name="Rectangle 39"/>
          <p:cNvSpPr/>
          <p:nvPr/>
        </p:nvSpPr>
        <p:spPr>
          <a:xfrm>
            <a:off x="3238500" y="5886450"/>
            <a:ext cx="6667500" cy="9525"/>
          </a:xfrm>
          <a:prstGeom prst="rect">
            <a:avLst/>
          </a:prstGeom>
          <a:solidFill>
            <a:srgbClr val="F3F4F6"/>
          </a:solidFill>
          <a:ln>
            <a:noFill/>
          </a:ln>
        </p:spPr>
      </p:sp>
      <p:sp>
        <p:nvSpPr>
          <p:cNvPr id="40" name="Rectangle 40"/>
          <p:cNvSpPr/>
          <p:nvPr/>
        </p:nvSpPr>
        <p:spPr>
          <a:xfrm>
            <a:off x="3238500" y="6096000"/>
            <a:ext cx="304800" cy="304800"/>
          </a:xfrm>
          <a:prstGeom prst="rect">
            <a:avLst/>
          </a:prstGeom>
          <a:solidFill>
            <a:srgbClr val="1565C0"/>
          </a:solidFill>
          <a:ln>
            <a:noFill/>
          </a:ln>
        </p:spPr>
      </p:sp>
      <p:sp>
        <p:nvSpPr>
          <p:cNvPr id="41" name="TextBox 41"/>
          <p:cNvSpPr txBox="1"/>
          <p:nvPr/>
        </p:nvSpPr>
        <p:spPr>
          <a:xfrm>
            <a:off x="3283248" y="6176010"/>
            <a:ext cx="21530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07</a:t>
            </a:r>
          </a:p>
        </p:txBody>
      </p:sp>
      <p:sp>
        <p:nvSpPr>
          <p:cNvPr id="42" name="TextBox 42"/>
          <p:cNvSpPr txBox="1"/>
          <p:nvPr/>
        </p:nvSpPr>
        <p:spPr>
          <a:xfrm>
            <a:off x="3741420" y="6127432"/>
            <a:ext cx="1659112" cy="335280"/>
          </a:xfrm>
          <a:prstGeom prst="rect">
            <a:avLst/>
          </a:prstGeom>
          <a:noFill/>
          <a:ln>
            <a:noFill/>
          </a:ln>
        </p:spPr>
        <p:txBody>
          <a:bodyPr wrap="none" lIns="0" tIns="0" rIns="0" bIns="0" anchor="t" anchorCtr="0">
            <a:spAutoFit/>
          </a:bodyPr>
          <a:lstStyle/>
          <a:p>
            <a:pPr algn="l"/>
            <a:r>
              <a:rPr lang="zh-CN" sz="1650" b="1" dirty="0">
                <a:solidFill>
                  <a:srgbClr val="1D1D1F"/>
                </a:solidFill>
                <a:latin typeface="Arial"/>
                <a:ea typeface="Microsoft YaHei"/>
                <a:cs typeface="Arial"/>
              </a:rPr>
              <a:t>实验结论与体会</a:t>
            </a:r>
          </a:p>
        </p:txBody>
      </p:sp>
      <p:sp>
        <p:nvSpPr>
          <p:cNvPr id="43" name="TextBox 43"/>
          <p:cNvSpPr txBox="1"/>
          <p:nvPr/>
        </p:nvSpPr>
        <p:spPr>
          <a:xfrm>
            <a:off x="9702165" y="6192202"/>
            <a:ext cx="257699" cy="213360"/>
          </a:xfrm>
          <a:prstGeom prst="rect">
            <a:avLst/>
          </a:prstGeom>
          <a:noFill/>
          <a:ln>
            <a:noFill/>
          </a:ln>
        </p:spPr>
        <p:txBody>
          <a:bodyPr wrap="none" lIns="0" tIns="0" rIns="0" bIns="0" anchor="t" anchorCtr="0">
            <a:spAutoFit/>
          </a:bodyPr>
          <a:lstStyle/>
          <a:p>
            <a:pPr algn="l"/>
            <a:r>
              <a:rPr lang="zh-CN" sz="1050" dirty="0">
                <a:solidFill>
                  <a:srgbClr val="9CA3AF"/>
                </a:solidFill>
                <a:latin typeface="Arial"/>
                <a:ea typeface="Microsoft YaHei"/>
                <a:cs typeface="Arial"/>
              </a:rPr>
              <a:t>P12</a:t>
            </a:r>
          </a:p>
        </p:txBody>
      </p:sp>
      <p:sp>
        <p:nvSpPr>
          <p:cNvPr id="44" name="Rectangle 44"/>
          <p:cNvSpPr/>
          <p:nvPr/>
        </p:nvSpPr>
        <p:spPr>
          <a:xfrm>
            <a:off x="3238500" y="6619875"/>
            <a:ext cx="6667500" cy="9525"/>
          </a:xfrm>
          <a:prstGeom prst="rect">
            <a:avLst/>
          </a:prstGeom>
          <a:solidFill>
            <a:srgbClr val="E5E7EB"/>
          </a:solidFill>
          <a:ln>
            <a:noFill/>
          </a:ln>
        </p:spPr>
      </p:sp>
      <p:sp>
        <p:nvSpPr>
          <p:cNvPr id="45" name="TextBox 45"/>
          <p:cNvSpPr txBox="1"/>
          <p:nvPr/>
        </p:nvSpPr>
        <p:spPr>
          <a:xfrm>
            <a:off x="3228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2262426"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背景及实验概要</a:t>
            </a:r>
          </a:p>
        </p:txBody>
      </p:sp>
      <p:sp>
        <p:nvSpPr>
          <p:cNvPr id="5" name="Rectangle 5"/>
          <p:cNvSpPr/>
          <p:nvPr/>
        </p:nvSpPr>
        <p:spPr>
          <a:xfrm>
            <a:off x="571500" y="952500"/>
            <a:ext cx="11049000" cy="9525"/>
          </a:xfrm>
          <a:prstGeom prst="rect">
            <a:avLst/>
          </a:prstGeom>
          <a:solidFill>
            <a:srgbClr val="E5E7EB"/>
          </a:solidFill>
          <a:ln>
            <a:noFill/>
          </a:ln>
        </p:spPr>
      </p:sp>
      <p:sp>
        <p:nvSpPr>
          <p:cNvPr id="6" name="TextBox 6"/>
          <p:cNvSpPr txBox="1"/>
          <p:nvPr/>
        </p:nvSpPr>
        <p:spPr>
          <a:xfrm>
            <a:off x="556260" y="1203960"/>
            <a:ext cx="366522"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背景</a:t>
            </a:r>
          </a:p>
        </p:txBody>
      </p:sp>
      <p:sp>
        <p:nvSpPr>
          <p:cNvPr id="7" name="TextBox 7"/>
          <p:cNvSpPr txBox="1"/>
          <p:nvPr/>
        </p:nvSpPr>
        <p:spPr>
          <a:xfrm>
            <a:off x="554355" y="1454468"/>
            <a:ext cx="3746183" cy="1341120"/>
          </a:xfrm>
          <a:prstGeom prst="rect">
            <a:avLst/>
          </a:prstGeom>
          <a:noFill/>
          <a:ln>
            <a:noFill/>
          </a:ln>
        </p:spPr>
        <p:txBody>
          <a:bodyPr wrap="square" lIns="0" tIns="0" rIns="0" bIns="0" anchor="t" anchorCtr="0"/>
          <a:lstStyle/>
          <a:p>
            <a:pPr algn="l">
              <a:lnSpc>
                <a:spcPts val="2100"/>
              </a:lnSpc>
            </a:pPr>
            <a:r>
              <a:rPr lang="zh-CN" sz="1350" dirty="0">
                <a:solidFill>
                  <a:srgbClr val="1D1D1F"/>
                </a:solidFill>
                <a:latin typeface="Arial"/>
                <a:ea typeface="Microsoft YaHei"/>
                <a:cs typeface="Arial"/>
              </a:rPr>
              <a:t>近年来，自然语言处理（NLP）在文本分类、情感分析等任务上取得显著成果。本实验基于THUCNews数据集，该数据集包含新浪新闻2005~2011年间</a:t>
            </a:r>
            <a:r>
              <a:rPr lang="zh-CN" sz="1350" b="1" dirty="0">
                <a:solidFill>
                  <a:srgbClr val="1565C0"/>
                </a:solidFill>
                <a:latin typeface="Arial"/>
                <a:ea typeface="Microsoft YaHei"/>
                <a:cs typeface="Arial"/>
              </a:rPr>
              <a:t>74万篇</a:t>
            </a:r>
            <a:r>
              <a:rPr lang="zh-CN" sz="1350" dirty="0">
                <a:solidFill>
                  <a:srgbClr val="1D1D1F"/>
                </a:solidFill>
                <a:latin typeface="Arial"/>
                <a:ea typeface="Microsoft YaHei"/>
                <a:cs typeface="Arial"/>
              </a:rPr>
              <a:t>新闻文档，重新整合出</a:t>
            </a:r>
            <a:r>
              <a:rPr lang="zh-CN" sz="1350" b="1" dirty="0">
                <a:solidFill>
                  <a:srgbClr val="1565C0"/>
                </a:solidFill>
                <a:latin typeface="Arial"/>
                <a:ea typeface="Microsoft YaHei"/>
                <a:cs typeface="Arial"/>
              </a:rPr>
              <a:t>14个</a:t>
            </a:r>
            <a:r>
              <a:rPr lang="zh-CN" sz="1350" dirty="0">
                <a:solidFill>
                  <a:srgbClr val="1D1D1F"/>
                </a:solidFill>
                <a:latin typeface="Arial"/>
                <a:ea typeface="Microsoft YaHei"/>
                <a:cs typeface="Arial"/>
              </a:rPr>
              <a:t>候选分类类别。</a:t>
            </a:r>
          </a:p>
        </p:txBody>
      </p:sp>
      <p:sp>
        <p:nvSpPr>
          <p:cNvPr id="8" name="TextBox 8"/>
          <p:cNvSpPr txBox="1"/>
          <p:nvPr/>
        </p:nvSpPr>
        <p:spPr>
          <a:xfrm>
            <a:off x="556260" y="31089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实验流程</a:t>
            </a:r>
          </a:p>
        </p:txBody>
      </p:sp>
      <p:sp>
        <p:nvSpPr>
          <p:cNvPr id="9" name="TextBox 9"/>
          <p:cNvSpPr txBox="1"/>
          <p:nvPr/>
        </p:nvSpPr>
        <p:spPr>
          <a:xfrm>
            <a:off x="554355" y="3359468"/>
            <a:ext cx="3634740" cy="274320"/>
          </a:xfrm>
          <a:prstGeom prst="rect">
            <a:avLst/>
          </a:prstGeom>
          <a:noFill/>
          <a:ln>
            <a:noFill/>
          </a:ln>
        </p:spPr>
        <p:txBody>
          <a:bodyPr wrap="none" lIns="0" tIns="0" rIns="0" bIns="0" anchor="t" anchorCtr="0">
            <a:spAutoFit/>
          </a:bodyPr>
          <a:lstStyle/>
          <a:p>
            <a:pPr algn="l"/>
            <a:r>
              <a:rPr lang="zh-CN" sz="1350" dirty="0">
                <a:solidFill>
                  <a:srgbClr val="1D1D1F"/>
                </a:solidFill>
                <a:latin typeface="Arial"/>
                <a:ea typeface="Microsoft YaHei"/>
                <a:cs typeface="Arial"/>
              </a:rPr>
              <a:t>构建了完整的文本分类流程，包含四个阶段：</a:t>
            </a:r>
          </a:p>
        </p:txBody>
      </p:sp>
      <p:grpSp>
        <p:nvGrpSpPr>
          <p:cNvPr id="30" name="Group 30"/>
          <p:cNvGrpSpPr/>
          <p:nvPr/>
        </p:nvGrpSpPr>
        <p:grpSpPr>
          <a:xfrm>
            <a:off x="571500" y="3810000"/>
            <a:ext cx="9048750" cy="533400"/>
            <a:chOff x="571500" y="3810000"/>
            <a:chExt cx="9048750" cy="533400"/>
          </a:xfrm>
        </p:grpSpPr>
        <p:sp>
          <p:nvSpPr>
            <p:cNvPr id="10" name="Rectangle 10"/>
            <p:cNvSpPr/>
            <p:nvPr/>
          </p:nvSpPr>
          <p:spPr>
            <a:xfrm>
              <a:off x="571500" y="3810000"/>
              <a:ext cx="2190750" cy="533400"/>
            </a:xfrm>
            <a:prstGeom prst="rect">
              <a:avLst/>
            </a:prstGeom>
            <a:solidFill>
              <a:srgbClr val="E3F2FD"/>
            </a:solidFill>
            <a:ln>
              <a:noFill/>
            </a:ln>
          </p:spPr>
        </p:sp>
        <p:sp>
          <p:nvSpPr>
            <p:cNvPr id="11" name="Rectangle 11"/>
            <p:cNvSpPr/>
            <p:nvPr/>
          </p:nvSpPr>
          <p:spPr>
            <a:xfrm>
              <a:off x="571500" y="3810000"/>
              <a:ext cx="57150" cy="533400"/>
            </a:xfrm>
            <a:prstGeom prst="rect">
              <a:avLst/>
            </a:prstGeom>
            <a:solidFill>
              <a:srgbClr val="1565C0"/>
            </a:solidFill>
            <a:ln>
              <a:noFill/>
            </a:ln>
          </p:spPr>
        </p:sp>
        <p:sp>
          <p:nvSpPr>
            <p:cNvPr id="12" name="TextBox 12"/>
            <p:cNvSpPr txBox="1"/>
            <p:nvPr/>
          </p:nvSpPr>
          <p:spPr>
            <a:xfrm>
              <a:off x="748665" y="3925252"/>
              <a:ext cx="188390"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01</a:t>
              </a:r>
            </a:p>
          </p:txBody>
        </p:sp>
        <p:sp>
          <p:nvSpPr>
            <p:cNvPr id="13" name="TextBox 13"/>
            <p:cNvSpPr txBox="1"/>
            <p:nvPr/>
          </p:nvSpPr>
          <p:spPr>
            <a:xfrm>
              <a:off x="1034415" y="3925252"/>
              <a:ext cx="1146810"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数据预处理与分析</a:t>
              </a:r>
            </a:p>
          </p:txBody>
        </p:sp>
        <p:sp>
          <p:nvSpPr>
            <p:cNvPr id="14" name="TextBox 14"/>
            <p:cNvSpPr txBox="1"/>
            <p:nvPr/>
          </p:nvSpPr>
          <p:spPr>
            <a:xfrm>
              <a:off x="1036320" y="4131945"/>
              <a:ext cx="14630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清洗、统计分析、分布差异</a:t>
              </a:r>
            </a:p>
          </p:txBody>
        </p:sp>
        <p:sp>
          <p:nvSpPr>
            <p:cNvPr id="15" name="Rectangle 15"/>
            <p:cNvSpPr/>
            <p:nvPr/>
          </p:nvSpPr>
          <p:spPr>
            <a:xfrm>
              <a:off x="2857500" y="3810000"/>
              <a:ext cx="2190750" cy="533400"/>
            </a:xfrm>
            <a:prstGeom prst="rect">
              <a:avLst/>
            </a:prstGeom>
            <a:solidFill>
              <a:srgbClr val="E3F2FD"/>
            </a:solidFill>
            <a:ln>
              <a:noFill/>
            </a:ln>
          </p:spPr>
        </p:sp>
        <p:sp>
          <p:nvSpPr>
            <p:cNvPr id="16" name="Rectangle 16"/>
            <p:cNvSpPr/>
            <p:nvPr/>
          </p:nvSpPr>
          <p:spPr>
            <a:xfrm>
              <a:off x="2857500" y="3810000"/>
              <a:ext cx="57150" cy="533400"/>
            </a:xfrm>
            <a:prstGeom prst="rect">
              <a:avLst/>
            </a:prstGeom>
            <a:solidFill>
              <a:srgbClr val="1565C0"/>
            </a:solidFill>
            <a:ln>
              <a:noFill/>
            </a:ln>
          </p:spPr>
        </p:sp>
        <p:sp>
          <p:nvSpPr>
            <p:cNvPr id="17" name="TextBox 17"/>
            <p:cNvSpPr txBox="1"/>
            <p:nvPr/>
          </p:nvSpPr>
          <p:spPr>
            <a:xfrm>
              <a:off x="3034665" y="3925252"/>
              <a:ext cx="188390"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02</a:t>
              </a:r>
            </a:p>
          </p:txBody>
        </p:sp>
        <p:sp>
          <p:nvSpPr>
            <p:cNvPr id="18" name="TextBox 18"/>
            <p:cNvSpPr txBox="1"/>
            <p:nvPr/>
          </p:nvSpPr>
          <p:spPr>
            <a:xfrm>
              <a:off x="3320415" y="3925252"/>
              <a:ext cx="866775"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模型架构设计</a:t>
              </a:r>
            </a:p>
          </p:txBody>
        </p:sp>
        <p:sp>
          <p:nvSpPr>
            <p:cNvPr id="19" name="TextBox 19"/>
            <p:cNvSpPr txBox="1"/>
            <p:nvPr/>
          </p:nvSpPr>
          <p:spPr>
            <a:xfrm>
              <a:off x="3322320" y="4131945"/>
              <a:ext cx="100698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MacBERT + 分类头</a:t>
              </a:r>
            </a:p>
          </p:txBody>
        </p:sp>
        <p:sp>
          <p:nvSpPr>
            <p:cNvPr id="20" name="Rectangle 20"/>
            <p:cNvSpPr/>
            <p:nvPr/>
          </p:nvSpPr>
          <p:spPr>
            <a:xfrm>
              <a:off x="5143500" y="3810000"/>
              <a:ext cx="2190750" cy="533400"/>
            </a:xfrm>
            <a:prstGeom prst="rect">
              <a:avLst/>
            </a:prstGeom>
            <a:solidFill>
              <a:srgbClr val="E3F2FD"/>
            </a:solidFill>
            <a:ln>
              <a:noFill/>
            </a:ln>
          </p:spPr>
        </p:sp>
        <p:sp>
          <p:nvSpPr>
            <p:cNvPr id="21" name="Rectangle 21"/>
            <p:cNvSpPr/>
            <p:nvPr/>
          </p:nvSpPr>
          <p:spPr>
            <a:xfrm>
              <a:off x="5143500" y="3810000"/>
              <a:ext cx="57150" cy="533400"/>
            </a:xfrm>
            <a:prstGeom prst="rect">
              <a:avLst/>
            </a:prstGeom>
            <a:solidFill>
              <a:srgbClr val="1565C0"/>
            </a:solidFill>
            <a:ln>
              <a:noFill/>
            </a:ln>
          </p:spPr>
        </p:sp>
        <p:sp>
          <p:nvSpPr>
            <p:cNvPr id="22" name="TextBox 22"/>
            <p:cNvSpPr txBox="1"/>
            <p:nvPr/>
          </p:nvSpPr>
          <p:spPr>
            <a:xfrm>
              <a:off x="5320665" y="3925252"/>
              <a:ext cx="188390"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03</a:t>
              </a:r>
            </a:p>
          </p:txBody>
        </p:sp>
        <p:sp>
          <p:nvSpPr>
            <p:cNvPr id="23" name="TextBox 23"/>
            <p:cNvSpPr txBox="1"/>
            <p:nvPr/>
          </p:nvSpPr>
          <p:spPr>
            <a:xfrm>
              <a:off x="5606415" y="3925252"/>
              <a:ext cx="586740"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参数调优</a:t>
              </a:r>
            </a:p>
          </p:txBody>
        </p:sp>
        <p:sp>
          <p:nvSpPr>
            <p:cNvPr id="24" name="TextBox 24"/>
            <p:cNvSpPr txBox="1"/>
            <p:nvPr/>
          </p:nvSpPr>
          <p:spPr>
            <a:xfrm>
              <a:off x="5608320" y="4131945"/>
              <a:ext cx="122301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损失函数、学习率策略</a:t>
              </a:r>
            </a:p>
          </p:txBody>
        </p:sp>
        <p:sp>
          <p:nvSpPr>
            <p:cNvPr id="25" name="Rectangle 25"/>
            <p:cNvSpPr/>
            <p:nvPr/>
          </p:nvSpPr>
          <p:spPr>
            <a:xfrm>
              <a:off x="7429500" y="3810000"/>
              <a:ext cx="2190750" cy="533400"/>
            </a:xfrm>
            <a:prstGeom prst="rect">
              <a:avLst/>
            </a:prstGeom>
            <a:solidFill>
              <a:srgbClr val="FFF3E0"/>
            </a:solidFill>
            <a:ln>
              <a:noFill/>
            </a:ln>
          </p:spPr>
        </p:sp>
        <p:sp>
          <p:nvSpPr>
            <p:cNvPr id="26" name="Rectangle 26"/>
            <p:cNvSpPr/>
            <p:nvPr/>
          </p:nvSpPr>
          <p:spPr>
            <a:xfrm>
              <a:off x="7429500" y="3810000"/>
              <a:ext cx="57150" cy="533400"/>
            </a:xfrm>
            <a:prstGeom prst="rect">
              <a:avLst/>
            </a:prstGeom>
            <a:solidFill>
              <a:srgbClr val="FF6F00"/>
            </a:solidFill>
            <a:ln>
              <a:noFill/>
            </a:ln>
          </p:spPr>
        </p:sp>
        <p:sp>
          <p:nvSpPr>
            <p:cNvPr id="27" name="TextBox 27"/>
            <p:cNvSpPr txBox="1"/>
            <p:nvPr/>
          </p:nvSpPr>
          <p:spPr>
            <a:xfrm>
              <a:off x="7606665" y="3925252"/>
              <a:ext cx="188390"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04</a:t>
              </a:r>
            </a:p>
          </p:txBody>
        </p:sp>
        <p:sp>
          <p:nvSpPr>
            <p:cNvPr id="28" name="TextBox 28"/>
            <p:cNvSpPr txBox="1"/>
            <p:nvPr/>
          </p:nvSpPr>
          <p:spPr>
            <a:xfrm>
              <a:off x="7892415" y="3925252"/>
              <a:ext cx="726758"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伪标签训练</a:t>
              </a:r>
            </a:p>
          </p:txBody>
        </p:sp>
        <p:sp>
          <p:nvSpPr>
            <p:cNvPr id="29" name="TextBox 29"/>
            <p:cNvSpPr txBox="1"/>
            <p:nvPr/>
          </p:nvSpPr>
          <p:spPr>
            <a:xfrm>
              <a:off x="7894320" y="4131945"/>
              <a:ext cx="8629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半监督学习迭代</a:t>
              </a:r>
            </a:p>
          </p:txBody>
        </p:sp>
      </p:grpSp>
      <p:sp>
        <p:nvSpPr>
          <p:cNvPr id="31" name="TextBox 31"/>
          <p:cNvSpPr txBox="1"/>
          <p:nvPr/>
        </p:nvSpPr>
        <p:spPr>
          <a:xfrm>
            <a:off x="6461760" y="12039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关键数据</a:t>
            </a:r>
          </a:p>
        </p:txBody>
      </p:sp>
      <p:sp>
        <p:nvSpPr>
          <p:cNvPr id="32" name="Rectangle 32"/>
          <p:cNvSpPr/>
          <p:nvPr/>
        </p:nvSpPr>
        <p:spPr>
          <a:xfrm>
            <a:off x="6477000" y="1524000"/>
            <a:ext cx="2476500" cy="762000"/>
          </a:xfrm>
          <a:prstGeom prst="rect">
            <a:avLst/>
          </a:prstGeom>
          <a:solidFill>
            <a:srgbClr val="F8FAFC"/>
          </a:solidFill>
          <a:ln>
            <a:noFill/>
          </a:ln>
        </p:spPr>
      </p:sp>
      <p:sp>
        <p:nvSpPr>
          <p:cNvPr id="33" name="Rectangle 33"/>
          <p:cNvSpPr/>
          <p:nvPr/>
        </p:nvSpPr>
        <p:spPr>
          <a:xfrm>
            <a:off x="6477000" y="1524000"/>
            <a:ext cx="38100" cy="762000"/>
          </a:xfrm>
          <a:prstGeom prst="rect">
            <a:avLst/>
          </a:prstGeom>
          <a:solidFill>
            <a:srgbClr val="1565C0"/>
          </a:solidFill>
          <a:ln>
            <a:noFill/>
          </a:ln>
        </p:spPr>
      </p:sp>
      <p:sp>
        <p:nvSpPr>
          <p:cNvPr id="34" name="TextBox 34"/>
          <p:cNvSpPr txBox="1"/>
          <p:nvPr/>
        </p:nvSpPr>
        <p:spPr>
          <a:xfrm>
            <a:off x="6637020" y="1598295"/>
            <a:ext cx="1354722" cy="487680"/>
          </a:xfrm>
          <a:prstGeom prst="rect">
            <a:avLst/>
          </a:prstGeom>
          <a:noFill/>
          <a:ln>
            <a:noFill/>
          </a:ln>
        </p:spPr>
        <p:txBody>
          <a:bodyPr wrap="none" lIns="0" tIns="0" rIns="0" bIns="0" anchor="t" anchorCtr="0">
            <a:spAutoFit/>
          </a:bodyPr>
          <a:lstStyle/>
          <a:p>
            <a:pPr algn="l"/>
            <a:r>
              <a:rPr lang="zh-CN" sz="2400" b="1" dirty="0">
                <a:solidFill>
                  <a:srgbClr val="1565C0"/>
                </a:solidFill>
                <a:latin typeface="Arial"/>
                <a:ea typeface="Microsoft YaHei"/>
                <a:cs typeface="Arial"/>
              </a:rPr>
              <a:t>752,476</a:t>
            </a:r>
          </a:p>
        </p:txBody>
      </p:sp>
      <p:sp>
        <p:nvSpPr>
          <p:cNvPr id="35" name="TextBox 35"/>
          <p:cNvSpPr txBox="1"/>
          <p:nvPr/>
        </p:nvSpPr>
        <p:spPr>
          <a:xfrm>
            <a:off x="6654165" y="1982152"/>
            <a:ext cx="72675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训练集样本</a:t>
            </a:r>
          </a:p>
        </p:txBody>
      </p:sp>
      <p:sp>
        <p:nvSpPr>
          <p:cNvPr id="36" name="Rectangle 36"/>
          <p:cNvSpPr/>
          <p:nvPr/>
        </p:nvSpPr>
        <p:spPr>
          <a:xfrm>
            <a:off x="9144000" y="1524000"/>
            <a:ext cx="2476500" cy="762000"/>
          </a:xfrm>
          <a:prstGeom prst="rect">
            <a:avLst/>
          </a:prstGeom>
          <a:solidFill>
            <a:srgbClr val="F8FAFC"/>
          </a:solidFill>
          <a:ln>
            <a:noFill/>
          </a:ln>
        </p:spPr>
      </p:sp>
      <p:sp>
        <p:nvSpPr>
          <p:cNvPr id="37" name="Rectangle 37"/>
          <p:cNvSpPr/>
          <p:nvPr/>
        </p:nvSpPr>
        <p:spPr>
          <a:xfrm>
            <a:off x="9144000" y="1524000"/>
            <a:ext cx="38100" cy="762000"/>
          </a:xfrm>
          <a:prstGeom prst="rect">
            <a:avLst/>
          </a:prstGeom>
          <a:solidFill>
            <a:srgbClr val="1565C0"/>
          </a:solidFill>
          <a:ln>
            <a:noFill/>
          </a:ln>
        </p:spPr>
      </p:sp>
      <p:sp>
        <p:nvSpPr>
          <p:cNvPr id="38" name="TextBox 38"/>
          <p:cNvSpPr txBox="1"/>
          <p:nvPr/>
        </p:nvSpPr>
        <p:spPr>
          <a:xfrm>
            <a:off x="9304020" y="1598295"/>
            <a:ext cx="1169899" cy="487680"/>
          </a:xfrm>
          <a:prstGeom prst="rect">
            <a:avLst/>
          </a:prstGeom>
          <a:noFill/>
          <a:ln>
            <a:noFill/>
          </a:ln>
        </p:spPr>
        <p:txBody>
          <a:bodyPr wrap="none" lIns="0" tIns="0" rIns="0" bIns="0" anchor="t" anchorCtr="0">
            <a:spAutoFit/>
          </a:bodyPr>
          <a:lstStyle/>
          <a:p>
            <a:pPr algn="l"/>
            <a:r>
              <a:rPr lang="zh-CN" sz="2400" b="1" dirty="0">
                <a:solidFill>
                  <a:srgbClr val="1565C0"/>
                </a:solidFill>
                <a:latin typeface="Arial"/>
                <a:ea typeface="Microsoft YaHei"/>
                <a:cs typeface="Arial"/>
              </a:rPr>
              <a:t>83,599</a:t>
            </a:r>
          </a:p>
        </p:txBody>
      </p:sp>
      <p:sp>
        <p:nvSpPr>
          <p:cNvPr id="39" name="TextBox 39"/>
          <p:cNvSpPr txBox="1"/>
          <p:nvPr/>
        </p:nvSpPr>
        <p:spPr>
          <a:xfrm>
            <a:off x="9321165" y="1982152"/>
            <a:ext cx="72675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测试集样本</a:t>
            </a:r>
          </a:p>
        </p:txBody>
      </p:sp>
      <p:sp>
        <p:nvSpPr>
          <p:cNvPr id="40" name="Rectangle 40"/>
          <p:cNvSpPr/>
          <p:nvPr/>
        </p:nvSpPr>
        <p:spPr>
          <a:xfrm>
            <a:off x="6477000" y="2457450"/>
            <a:ext cx="2476500" cy="762000"/>
          </a:xfrm>
          <a:prstGeom prst="rect">
            <a:avLst/>
          </a:prstGeom>
          <a:solidFill>
            <a:srgbClr val="F8FAFC"/>
          </a:solidFill>
          <a:ln>
            <a:noFill/>
          </a:ln>
        </p:spPr>
      </p:sp>
      <p:sp>
        <p:nvSpPr>
          <p:cNvPr id="41" name="Rectangle 41"/>
          <p:cNvSpPr/>
          <p:nvPr/>
        </p:nvSpPr>
        <p:spPr>
          <a:xfrm>
            <a:off x="6477000" y="2457450"/>
            <a:ext cx="38100" cy="762000"/>
          </a:xfrm>
          <a:prstGeom prst="rect">
            <a:avLst/>
          </a:prstGeom>
          <a:solidFill>
            <a:srgbClr val="FF6F00"/>
          </a:solidFill>
          <a:ln>
            <a:noFill/>
          </a:ln>
        </p:spPr>
      </p:sp>
      <p:sp>
        <p:nvSpPr>
          <p:cNvPr id="42" name="TextBox 42"/>
          <p:cNvSpPr txBox="1"/>
          <p:nvPr/>
        </p:nvSpPr>
        <p:spPr>
          <a:xfrm>
            <a:off x="6637020" y="2531745"/>
            <a:ext cx="430606" cy="487680"/>
          </a:xfrm>
          <a:prstGeom prst="rect">
            <a:avLst/>
          </a:prstGeom>
          <a:noFill/>
          <a:ln>
            <a:noFill/>
          </a:ln>
        </p:spPr>
        <p:txBody>
          <a:bodyPr wrap="none" lIns="0" tIns="0" rIns="0" bIns="0" anchor="t" anchorCtr="0">
            <a:spAutoFit/>
          </a:bodyPr>
          <a:lstStyle/>
          <a:p>
            <a:pPr algn="l"/>
            <a:r>
              <a:rPr lang="zh-CN" sz="2400" b="1" dirty="0">
                <a:solidFill>
                  <a:srgbClr val="FF6F00"/>
                </a:solidFill>
                <a:latin typeface="Arial"/>
                <a:ea typeface="Microsoft YaHei"/>
                <a:cs typeface="Arial"/>
              </a:rPr>
              <a:t>14</a:t>
            </a:r>
          </a:p>
        </p:txBody>
      </p:sp>
      <p:sp>
        <p:nvSpPr>
          <p:cNvPr id="43" name="TextBox 43"/>
          <p:cNvSpPr txBox="1"/>
          <p:nvPr/>
        </p:nvSpPr>
        <p:spPr>
          <a:xfrm>
            <a:off x="6654165" y="2915602"/>
            <a:ext cx="86677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新闻分类类别</a:t>
            </a:r>
          </a:p>
        </p:txBody>
      </p:sp>
      <p:sp>
        <p:nvSpPr>
          <p:cNvPr id="44" name="Rectangle 44"/>
          <p:cNvSpPr/>
          <p:nvPr/>
        </p:nvSpPr>
        <p:spPr>
          <a:xfrm>
            <a:off x="9144000" y="2457450"/>
            <a:ext cx="2476500" cy="762000"/>
          </a:xfrm>
          <a:prstGeom prst="rect">
            <a:avLst/>
          </a:prstGeom>
          <a:solidFill>
            <a:srgbClr val="F8FAFC"/>
          </a:solidFill>
          <a:ln>
            <a:noFill/>
          </a:ln>
        </p:spPr>
      </p:sp>
      <p:sp>
        <p:nvSpPr>
          <p:cNvPr id="45" name="Rectangle 45"/>
          <p:cNvSpPr/>
          <p:nvPr/>
        </p:nvSpPr>
        <p:spPr>
          <a:xfrm>
            <a:off x="9144000" y="2457450"/>
            <a:ext cx="38100" cy="762000"/>
          </a:xfrm>
          <a:prstGeom prst="rect">
            <a:avLst/>
          </a:prstGeom>
          <a:solidFill>
            <a:srgbClr val="2E7D32"/>
          </a:solidFill>
          <a:ln>
            <a:noFill/>
          </a:ln>
        </p:spPr>
      </p:sp>
      <p:sp>
        <p:nvSpPr>
          <p:cNvPr id="46" name="TextBox 46"/>
          <p:cNvSpPr txBox="1"/>
          <p:nvPr/>
        </p:nvSpPr>
        <p:spPr>
          <a:xfrm>
            <a:off x="9304020" y="2531745"/>
            <a:ext cx="1388201" cy="369332"/>
          </a:xfrm>
          <a:prstGeom prst="rect">
            <a:avLst/>
          </a:prstGeom>
          <a:noFill/>
          <a:ln>
            <a:noFill/>
          </a:ln>
        </p:spPr>
        <p:txBody>
          <a:bodyPr wrap="none" lIns="0" tIns="0" rIns="0" bIns="0" anchor="t" anchorCtr="0">
            <a:spAutoFit/>
          </a:bodyPr>
          <a:lstStyle/>
          <a:p>
            <a:pPr algn="l"/>
            <a:r>
              <a:rPr lang="zh-CN" sz="2400" b="1" dirty="0">
                <a:solidFill>
                  <a:srgbClr val="2E7D32"/>
                </a:solidFill>
                <a:latin typeface="Arial"/>
                <a:ea typeface="Microsoft YaHei"/>
                <a:cs typeface="Arial"/>
              </a:rPr>
              <a:t>90.00</a:t>
            </a:r>
            <a:r>
              <a:rPr lang="en-US" altLang="zh-CN" sz="2400" b="1" dirty="0">
                <a:solidFill>
                  <a:srgbClr val="2E7D32"/>
                </a:solidFill>
                <a:latin typeface="Arial"/>
                <a:ea typeface="Microsoft YaHei"/>
                <a:cs typeface="Arial"/>
              </a:rPr>
              <a:t>12</a:t>
            </a:r>
            <a:r>
              <a:rPr lang="zh-CN" sz="2400" b="1" dirty="0">
                <a:solidFill>
                  <a:srgbClr val="2E7D32"/>
                </a:solidFill>
                <a:latin typeface="Arial"/>
                <a:ea typeface="Microsoft YaHei"/>
                <a:cs typeface="Arial"/>
              </a:rPr>
              <a:t>%</a:t>
            </a:r>
          </a:p>
        </p:txBody>
      </p:sp>
      <p:sp>
        <p:nvSpPr>
          <p:cNvPr id="47" name="TextBox 47"/>
          <p:cNvSpPr txBox="1"/>
          <p:nvPr/>
        </p:nvSpPr>
        <p:spPr>
          <a:xfrm>
            <a:off x="9321165" y="2915602"/>
            <a:ext cx="100679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最终测试准确率</a:t>
            </a:r>
          </a:p>
        </p:txBody>
      </p:sp>
      <p:sp>
        <p:nvSpPr>
          <p:cNvPr id="48" name="Rectangle 48"/>
          <p:cNvSpPr/>
          <p:nvPr/>
        </p:nvSpPr>
        <p:spPr>
          <a:xfrm>
            <a:off x="571500" y="4667250"/>
            <a:ext cx="11049000" cy="476250"/>
          </a:xfrm>
          <a:prstGeom prst="rect">
            <a:avLst/>
          </a:prstGeom>
          <a:solidFill>
            <a:srgbClr val="1565C0"/>
          </a:solidFill>
          <a:ln>
            <a:noFill/>
          </a:ln>
        </p:spPr>
      </p:sp>
      <p:sp>
        <p:nvSpPr>
          <p:cNvPr id="49" name="TextBox 49"/>
          <p:cNvSpPr txBox="1"/>
          <p:nvPr/>
        </p:nvSpPr>
        <p:spPr>
          <a:xfrm>
            <a:off x="746760" y="4842510"/>
            <a:ext cx="7263384"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目标: 利用预训练语言模型 MacBERT，对新闻标题进行多分类，在测试集上取得尽可能高的分类准确率</a:t>
            </a:r>
          </a:p>
        </p:txBody>
      </p:sp>
      <p:sp>
        <p:nvSpPr>
          <p:cNvPr id="50" name="Rectangle 50"/>
          <p:cNvSpPr/>
          <p:nvPr/>
        </p:nvSpPr>
        <p:spPr>
          <a:xfrm>
            <a:off x="571500" y="6619875"/>
            <a:ext cx="11049000" cy="9525"/>
          </a:xfrm>
          <a:prstGeom prst="rect">
            <a:avLst/>
          </a:prstGeom>
          <a:solidFill>
            <a:srgbClr val="E5E7EB"/>
          </a:solidFill>
          <a:ln>
            <a:noFill/>
          </a:ln>
        </p:spPr>
      </p:sp>
      <p:sp>
        <p:nvSpPr>
          <p:cNvPr id="51" name="TextBox 51"/>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03</a:t>
            </a:r>
          </a:p>
        </p:txBody>
      </p:sp>
      <p:sp>
        <p:nvSpPr>
          <p:cNvPr id="52" name="Rectangle 52"/>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1947386"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模型架构设计</a:t>
            </a:r>
          </a:p>
        </p:txBody>
      </p:sp>
      <p:sp>
        <p:nvSpPr>
          <p:cNvPr id="5" name="Rectangle 5"/>
          <p:cNvSpPr/>
          <p:nvPr/>
        </p:nvSpPr>
        <p:spPr>
          <a:xfrm>
            <a:off x="571500" y="952500"/>
            <a:ext cx="11049000" cy="9525"/>
          </a:xfrm>
          <a:prstGeom prst="rect">
            <a:avLst/>
          </a:prstGeom>
          <a:solidFill>
            <a:srgbClr val="E5E7EB"/>
          </a:solidFill>
          <a:ln>
            <a:noFill/>
          </a:ln>
        </p:spPr>
      </p:sp>
      <p:sp>
        <p:nvSpPr>
          <p:cNvPr id="6" name="TextBox 6"/>
          <p:cNvSpPr txBox="1"/>
          <p:nvPr/>
        </p:nvSpPr>
        <p:spPr>
          <a:xfrm>
            <a:off x="556260" y="1156335"/>
            <a:ext cx="1097413"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MacBERT 简介</a:t>
            </a:r>
          </a:p>
        </p:txBody>
      </p:sp>
      <p:sp>
        <p:nvSpPr>
          <p:cNvPr id="7" name="Rectangle 7"/>
          <p:cNvSpPr/>
          <p:nvPr/>
        </p:nvSpPr>
        <p:spPr>
          <a:xfrm>
            <a:off x="571500" y="1476375"/>
            <a:ext cx="5238750" cy="857250"/>
          </a:xfrm>
          <a:prstGeom prst="rect">
            <a:avLst/>
          </a:prstGeom>
          <a:solidFill>
            <a:srgbClr val="F8FAFC"/>
          </a:solidFill>
          <a:ln>
            <a:noFill/>
          </a:ln>
        </p:spPr>
      </p:sp>
      <p:sp>
        <p:nvSpPr>
          <p:cNvPr id="8" name="Rectangle 8"/>
          <p:cNvSpPr/>
          <p:nvPr/>
        </p:nvSpPr>
        <p:spPr>
          <a:xfrm>
            <a:off x="571500" y="1476375"/>
            <a:ext cx="38100" cy="857250"/>
          </a:xfrm>
          <a:prstGeom prst="rect">
            <a:avLst/>
          </a:prstGeom>
          <a:solidFill>
            <a:srgbClr val="1565C0"/>
          </a:solidFill>
          <a:ln>
            <a:noFill/>
          </a:ln>
        </p:spPr>
      </p:sp>
      <p:sp>
        <p:nvSpPr>
          <p:cNvPr id="9" name="TextBox 9"/>
          <p:cNvSpPr txBox="1"/>
          <p:nvPr/>
        </p:nvSpPr>
        <p:spPr>
          <a:xfrm>
            <a:off x="728662" y="1593056"/>
            <a:ext cx="2099959"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Whole Word Masking (WWM)</a:t>
            </a:r>
          </a:p>
        </p:txBody>
      </p:sp>
      <p:sp>
        <p:nvSpPr>
          <p:cNvPr id="10" name="TextBox 10"/>
          <p:cNvSpPr txBox="1"/>
          <p:nvPr/>
        </p:nvSpPr>
        <p:spPr>
          <a:xfrm>
            <a:off x="729615" y="1820228"/>
            <a:ext cx="2827020" cy="422910"/>
          </a:xfrm>
          <a:prstGeom prst="rect">
            <a:avLst/>
          </a:prstGeom>
          <a:noFill/>
          <a:ln>
            <a:noFill/>
          </a:ln>
        </p:spPr>
        <p:txBody>
          <a:bodyPr wrap="square" lIns="0" tIns="0" rIns="0" bIns="0" anchor="t" anchorCtr="0"/>
          <a:lstStyle/>
          <a:p>
            <a:pPr algn="l">
              <a:lnSpc>
                <a:spcPts val="1650"/>
              </a:lnSpc>
            </a:pPr>
            <a:r>
              <a:rPr lang="zh-CN" sz="1050" dirty="0">
                <a:solidFill>
                  <a:srgbClr val="6B7280"/>
                </a:solidFill>
                <a:latin typeface="Arial"/>
                <a:ea typeface="Microsoft YaHei"/>
                <a:cs typeface="Arial"/>
              </a:rPr>
              <a:t>对完整汉语词汇进行掩码，迫使模型利用上下文信息预测整个词汇，获得更强的语义理解能力</a:t>
            </a:r>
          </a:p>
        </p:txBody>
      </p:sp>
      <p:sp>
        <p:nvSpPr>
          <p:cNvPr id="11" name="Rectangle 11"/>
          <p:cNvSpPr/>
          <p:nvPr/>
        </p:nvSpPr>
        <p:spPr>
          <a:xfrm>
            <a:off x="571500" y="2457450"/>
            <a:ext cx="5238750" cy="857250"/>
          </a:xfrm>
          <a:prstGeom prst="rect">
            <a:avLst/>
          </a:prstGeom>
          <a:solidFill>
            <a:srgbClr val="F8FAFC"/>
          </a:solidFill>
          <a:ln>
            <a:noFill/>
          </a:ln>
        </p:spPr>
      </p:sp>
      <p:sp>
        <p:nvSpPr>
          <p:cNvPr id="12" name="Rectangle 12"/>
          <p:cNvSpPr/>
          <p:nvPr/>
        </p:nvSpPr>
        <p:spPr>
          <a:xfrm>
            <a:off x="571500" y="2457450"/>
            <a:ext cx="38100" cy="857250"/>
          </a:xfrm>
          <a:prstGeom prst="rect">
            <a:avLst/>
          </a:prstGeom>
          <a:solidFill>
            <a:srgbClr val="1565C0"/>
          </a:solidFill>
          <a:ln>
            <a:noFill/>
          </a:ln>
        </p:spPr>
      </p:sp>
      <p:sp>
        <p:nvSpPr>
          <p:cNvPr id="13" name="TextBox 13"/>
          <p:cNvSpPr txBox="1"/>
          <p:nvPr/>
        </p:nvSpPr>
        <p:spPr>
          <a:xfrm>
            <a:off x="728662" y="2574131"/>
            <a:ext cx="2604022"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MLM校正 (Correction-based MLM)</a:t>
            </a:r>
          </a:p>
        </p:txBody>
      </p:sp>
      <p:sp>
        <p:nvSpPr>
          <p:cNvPr id="14" name="TextBox 14"/>
          <p:cNvSpPr txBox="1"/>
          <p:nvPr/>
        </p:nvSpPr>
        <p:spPr>
          <a:xfrm>
            <a:off x="729615" y="2801302"/>
            <a:ext cx="2760345" cy="422910"/>
          </a:xfrm>
          <a:prstGeom prst="rect">
            <a:avLst/>
          </a:prstGeom>
          <a:noFill/>
          <a:ln>
            <a:noFill/>
          </a:ln>
        </p:spPr>
        <p:txBody>
          <a:bodyPr wrap="square" lIns="0" tIns="0" rIns="0" bIns="0" anchor="t" anchorCtr="0"/>
          <a:lstStyle/>
          <a:p>
            <a:pPr algn="l">
              <a:lnSpc>
                <a:spcPts val="1650"/>
              </a:lnSpc>
            </a:pPr>
            <a:r>
              <a:rPr lang="zh-CN" sz="1050" dirty="0">
                <a:solidFill>
                  <a:srgbClr val="6B7280"/>
                </a:solidFill>
                <a:latin typeface="Arial"/>
                <a:ea typeface="Microsoft YaHei"/>
                <a:cs typeface="Arial"/>
              </a:rPr>
              <a:t>使用近义词替换被掩码的词，而非[MASK]标记缩小预训练与微调阶段的分布差异</a:t>
            </a:r>
          </a:p>
        </p:txBody>
      </p:sp>
      <p:sp>
        <p:nvSpPr>
          <p:cNvPr id="15" name="TextBox 15"/>
          <p:cNvSpPr txBox="1"/>
          <p:nvPr/>
        </p:nvSpPr>
        <p:spPr>
          <a:xfrm>
            <a:off x="558165" y="3506152"/>
            <a:ext cx="473125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MacBERT-base: 12层Transformer · 768维隐层 · 12头注意力 · 102M参数</a:t>
            </a:r>
          </a:p>
        </p:txBody>
      </p:sp>
      <p:sp>
        <p:nvSpPr>
          <p:cNvPr id="16" name="TextBox 16"/>
          <p:cNvSpPr txBox="1"/>
          <p:nvPr/>
        </p:nvSpPr>
        <p:spPr>
          <a:xfrm>
            <a:off x="6366510" y="1156335"/>
            <a:ext cx="103860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分类模型结构</a:t>
            </a:r>
          </a:p>
        </p:txBody>
      </p:sp>
      <p:grpSp>
        <p:nvGrpSpPr>
          <p:cNvPr id="48" name="Group 48"/>
          <p:cNvGrpSpPr/>
          <p:nvPr/>
        </p:nvGrpSpPr>
        <p:grpSpPr>
          <a:xfrm>
            <a:off x="6667500" y="1476375"/>
            <a:ext cx="3619500" cy="4200525"/>
            <a:chOff x="6667500" y="1476375"/>
            <a:chExt cx="3619500" cy="4200525"/>
          </a:xfrm>
        </p:grpSpPr>
        <p:sp>
          <p:nvSpPr>
            <p:cNvPr id="17" name="Rectangle 17"/>
            <p:cNvSpPr/>
            <p:nvPr/>
          </p:nvSpPr>
          <p:spPr>
            <a:xfrm>
              <a:off x="7143750" y="1476375"/>
              <a:ext cx="2667000" cy="342900"/>
            </a:xfrm>
            <a:prstGeom prst="rect">
              <a:avLst/>
            </a:prstGeom>
            <a:solidFill>
              <a:srgbClr val="E3F2FD"/>
            </a:solidFill>
            <a:ln>
              <a:noFill/>
            </a:ln>
          </p:spPr>
        </p:sp>
        <p:sp>
          <p:nvSpPr>
            <p:cNvPr id="18" name="Rectangle 18"/>
            <p:cNvSpPr/>
            <p:nvPr/>
          </p:nvSpPr>
          <p:spPr>
            <a:xfrm>
              <a:off x="7143750" y="1476375"/>
              <a:ext cx="2667000" cy="342900"/>
            </a:xfrm>
            <a:prstGeom prst="rect">
              <a:avLst/>
            </a:prstGeom>
            <a:noFill/>
            <a:ln w="9525">
              <a:solidFill>
                <a:srgbClr val="1565C0"/>
              </a:solidFill>
            </a:ln>
          </p:spPr>
        </p:sp>
        <p:sp>
          <p:nvSpPr>
            <p:cNvPr id="19" name="TextBox 19"/>
            <p:cNvSpPr txBox="1"/>
            <p:nvPr/>
          </p:nvSpPr>
          <p:spPr>
            <a:xfrm>
              <a:off x="7772929" y="1582102"/>
              <a:ext cx="1408643" cy="213360"/>
            </a:xfrm>
            <a:prstGeom prst="rect">
              <a:avLst/>
            </a:prstGeom>
            <a:noFill/>
            <a:ln>
              <a:noFill/>
            </a:ln>
          </p:spPr>
          <p:txBody>
            <a:bodyPr wrap="none" lIns="0" tIns="0" rIns="0" bIns="0" anchor="t" anchorCtr="0">
              <a:spAutoFit/>
            </a:bodyPr>
            <a:lstStyle/>
            <a:p>
              <a:pPr algn="ctr"/>
              <a:r>
                <a:rPr lang="zh-CN" sz="1050" b="1" dirty="0">
                  <a:solidFill>
                    <a:srgbClr val="1565C0"/>
                  </a:solidFill>
                  <a:latin typeface="Arial"/>
                  <a:ea typeface="Microsoft YaHei"/>
                  <a:cs typeface="Arial"/>
                </a:rPr>
                <a:t>输入文本 (新闻标题)</a:t>
              </a:r>
            </a:p>
          </p:txBody>
        </p:sp>
        <p:sp>
          <p:nvSpPr>
            <p:cNvPr id="20" name="Line 20"/>
            <p:cNvSpPr/>
            <p:nvPr/>
          </p:nvSpPr>
          <p:spPr>
            <a:xfrm>
              <a:off x="8477250" y="1819275"/>
              <a:ext cx="9525" cy="180975"/>
            </a:xfrm>
            <a:custGeom>
              <a:avLst/>
              <a:gdLst/>
              <a:ahLst/>
              <a:cxnLst/>
              <a:rect l="l" t="t" r="r" b="b"/>
              <a:pathLst>
                <a:path w="9525" h="180975">
                  <a:moveTo>
                    <a:pt x="0" y="0"/>
                  </a:moveTo>
                  <a:lnTo>
                    <a:pt x="0" y="180975"/>
                  </a:lnTo>
                </a:path>
              </a:pathLst>
            </a:custGeom>
            <a:noFill/>
            <a:ln w="14288">
              <a:solidFill>
                <a:srgbClr val="1565C0"/>
              </a:solidFill>
            </a:ln>
          </p:spPr>
        </p:sp>
        <p:sp>
          <p:nvSpPr>
            <p:cNvPr id="21" name="Polygon 21"/>
            <p:cNvSpPr/>
            <p:nvPr/>
          </p:nvSpPr>
          <p:spPr>
            <a:xfrm>
              <a:off x="8429625" y="2000250"/>
              <a:ext cx="95250" cy="76200"/>
            </a:xfrm>
            <a:custGeom>
              <a:avLst/>
              <a:gdLst/>
              <a:ahLst/>
              <a:cxnLst/>
              <a:rect l="l" t="t" r="r" b="b"/>
              <a:pathLst>
                <a:path w="95250" h="76200">
                  <a:moveTo>
                    <a:pt x="0" y="0"/>
                  </a:moveTo>
                  <a:lnTo>
                    <a:pt x="47625" y="76200"/>
                  </a:lnTo>
                  <a:lnTo>
                    <a:pt x="95250" y="0"/>
                  </a:lnTo>
                  <a:close/>
                </a:path>
              </a:pathLst>
            </a:custGeom>
            <a:solidFill>
              <a:srgbClr val="1565C0"/>
            </a:solidFill>
            <a:ln>
              <a:noFill/>
            </a:ln>
          </p:spPr>
        </p:sp>
        <p:sp>
          <p:nvSpPr>
            <p:cNvPr id="22" name="Rectangle 22"/>
            <p:cNvSpPr/>
            <p:nvPr/>
          </p:nvSpPr>
          <p:spPr>
            <a:xfrm>
              <a:off x="6953250" y="2095500"/>
              <a:ext cx="3048000" cy="342900"/>
            </a:xfrm>
            <a:prstGeom prst="rect">
              <a:avLst/>
            </a:prstGeom>
            <a:solidFill>
              <a:srgbClr val="F8FAFC"/>
            </a:solidFill>
            <a:ln>
              <a:noFill/>
            </a:ln>
          </p:spPr>
        </p:sp>
        <p:sp>
          <p:nvSpPr>
            <p:cNvPr id="23" name="Rectangle 23"/>
            <p:cNvSpPr/>
            <p:nvPr/>
          </p:nvSpPr>
          <p:spPr>
            <a:xfrm>
              <a:off x="6953250" y="2095500"/>
              <a:ext cx="3048000" cy="342900"/>
            </a:xfrm>
            <a:prstGeom prst="rect">
              <a:avLst/>
            </a:prstGeom>
            <a:noFill/>
            <a:ln w="9525">
              <a:solidFill>
                <a:srgbClr val="9CA3AF"/>
              </a:solidFill>
            </a:ln>
          </p:spPr>
        </p:sp>
        <p:sp>
          <p:nvSpPr>
            <p:cNvPr id="24" name="TextBox 24"/>
            <p:cNvSpPr txBox="1"/>
            <p:nvPr/>
          </p:nvSpPr>
          <p:spPr>
            <a:xfrm>
              <a:off x="7389281" y="2201228"/>
              <a:ext cx="2175939" cy="213360"/>
            </a:xfrm>
            <a:prstGeom prst="rect">
              <a:avLst/>
            </a:prstGeom>
            <a:noFill/>
            <a:ln>
              <a:noFill/>
            </a:ln>
          </p:spPr>
          <p:txBody>
            <a:bodyPr wrap="none" lIns="0" tIns="0" rIns="0" bIns="0" anchor="t" anchorCtr="0">
              <a:spAutoFit/>
            </a:bodyPr>
            <a:lstStyle/>
            <a:p>
              <a:pPr algn="ctr"/>
              <a:r>
                <a:rPr lang="zh-CN" sz="1050" dirty="0">
                  <a:solidFill>
                    <a:srgbClr val="1D1D1F"/>
                  </a:solidFill>
                  <a:latin typeface="Arial"/>
                  <a:ea typeface="Microsoft YaHei"/>
                  <a:cs typeface="Arial"/>
                </a:rPr>
                <a:t>MacBERT Tokenizer (WordPiece)</a:t>
              </a:r>
            </a:p>
          </p:txBody>
        </p:sp>
        <p:sp>
          <p:nvSpPr>
            <p:cNvPr id="25" name="Line 25"/>
            <p:cNvSpPr/>
            <p:nvPr/>
          </p:nvSpPr>
          <p:spPr>
            <a:xfrm>
              <a:off x="8477250" y="2438400"/>
              <a:ext cx="9525" cy="180975"/>
            </a:xfrm>
            <a:custGeom>
              <a:avLst/>
              <a:gdLst/>
              <a:ahLst/>
              <a:cxnLst/>
              <a:rect l="l" t="t" r="r" b="b"/>
              <a:pathLst>
                <a:path w="9525" h="180975">
                  <a:moveTo>
                    <a:pt x="0" y="0"/>
                  </a:moveTo>
                  <a:lnTo>
                    <a:pt x="0" y="180975"/>
                  </a:lnTo>
                </a:path>
              </a:pathLst>
            </a:custGeom>
            <a:noFill/>
            <a:ln w="14288">
              <a:solidFill>
                <a:srgbClr val="1565C0"/>
              </a:solidFill>
            </a:ln>
          </p:spPr>
        </p:sp>
        <p:sp>
          <p:nvSpPr>
            <p:cNvPr id="26" name="Polygon 26"/>
            <p:cNvSpPr/>
            <p:nvPr/>
          </p:nvSpPr>
          <p:spPr>
            <a:xfrm>
              <a:off x="8429625" y="2619375"/>
              <a:ext cx="95250" cy="76200"/>
            </a:xfrm>
            <a:custGeom>
              <a:avLst/>
              <a:gdLst/>
              <a:ahLst/>
              <a:cxnLst/>
              <a:rect l="l" t="t" r="r" b="b"/>
              <a:pathLst>
                <a:path w="95250" h="76200">
                  <a:moveTo>
                    <a:pt x="0" y="0"/>
                  </a:moveTo>
                  <a:lnTo>
                    <a:pt x="47625" y="76200"/>
                  </a:lnTo>
                  <a:lnTo>
                    <a:pt x="95250" y="0"/>
                  </a:lnTo>
                  <a:close/>
                </a:path>
              </a:pathLst>
            </a:custGeom>
            <a:solidFill>
              <a:srgbClr val="1565C0"/>
            </a:solidFill>
            <a:ln>
              <a:noFill/>
            </a:ln>
          </p:spPr>
        </p:sp>
        <p:sp>
          <p:nvSpPr>
            <p:cNvPr id="27" name="Rectangle 27"/>
            <p:cNvSpPr/>
            <p:nvPr/>
          </p:nvSpPr>
          <p:spPr>
            <a:xfrm>
              <a:off x="6667500" y="2714625"/>
              <a:ext cx="3619500" cy="457200"/>
            </a:xfrm>
            <a:prstGeom prst="rect">
              <a:avLst/>
            </a:prstGeom>
            <a:solidFill>
              <a:srgbClr val="1565C0"/>
            </a:solidFill>
            <a:ln>
              <a:noFill/>
            </a:ln>
          </p:spPr>
        </p:sp>
        <p:sp>
          <p:nvSpPr>
            <p:cNvPr id="28" name="TextBox 28"/>
            <p:cNvSpPr txBox="1"/>
            <p:nvPr/>
          </p:nvSpPr>
          <p:spPr>
            <a:xfrm>
              <a:off x="7025595" y="2869406"/>
              <a:ext cx="290330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MacBERT Encoder (12层 Transformer)</a:t>
              </a:r>
            </a:p>
          </p:txBody>
        </p:sp>
        <p:sp>
          <p:nvSpPr>
            <p:cNvPr id="29" name="Line 29"/>
            <p:cNvSpPr/>
            <p:nvPr/>
          </p:nvSpPr>
          <p:spPr>
            <a:xfrm>
              <a:off x="8477250" y="3171825"/>
              <a:ext cx="9525" cy="180975"/>
            </a:xfrm>
            <a:custGeom>
              <a:avLst/>
              <a:gdLst/>
              <a:ahLst/>
              <a:cxnLst/>
              <a:rect l="l" t="t" r="r" b="b"/>
              <a:pathLst>
                <a:path w="9525" h="180975">
                  <a:moveTo>
                    <a:pt x="0" y="0"/>
                  </a:moveTo>
                  <a:lnTo>
                    <a:pt x="0" y="180975"/>
                  </a:lnTo>
                </a:path>
              </a:pathLst>
            </a:custGeom>
            <a:noFill/>
            <a:ln w="14288">
              <a:solidFill>
                <a:srgbClr val="1565C0"/>
              </a:solidFill>
            </a:ln>
          </p:spPr>
        </p:sp>
        <p:sp>
          <p:nvSpPr>
            <p:cNvPr id="30" name="Polygon 30"/>
            <p:cNvSpPr/>
            <p:nvPr/>
          </p:nvSpPr>
          <p:spPr>
            <a:xfrm>
              <a:off x="8429625" y="3352800"/>
              <a:ext cx="95250" cy="76200"/>
            </a:xfrm>
            <a:custGeom>
              <a:avLst/>
              <a:gdLst/>
              <a:ahLst/>
              <a:cxnLst/>
              <a:rect l="l" t="t" r="r" b="b"/>
              <a:pathLst>
                <a:path w="95250" h="76200">
                  <a:moveTo>
                    <a:pt x="0" y="0"/>
                  </a:moveTo>
                  <a:lnTo>
                    <a:pt x="47625" y="76200"/>
                  </a:lnTo>
                  <a:lnTo>
                    <a:pt x="95250" y="0"/>
                  </a:lnTo>
                  <a:close/>
                </a:path>
              </a:pathLst>
            </a:custGeom>
            <a:solidFill>
              <a:srgbClr val="1565C0"/>
            </a:solidFill>
            <a:ln>
              <a:noFill/>
            </a:ln>
          </p:spPr>
        </p:sp>
        <p:sp>
          <p:nvSpPr>
            <p:cNvPr id="31" name="Rectangle 31"/>
            <p:cNvSpPr/>
            <p:nvPr/>
          </p:nvSpPr>
          <p:spPr>
            <a:xfrm>
              <a:off x="6953250" y="3448050"/>
              <a:ext cx="3048000" cy="342900"/>
            </a:xfrm>
            <a:prstGeom prst="rect">
              <a:avLst/>
            </a:prstGeom>
            <a:solidFill>
              <a:srgbClr val="F8FAFC"/>
            </a:solidFill>
            <a:ln>
              <a:noFill/>
            </a:ln>
          </p:spPr>
        </p:sp>
        <p:sp>
          <p:nvSpPr>
            <p:cNvPr id="32" name="Rectangle 32"/>
            <p:cNvSpPr/>
            <p:nvPr/>
          </p:nvSpPr>
          <p:spPr>
            <a:xfrm>
              <a:off x="6953250" y="3448050"/>
              <a:ext cx="3048000" cy="342900"/>
            </a:xfrm>
            <a:prstGeom prst="rect">
              <a:avLst/>
            </a:prstGeom>
            <a:noFill/>
            <a:ln w="9525">
              <a:solidFill>
                <a:srgbClr val="9CA3AF"/>
              </a:solidFill>
            </a:ln>
          </p:spPr>
        </p:sp>
        <p:sp>
          <p:nvSpPr>
            <p:cNvPr id="33" name="TextBox 33"/>
            <p:cNvSpPr txBox="1"/>
            <p:nvPr/>
          </p:nvSpPr>
          <p:spPr>
            <a:xfrm>
              <a:off x="7172254" y="3553778"/>
              <a:ext cx="2609993" cy="213360"/>
            </a:xfrm>
            <a:prstGeom prst="rect">
              <a:avLst/>
            </a:prstGeom>
            <a:noFill/>
            <a:ln>
              <a:noFill/>
            </a:ln>
          </p:spPr>
          <p:txBody>
            <a:bodyPr wrap="none" lIns="0" tIns="0" rIns="0" bIns="0" anchor="t" anchorCtr="0">
              <a:spAutoFit/>
            </a:bodyPr>
            <a:lstStyle/>
            <a:p>
              <a:pPr algn="ctr"/>
              <a:r>
                <a:rPr lang="zh-CN" sz="1050" dirty="0">
                  <a:solidFill>
                    <a:srgbClr val="1D1D1F"/>
                  </a:solidFill>
                  <a:latin typeface="Arial"/>
                  <a:ea typeface="Microsoft YaHei"/>
                  <a:cs typeface="Arial"/>
                </a:rPr>
                <a:t>last_hidden_state[:, 0] (CLS, 768维)</a:t>
              </a:r>
            </a:p>
          </p:txBody>
        </p:sp>
        <p:sp>
          <p:nvSpPr>
            <p:cNvPr id="34" name="Line 34"/>
            <p:cNvSpPr/>
            <p:nvPr/>
          </p:nvSpPr>
          <p:spPr>
            <a:xfrm>
              <a:off x="8477250" y="3790950"/>
              <a:ext cx="9525" cy="180975"/>
            </a:xfrm>
            <a:custGeom>
              <a:avLst/>
              <a:gdLst/>
              <a:ahLst/>
              <a:cxnLst/>
              <a:rect l="l" t="t" r="r" b="b"/>
              <a:pathLst>
                <a:path w="9525" h="180975">
                  <a:moveTo>
                    <a:pt x="0" y="0"/>
                  </a:moveTo>
                  <a:lnTo>
                    <a:pt x="0" y="180975"/>
                  </a:lnTo>
                </a:path>
              </a:pathLst>
            </a:custGeom>
            <a:noFill/>
            <a:ln w="14288">
              <a:solidFill>
                <a:srgbClr val="1565C0"/>
              </a:solidFill>
            </a:ln>
          </p:spPr>
        </p:sp>
        <p:sp>
          <p:nvSpPr>
            <p:cNvPr id="35" name="Polygon 35"/>
            <p:cNvSpPr/>
            <p:nvPr/>
          </p:nvSpPr>
          <p:spPr>
            <a:xfrm>
              <a:off x="8429625" y="3971925"/>
              <a:ext cx="95250" cy="76200"/>
            </a:xfrm>
            <a:custGeom>
              <a:avLst/>
              <a:gdLst/>
              <a:ahLst/>
              <a:cxnLst/>
              <a:rect l="l" t="t" r="r" b="b"/>
              <a:pathLst>
                <a:path w="95250" h="76200">
                  <a:moveTo>
                    <a:pt x="0" y="0"/>
                  </a:moveTo>
                  <a:lnTo>
                    <a:pt x="47625" y="76200"/>
                  </a:lnTo>
                  <a:lnTo>
                    <a:pt x="95250" y="0"/>
                  </a:lnTo>
                  <a:close/>
                </a:path>
              </a:pathLst>
            </a:custGeom>
            <a:solidFill>
              <a:srgbClr val="1565C0"/>
            </a:solidFill>
            <a:ln>
              <a:noFill/>
            </a:ln>
          </p:spPr>
        </p:sp>
        <p:sp>
          <p:nvSpPr>
            <p:cNvPr id="36" name="Rectangle 36"/>
            <p:cNvSpPr/>
            <p:nvPr/>
          </p:nvSpPr>
          <p:spPr>
            <a:xfrm>
              <a:off x="6953250" y="4067175"/>
              <a:ext cx="3048000" cy="342900"/>
            </a:xfrm>
            <a:prstGeom prst="rect">
              <a:avLst/>
            </a:prstGeom>
            <a:solidFill>
              <a:srgbClr val="FFF3E0"/>
            </a:solidFill>
            <a:ln>
              <a:noFill/>
            </a:ln>
          </p:spPr>
        </p:sp>
        <p:sp>
          <p:nvSpPr>
            <p:cNvPr id="37" name="Rectangle 37"/>
            <p:cNvSpPr/>
            <p:nvPr/>
          </p:nvSpPr>
          <p:spPr>
            <a:xfrm>
              <a:off x="6953250" y="4067175"/>
              <a:ext cx="3048000" cy="342900"/>
            </a:xfrm>
            <a:prstGeom prst="rect">
              <a:avLst/>
            </a:prstGeom>
            <a:noFill/>
            <a:ln w="9525">
              <a:solidFill>
                <a:srgbClr val="FF6F00"/>
              </a:solidFill>
            </a:ln>
          </p:spPr>
        </p:sp>
        <p:sp>
          <p:nvSpPr>
            <p:cNvPr id="38" name="TextBox 38"/>
            <p:cNvSpPr txBox="1"/>
            <p:nvPr/>
          </p:nvSpPr>
          <p:spPr>
            <a:xfrm>
              <a:off x="7903845" y="4172902"/>
              <a:ext cx="1146810" cy="213360"/>
            </a:xfrm>
            <a:prstGeom prst="rect">
              <a:avLst/>
            </a:prstGeom>
            <a:noFill/>
            <a:ln>
              <a:noFill/>
            </a:ln>
          </p:spPr>
          <p:txBody>
            <a:bodyPr wrap="none" lIns="0" tIns="0" rIns="0" bIns="0" anchor="t" anchorCtr="0">
              <a:spAutoFit/>
            </a:bodyPr>
            <a:lstStyle/>
            <a:p>
              <a:pPr algn="ctr"/>
              <a:r>
                <a:rPr lang="zh-CN" sz="1050" dirty="0">
                  <a:solidFill>
                    <a:srgbClr val="FF6F00"/>
                  </a:solidFill>
                  <a:latin typeface="Arial"/>
                  <a:ea typeface="Microsoft YaHei"/>
                  <a:cs typeface="Arial"/>
                </a:rPr>
                <a:t>Dropout (p=0.1)</a:t>
              </a:r>
            </a:p>
          </p:txBody>
        </p:sp>
        <p:sp>
          <p:nvSpPr>
            <p:cNvPr id="39" name="Line 39"/>
            <p:cNvSpPr/>
            <p:nvPr/>
          </p:nvSpPr>
          <p:spPr>
            <a:xfrm>
              <a:off x="8477250" y="4410075"/>
              <a:ext cx="9525" cy="180975"/>
            </a:xfrm>
            <a:custGeom>
              <a:avLst/>
              <a:gdLst/>
              <a:ahLst/>
              <a:cxnLst/>
              <a:rect l="l" t="t" r="r" b="b"/>
              <a:pathLst>
                <a:path w="9525" h="180975">
                  <a:moveTo>
                    <a:pt x="0" y="0"/>
                  </a:moveTo>
                  <a:lnTo>
                    <a:pt x="0" y="180975"/>
                  </a:lnTo>
                </a:path>
              </a:pathLst>
            </a:custGeom>
            <a:noFill/>
            <a:ln w="14288">
              <a:solidFill>
                <a:srgbClr val="1565C0"/>
              </a:solidFill>
            </a:ln>
          </p:spPr>
        </p:sp>
        <p:sp>
          <p:nvSpPr>
            <p:cNvPr id="40" name="Polygon 40"/>
            <p:cNvSpPr/>
            <p:nvPr/>
          </p:nvSpPr>
          <p:spPr>
            <a:xfrm>
              <a:off x="8429625" y="4591050"/>
              <a:ext cx="95250" cy="76200"/>
            </a:xfrm>
            <a:custGeom>
              <a:avLst/>
              <a:gdLst/>
              <a:ahLst/>
              <a:cxnLst/>
              <a:rect l="l" t="t" r="r" b="b"/>
              <a:pathLst>
                <a:path w="95250" h="76200">
                  <a:moveTo>
                    <a:pt x="0" y="0"/>
                  </a:moveTo>
                  <a:lnTo>
                    <a:pt x="47625" y="76200"/>
                  </a:lnTo>
                  <a:lnTo>
                    <a:pt x="95250" y="0"/>
                  </a:lnTo>
                  <a:close/>
                </a:path>
              </a:pathLst>
            </a:custGeom>
            <a:solidFill>
              <a:srgbClr val="1565C0"/>
            </a:solidFill>
            <a:ln>
              <a:noFill/>
            </a:ln>
          </p:spPr>
        </p:sp>
        <p:sp>
          <p:nvSpPr>
            <p:cNvPr id="41" name="Rectangle 41"/>
            <p:cNvSpPr/>
            <p:nvPr/>
          </p:nvSpPr>
          <p:spPr>
            <a:xfrm>
              <a:off x="6667500" y="4686300"/>
              <a:ext cx="3619500" cy="342900"/>
            </a:xfrm>
            <a:prstGeom prst="rect">
              <a:avLst/>
            </a:prstGeom>
            <a:solidFill>
              <a:srgbClr val="1565C0"/>
            </a:solidFill>
            <a:ln>
              <a:noFill/>
            </a:ln>
          </p:spPr>
        </p:sp>
        <p:sp>
          <p:nvSpPr>
            <p:cNvPr id="42" name="TextBox 42"/>
            <p:cNvSpPr txBox="1"/>
            <p:nvPr/>
          </p:nvSpPr>
          <p:spPr>
            <a:xfrm>
              <a:off x="7395767" y="4783931"/>
              <a:ext cx="216296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Linear (768 → 14) + Softmax</a:t>
              </a:r>
            </a:p>
          </p:txBody>
        </p:sp>
        <p:sp>
          <p:nvSpPr>
            <p:cNvPr id="43" name="Line 43"/>
            <p:cNvSpPr/>
            <p:nvPr/>
          </p:nvSpPr>
          <p:spPr>
            <a:xfrm>
              <a:off x="8477250" y="5029200"/>
              <a:ext cx="9525" cy="209550"/>
            </a:xfrm>
            <a:custGeom>
              <a:avLst/>
              <a:gdLst/>
              <a:ahLst/>
              <a:cxnLst/>
              <a:rect l="l" t="t" r="r" b="b"/>
              <a:pathLst>
                <a:path w="9525" h="209550">
                  <a:moveTo>
                    <a:pt x="0" y="0"/>
                  </a:moveTo>
                  <a:lnTo>
                    <a:pt x="0" y="209550"/>
                  </a:lnTo>
                </a:path>
              </a:pathLst>
            </a:custGeom>
            <a:noFill/>
            <a:ln w="14288">
              <a:solidFill>
                <a:srgbClr val="1565C0"/>
              </a:solidFill>
            </a:ln>
          </p:spPr>
        </p:sp>
        <p:sp>
          <p:nvSpPr>
            <p:cNvPr id="44" name="Polygon 44"/>
            <p:cNvSpPr/>
            <p:nvPr/>
          </p:nvSpPr>
          <p:spPr>
            <a:xfrm>
              <a:off x="8429625" y="5238750"/>
              <a:ext cx="95250" cy="76200"/>
            </a:xfrm>
            <a:custGeom>
              <a:avLst/>
              <a:gdLst/>
              <a:ahLst/>
              <a:cxnLst/>
              <a:rect l="l" t="t" r="r" b="b"/>
              <a:pathLst>
                <a:path w="95250" h="76200">
                  <a:moveTo>
                    <a:pt x="0" y="0"/>
                  </a:moveTo>
                  <a:lnTo>
                    <a:pt x="47625" y="76200"/>
                  </a:lnTo>
                  <a:lnTo>
                    <a:pt x="95250" y="0"/>
                  </a:lnTo>
                  <a:close/>
                </a:path>
              </a:pathLst>
            </a:custGeom>
            <a:solidFill>
              <a:srgbClr val="1565C0"/>
            </a:solidFill>
            <a:ln>
              <a:noFill/>
            </a:ln>
          </p:spPr>
        </p:sp>
        <p:sp>
          <p:nvSpPr>
            <p:cNvPr id="45" name="Rectangle 45"/>
            <p:cNvSpPr/>
            <p:nvPr/>
          </p:nvSpPr>
          <p:spPr>
            <a:xfrm>
              <a:off x="7143750" y="5334000"/>
              <a:ext cx="2667000" cy="342900"/>
            </a:xfrm>
            <a:prstGeom prst="rect">
              <a:avLst/>
            </a:prstGeom>
            <a:solidFill>
              <a:srgbClr val="E8F5E9"/>
            </a:solidFill>
            <a:ln>
              <a:noFill/>
            </a:ln>
          </p:spPr>
        </p:sp>
        <p:sp>
          <p:nvSpPr>
            <p:cNvPr id="46" name="Rectangle 46"/>
            <p:cNvSpPr/>
            <p:nvPr/>
          </p:nvSpPr>
          <p:spPr>
            <a:xfrm>
              <a:off x="7143750" y="5334000"/>
              <a:ext cx="2667000" cy="342900"/>
            </a:xfrm>
            <a:prstGeom prst="rect">
              <a:avLst/>
            </a:prstGeom>
            <a:noFill/>
            <a:ln w="9525">
              <a:solidFill>
                <a:srgbClr val="2E7D32"/>
              </a:solidFill>
            </a:ln>
          </p:spPr>
        </p:sp>
        <p:sp>
          <p:nvSpPr>
            <p:cNvPr id="47" name="TextBox 47"/>
            <p:cNvSpPr txBox="1"/>
            <p:nvPr/>
          </p:nvSpPr>
          <p:spPr>
            <a:xfrm>
              <a:off x="8015509" y="5439728"/>
              <a:ext cx="923482"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14类预测概率</a:t>
              </a:r>
            </a:p>
          </p:txBody>
        </p:sp>
      </p:grpSp>
      <p:sp>
        <p:nvSpPr>
          <p:cNvPr id="49" name="Rectangle 49"/>
          <p:cNvSpPr/>
          <p:nvPr/>
        </p:nvSpPr>
        <p:spPr>
          <a:xfrm>
            <a:off x="571500" y="4000500"/>
            <a:ext cx="5238750" cy="666750"/>
          </a:xfrm>
          <a:prstGeom prst="rect">
            <a:avLst/>
          </a:prstGeom>
          <a:solidFill>
            <a:srgbClr val="FFF8E1"/>
          </a:solidFill>
          <a:ln>
            <a:noFill/>
          </a:ln>
        </p:spPr>
      </p:sp>
      <p:sp>
        <p:nvSpPr>
          <p:cNvPr id="50" name="Rectangle 50"/>
          <p:cNvSpPr/>
          <p:nvPr/>
        </p:nvSpPr>
        <p:spPr>
          <a:xfrm>
            <a:off x="571500" y="4000500"/>
            <a:ext cx="38100" cy="666750"/>
          </a:xfrm>
          <a:prstGeom prst="rect">
            <a:avLst/>
          </a:prstGeom>
          <a:solidFill>
            <a:srgbClr val="FF6F00"/>
          </a:solidFill>
          <a:ln>
            <a:noFill/>
          </a:ln>
        </p:spPr>
      </p:sp>
      <p:sp>
        <p:nvSpPr>
          <p:cNvPr id="51" name="TextBox 51"/>
          <p:cNvSpPr txBox="1"/>
          <p:nvPr/>
        </p:nvSpPr>
        <p:spPr>
          <a:xfrm>
            <a:off x="730568" y="4114324"/>
            <a:ext cx="843867" cy="198120"/>
          </a:xfrm>
          <a:prstGeom prst="rect">
            <a:avLst/>
          </a:prstGeom>
          <a:noFill/>
          <a:ln>
            <a:noFill/>
          </a:ln>
        </p:spPr>
        <p:txBody>
          <a:bodyPr wrap="none" lIns="0" tIns="0" rIns="0" bIns="0" anchor="t" anchorCtr="0">
            <a:spAutoFit/>
          </a:bodyPr>
          <a:lstStyle/>
          <a:p>
            <a:pPr algn="l"/>
            <a:r>
              <a:rPr lang="zh-CN" sz="975" b="1" dirty="0">
                <a:solidFill>
                  <a:srgbClr val="1D1D1F"/>
                </a:solidFill>
                <a:latin typeface="Arial"/>
                <a:ea typeface="Microsoft YaHei"/>
                <a:cs typeface="Arial"/>
              </a:rPr>
              <a:t>特征提取策略</a:t>
            </a:r>
          </a:p>
        </p:txBody>
      </p:sp>
      <p:sp>
        <p:nvSpPr>
          <p:cNvPr id="52" name="TextBox 52"/>
          <p:cNvSpPr txBox="1"/>
          <p:nvPr/>
        </p:nvSpPr>
        <p:spPr>
          <a:xfrm>
            <a:off x="730568" y="4323874"/>
            <a:ext cx="4890844" cy="300082"/>
          </a:xfrm>
          <a:prstGeom prst="rect">
            <a:avLst/>
          </a:prstGeom>
          <a:noFill/>
          <a:ln>
            <a:noFill/>
          </a:ln>
        </p:spPr>
        <p:txBody>
          <a:bodyPr wrap="square" lIns="0" tIns="0" rIns="0" bIns="0" anchor="t" anchorCtr="0">
            <a:spAutoFit/>
          </a:bodyPr>
          <a:lstStyle/>
          <a:p>
            <a:pPr algn="l"/>
            <a:r>
              <a:rPr lang="zh-CN" sz="975" dirty="0">
                <a:solidFill>
                  <a:srgbClr val="6B7280"/>
                </a:solidFill>
                <a:latin typeface="Arial"/>
                <a:ea typeface="Microsoft YaHei"/>
                <a:cs typeface="Arial"/>
              </a:rPr>
              <a:t>使用 last_hidden_state[:, 0] 而非 pooler_output， 保留了更多原始上下文信息，在中文分类任务中表现更优</a:t>
            </a:r>
          </a:p>
        </p:txBody>
      </p:sp>
      <p:sp>
        <p:nvSpPr>
          <p:cNvPr id="53" name="Rectangle 53"/>
          <p:cNvSpPr/>
          <p:nvPr/>
        </p:nvSpPr>
        <p:spPr>
          <a:xfrm>
            <a:off x="571500" y="6619875"/>
            <a:ext cx="11049000" cy="9525"/>
          </a:xfrm>
          <a:prstGeom prst="rect">
            <a:avLst/>
          </a:prstGeom>
          <a:solidFill>
            <a:srgbClr val="E5E7EB"/>
          </a:solidFill>
          <a:ln>
            <a:noFill/>
          </a:ln>
        </p:spPr>
      </p:sp>
      <p:sp>
        <p:nvSpPr>
          <p:cNvPr id="54" name="TextBox 54"/>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04</a:t>
            </a:r>
          </a:p>
        </p:txBody>
      </p:sp>
      <p:sp>
        <p:nvSpPr>
          <p:cNvPr id="55" name="Rectangle 55"/>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234315"/>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2577465"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数据预处理与分析</a:t>
            </a:r>
          </a:p>
        </p:txBody>
      </p:sp>
      <p:sp>
        <p:nvSpPr>
          <p:cNvPr id="5" name="Rectangle 5"/>
          <p:cNvSpPr/>
          <p:nvPr/>
        </p:nvSpPr>
        <p:spPr>
          <a:xfrm>
            <a:off x="571500" y="952500"/>
            <a:ext cx="11049000" cy="9525"/>
          </a:xfrm>
          <a:prstGeom prst="rect">
            <a:avLst/>
          </a:prstGeom>
          <a:solidFill>
            <a:srgbClr val="E5E7EB"/>
          </a:solidFill>
          <a:ln>
            <a:noFill/>
          </a:ln>
        </p:spPr>
      </p:sp>
      <p:sp>
        <p:nvSpPr>
          <p:cNvPr id="6" name="TextBox 6"/>
          <p:cNvSpPr txBox="1"/>
          <p:nvPr/>
        </p:nvSpPr>
        <p:spPr>
          <a:xfrm>
            <a:off x="556260" y="1156335"/>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数据规模</a:t>
            </a:r>
          </a:p>
        </p:txBody>
      </p:sp>
      <p:sp>
        <p:nvSpPr>
          <p:cNvPr id="7" name="Rectangle 7"/>
          <p:cNvSpPr/>
          <p:nvPr/>
        </p:nvSpPr>
        <p:spPr>
          <a:xfrm>
            <a:off x="571500" y="1428750"/>
            <a:ext cx="5238750" cy="762000"/>
          </a:xfrm>
          <a:prstGeom prst="rect">
            <a:avLst/>
          </a:prstGeom>
          <a:solidFill>
            <a:srgbClr val="F8FAFC"/>
          </a:solidFill>
          <a:ln>
            <a:noFill/>
          </a:ln>
        </p:spPr>
      </p:sp>
      <p:sp>
        <p:nvSpPr>
          <p:cNvPr id="8" name="TextBox 8"/>
          <p:cNvSpPr txBox="1"/>
          <p:nvPr/>
        </p:nvSpPr>
        <p:spPr>
          <a:xfrm>
            <a:off x="748665" y="1553528"/>
            <a:ext cx="46772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数据集</a:t>
            </a:r>
          </a:p>
        </p:txBody>
      </p:sp>
      <p:sp>
        <p:nvSpPr>
          <p:cNvPr id="9" name="TextBox 9"/>
          <p:cNvSpPr txBox="1"/>
          <p:nvPr/>
        </p:nvSpPr>
        <p:spPr>
          <a:xfrm>
            <a:off x="2367915" y="1553528"/>
            <a:ext cx="46772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样本数</a:t>
            </a:r>
          </a:p>
        </p:txBody>
      </p:sp>
      <p:sp>
        <p:nvSpPr>
          <p:cNvPr id="10" name="TextBox 10"/>
          <p:cNvSpPr txBox="1"/>
          <p:nvPr/>
        </p:nvSpPr>
        <p:spPr>
          <a:xfrm>
            <a:off x="3987165" y="1553528"/>
            <a:ext cx="320707"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格式</a:t>
            </a:r>
          </a:p>
        </p:txBody>
      </p:sp>
      <p:sp>
        <p:nvSpPr>
          <p:cNvPr id="11" name="Rectangle 11"/>
          <p:cNvSpPr/>
          <p:nvPr/>
        </p:nvSpPr>
        <p:spPr>
          <a:xfrm>
            <a:off x="762000" y="1743075"/>
            <a:ext cx="4857750" cy="9525"/>
          </a:xfrm>
          <a:prstGeom prst="rect">
            <a:avLst/>
          </a:prstGeom>
          <a:solidFill>
            <a:srgbClr val="E5E7EB"/>
          </a:solidFill>
          <a:ln>
            <a:noFill/>
          </a:ln>
        </p:spPr>
      </p:sp>
      <p:sp>
        <p:nvSpPr>
          <p:cNvPr id="12" name="TextBox 12"/>
          <p:cNvSpPr txBox="1"/>
          <p:nvPr/>
        </p:nvSpPr>
        <p:spPr>
          <a:xfrm>
            <a:off x="748665" y="1820228"/>
            <a:ext cx="446722"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训练集</a:t>
            </a:r>
          </a:p>
        </p:txBody>
      </p:sp>
      <p:sp>
        <p:nvSpPr>
          <p:cNvPr id="13" name="TextBox 13"/>
          <p:cNvSpPr txBox="1"/>
          <p:nvPr/>
        </p:nvSpPr>
        <p:spPr>
          <a:xfrm>
            <a:off x="2367915" y="1820228"/>
            <a:ext cx="592691" cy="213360"/>
          </a:xfrm>
          <a:prstGeom prst="rect">
            <a:avLst/>
          </a:prstGeom>
          <a:noFill/>
          <a:ln>
            <a:noFill/>
          </a:ln>
        </p:spPr>
        <p:txBody>
          <a:bodyPr wrap="none" lIns="0" tIns="0" rIns="0" bIns="0" anchor="t" anchorCtr="0">
            <a:spAutoFit/>
          </a:bodyPr>
          <a:lstStyle/>
          <a:p>
            <a:pPr algn="l"/>
            <a:r>
              <a:rPr lang="zh-CN" sz="1050" b="1" dirty="0">
                <a:solidFill>
                  <a:srgbClr val="1565C0"/>
                </a:solidFill>
                <a:latin typeface="Arial"/>
                <a:ea typeface="Microsoft YaHei"/>
                <a:cs typeface="Arial"/>
              </a:rPr>
              <a:t>752,476</a:t>
            </a:r>
          </a:p>
        </p:txBody>
      </p:sp>
      <p:sp>
        <p:nvSpPr>
          <p:cNvPr id="14" name="TextBox 14"/>
          <p:cNvSpPr txBox="1"/>
          <p:nvPr/>
        </p:nvSpPr>
        <p:spPr>
          <a:xfrm>
            <a:off x="3987165" y="1820228"/>
            <a:ext cx="123782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标签ID | 标签 | 标题</a:t>
            </a:r>
          </a:p>
        </p:txBody>
      </p:sp>
      <p:sp>
        <p:nvSpPr>
          <p:cNvPr id="15" name="Rectangle 15"/>
          <p:cNvSpPr/>
          <p:nvPr/>
        </p:nvSpPr>
        <p:spPr>
          <a:xfrm>
            <a:off x="762000" y="2000250"/>
            <a:ext cx="4857750" cy="9525"/>
          </a:xfrm>
          <a:prstGeom prst="rect">
            <a:avLst/>
          </a:prstGeom>
          <a:solidFill>
            <a:srgbClr val="F3F4F6"/>
          </a:solidFill>
          <a:ln>
            <a:noFill/>
          </a:ln>
        </p:spPr>
      </p:sp>
      <p:sp>
        <p:nvSpPr>
          <p:cNvPr id="16" name="TextBox 16"/>
          <p:cNvSpPr txBox="1"/>
          <p:nvPr/>
        </p:nvSpPr>
        <p:spPr>
          <a:xfrm>
            <a:off x="748665" y="2029778"/>
            <a:ext cx="446722"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测试集</a:t>
            </a:r>
          </a:p>
        </p:txBody>
      </p:sp>
      <p:sp>
        <p:nvSpPr>
          <p:cNvPr id="17" name="TextBox 17"/>
          <p:cNvSpPr txBox="1"/>
          <p:nvPr/>
        </p:nvSpPr>
        <p:spPr>
          <a:xfrm>
            <a:off x="2367915" y="2029778"/>
            <a:ext cx="511831" cy="213360"/>
          </a:xfrm>
          <a:prstGeom prst="rect">
            <a:avLst/>
          </a:prstGeom>
          <a:noFill/>
          <a:ln>
            <a:noFill/>
          </a:ln>
        </p:spPr>
        <p:txBody>
          <a:bodyPr wrap="none" lIns="0" tIns="0" rIns="0" bIns="0" anchor="t" anchorCtr="0">
            <a:spAutoFit/>
          </a:bodyPr>
          <a:lstStyle/>
          <a:p>
            <a:pPr algn="l"/>
            <a:r>
              <a:rPr lang="zh-CN" sz="1050" b="1" dirty="0">
                <a:solidFill>
                  <a:srgbClr val="1565C0"/>
                </a:solidFill>
                <a:latin typeface="Arial"/>
                <a:ea typeface="Microsoft YaHei"/>
                <a:cs typeface="Arial"/>
              </a:rPr>
              <a:t>83,599</a:t>
            </a:r>
          </a:p>
        </p:txBody>
      </p:sp>
      <p:sp>
        <p:nvSpPr>
          <p:cNvPr id="18" name="TextBox 18"/>
          <p:cNvSpPr txBox="1"/>
          <p:nvPr/>
        </p:nvSpPr>
        <p:spPr>
          <a:xfrm>
            <a:off x="3987165" y="2029778"/>
            <a:ext cx="100679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标题（无标签）</a:t>
            </a:r>
          </a:p>
        </p:txBody>
      </p:sp>
      <p:sp>
        <p:nvSpPr>
          <p:cNvPr id="19" name="TextBox 19"/>
          <p:cNvSpPr txBox="1"/>
          <p:nvPr/>
        </p:nvSpPr>
        <p:spPr>
          <a:xfrm>
            <a:off x="556260" y="2489835"/>
            <a:ext cx="144185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类别分布 (训练集)</a:t>
            </a:r>
          </a:p>
        </p:txBody>
      </p:sp>
      <p:sp>
        <p:nvSpPr>
          <p:cNvPr id="20" name="TextBox 20"/>
          <p:cNvSpPr txBox="1"/>
          <p:nvPr/>
        </p:nvSpPr>
        <p:spPr>
          <a:xfrm>
            <a:off x="750570" y="2760345"/>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科技</a:t>
            </a:r>
          </a:p>
        </p:txBody>
      </p:sp>
      <p:sp>
        <p:nvSpPr>
          <p:cNvPr id="21" name="Rectangle 21"/>
          <p:cNvSpPr/>
          <p:nvPr/>
        </p:nvSpPr>
        <p:spPr>
          <a:xfrm>
            <a:off x="1333500" y="2762250"/>
            <a:ext cx="2381250" cy="152400"/>
          </a:xfrm>
          <a:prstGeom prst="rect">
            <a:avLst/>
          </a:prstGeom>
          <a:solidFill>
            <a:srgbClr val="1565C0"/>
          </a:solidFill>
          <a:ln>
            <a:noFill/>
          </a:ln>
        </p:spPr>
      </p:sp>
      <p:sp>
        <p:nvSpPr>
          <p:cNvPr id="22" name="TextBox 22"/>
          <p:cNvSpPr txBox="1"/>
          <p:nvPr/>
        </p:nvSpPr>
        <p:spPr>
          <a:xfrm>
            <a:off x="3798570" y="2788920"/>
            <a:ext cx="463915"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19.49%</a:t>
            </a:r>
          </a:p>
        </p:txBody>
      </p:sp>
      <p:sp>
        <p:nvSpPr>
          <p:cNvPr id="23" name="TextBox 23"/>
          <p:cNvSpPr txBox="1"/>
          <p:nvPr/>
        </p:nvSpPr>
        <p:spPr>
          <a:xfrm>
            <a:off x="750570" y="3007995"/>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股票</a:t>
            </a:r>
          </a:p>
        </p:txBody>
      </p:sp>
      <p:sp>
        <p:nvSpPr>
          <p:cNvPr id="24" name="Rectangle 24"/>
          <p:cNvSpPr/>
          <p:nvPr/>
        </p:nvSpPr>
        <p:spPr>
          <a:xfrm>
            <a:off x="1333500" y="3009900"/>
            <a:ext cx="2257425" cy="152400"/>
          </a:xfrm>
          <a:prstGeom prst="rect">
            <a:avLst/>
          </a:prstGeom>
          <a:solidFill>
            <a:srgbClr val="1565C0"/>
          </a:solidFill>
          <a:ln>
            <a:noFill/>
          </a:ln>
        </p:spPr>
      </p:sp>
      <p:sp>
        <p:nvSpPr>
          <p:cNvPr id="25" name="TextBox 25"/>
          <p:cNvSpPr txBox="1"/>
          <p:nvPr/>
        </p:nvSpPr>
        <p:spPr>
          <a:xfrm>
            <a:off x="3798570" y="3036570"/>
            <a:ext cx="463915"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18.47%</a:t>
            </a:r>
          </a:p>
        </p:txBody>
      </p:sp>
      <p:sp>
        <p:nvSpPr>
          <p:cNvPr id="26" name="TextBox 26"/>
          <p:cNvSpPr txBox="1"/>
          <p:nvPr/>
        </p:nvSpPr>
        <p:spPr>
          <a:xfrm>
            <a:off x="750570" y="3255645"/>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体育</a:t>
            </a:r>
          </a:p>
        </p:txBody>
      </p:sp>
      <p:sp>
        <p:nvSpPr>
          <p:cNvPr id="27" name="Rectangle 27"/>
          <p:cNvSpPr/>
          <p:nvPr/>
        </p:nvSpPr>
        <p:spPr>
          <a:xfrm>
            <a:off x="1333500" y="3257550"/>
            <a:ext cx="1924050" cy="152400"/>
          </a:xfrm>
          <a:prstGeom prst="rect">
            <a:avLst/>
          </a:prstGeom>
          <a:solidFill>
            <a:srgbClr val="1565C0"/>
          </a:solidFill>
          <a:ln>
            <a:noFill/>
          </a:ln>
        </p:spPr>
      </p:sp>
      <p:sp>
        <p:nvSpPr>
          <p:cNvPr id="28" name="TextBox 28"/>
          <p:cNvSpPr txBox="1"/>
          <p:nvPr/>
        </p:nvSpPr>
        <p:spPr>
          <a:xfrm>
            <a:off x="3798570" y="3284220"/>
            <a:ext cx="463915"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15.74%</a:t>
            </a:r>
          </a:p>
        </p:txBody>
      </p:sp>
      <p:sp>
        <p:nvSpPr>
          <p:cNvPr id="29" name="TextBox 29"/>
          <p:cNvSpPr txBox="1"/>
          <p:nvPr/>
        </p:nvSpPr>
        <p:spPr>
          <a:xfrm>
            <a:off x="750570" y="3503295"/>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娱乐</a:t>
            </a:r>
          </a:p>
        </p:txBody>
      </p:sp>
      <p:sp>
        <p:nvSpPr>
          <p:cNvPr id="30" name="Rectangle 30"/>
          <p:cNvSpPr/>
          <p:nvPr/>
        </p:nvSpPr>
        <p:spPr>
          <a:xfrm>
            <a:off x="1333500" y="3505200"/>
            <a:ext cx="1352550" cy="152400"/>
          </a:xfrm>
          <a:prstGeom prst="rect">
            <a:avLst/>
          </a:prstGeom>
          <a:solidFill>
            <a:srgbClr val="1976D2"/>
          </a:solidFill>
          <a:ln>
            <a:noFill/>
          </a:ln>
        </p:spPr>
      </p:sp>
      <p:sp>
        <p:nvSpPr>
          <p:cNvPr id="31" name="TextBox 31"/>
          <p:cNvSpPr txBox="1"/>
          <p:nvPr/>
        </p:nvSpPr>
        <p:spPr>
          <a:xfrm>
            <a:off x="3798570" y="3531870"/>
            <a:ext cx="463915"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11.08%</a:t>
            </a:r>
          </a:p>
        </p:txBody>
      </p:sp>
      <p:sp>
        <p:nvSpPr>
          <p:cNvPr id="32" name="TextBox 32"/>
          <p:cNvSpPr txBox="1"/>
          <p:nvPr/>
        </p:nvSpPr>
        <p:spPr>
          <a:xfrm>
            <a:off x="750570" y="3750945"/>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时政</a:t>
            </a:r>
          </a:p>
        </p:txBody>
      </p:sp>
      <p:sp>
        <p:nvSpPr>
          <p:cNvPr id="33" name="Rectangle 33"/>
          <p:cNvSpPr/>
          <p:nvPr/>
        </p:nvSpPr>
        <p:spPr>
          <a:xfrm>
            <a:off x="1333500" y="3752850"/>
            <a:ext cx="923925" cy="152400"/>
          </a:xfrm>
          <a:prstGeom prst="rect">
            <a:avLst/>
          </a:prstGeom>
          <a:solidFill>
            <a:srgbClr val="64B5F6"/>
          </a:solidFill>
          <a:ln>
            <a:noFill/>
          </a:ln>
        </p:spPr>
      </p:sp>
      <p:sp>
        <p:nvSpPr>
          <p:cNvPr id="34" name="TextBox 34"/>
          <p:cNvSpPr txBox="1"/>
          <p:nvPr/>
        </p:nvSpPr>
        <p:spPr>
          <a:xfrm>
            <a:off x="3798570" y="3779520"/>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7.55%</a:t>
            </a:r>
          </a:p>
        </p:txBody>
      </p:sp>
      <p:sp>
        <p:nvSpPr>
          <p:cNvPr id="35" name="TextBox 35"/>
          <p:cNvSpPr txBox="1"/>
          <p:nvPr/>
        </p:nvSpPr>
        <p:spPr>
          <a:xfrm>
            <a:off x="750570" y="3998595"/>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社会</a:t>
            </a:r>
          </a:p>
        </p:txBody>
      </p:sp>
      <p:sp>
        <p:nvSpPr>
          <p:cNvPr id="36" name="Rectangle 36"/>
          <p:cNvSpPr/>
          <p:nvPr/>
        </p:nvSpPr>
        <p:spPr>
          <a:xfrm>
            <a:off x="1333500" y="4000500"/>
            <a:ext cx="742950" cy="152400"/>
          </a:xfrm>
          <a:prstGeom prst="rect">
            <a:avLst/>
          </a:prstGeom>
          <a:solidFill>
            <a:srgbClr val="64B5F6"/>
          </a:solidFill>
          <a:ln>
            <a:noFill/>
          </a:ln>
        </p:spPr>
      </p:sp>
      <p:sp>
        <p:nvSpPr>
          <p:cNvPr id="37" name="TextBox 37"/>
          <p:cNvSpPr txBox="1"/>
          <p:nvPr/>
        </p:nvSpPr>
        <p:spPr>
          <a:xfrm>
            <a:off x="3798570" y="4027170"/>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6.08%</a:t>
            </a:r>
          </a:p>
        </p:txBody>
      </p:sp>
      <p:sp>
        <p:nvSpPr>
          <p:cNvPr id="38" name="TextBox 38"/>
          <p:cNvSpPr txBox="1"/>
          <p:nvPr/>
        </p:nvSpPr>
        <p:spPr>
          <a:xfrm>
            <a:off x="4370070" y="2994660"/>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家居</a:t>
            </a:r>
          </a:p>
        </p:txBody>
      </p:sp>
      <p:sp>
        <p:nvSpPr>
          <p:cNvPr id="39" name="Rectangle 39"/>
          <p:cNvSpPr/>
          <p:nvPr/>
        </p:nvSpPr>
        <p:spPr>
          <a:xfrm>
            <a:off x="4953000" y="2996565"/>
            <a:ext cx="476250" cy="152400"/>
          </a:xfrm>
          <a:prstGeom prst="rect">
            <a:avLst/>
          </a:prstGeom>
          <a:solidFill>
            <a:srgbClr val="90CAF9"/>
          </a:solidFill>
          <a:ln>
            <a:noFill/>
          </a:ln>
        </p:spPr>
      </p:sp>
      <p:sp>
        <p:nvSpPr>
          <p:cNvPr id="40" name="TextBox 40"/>
          <p:cNvSpPr txBox="1"/>
          <p:nvPr/>
        </p:nvSpPr>
        <p:spPr>
          <a:xfrm>
            <a:off x="5703570" y="3023235"/>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3.90%</a:t>
            </a:r>
          </a:p>
        </p:txBody>
      </p:sp>
      <p:sp>
        <p:nvSpPr>
          <p:cNvPr id="41" name="TextBox 41"/>
          <p:cNvSpPr txBox="1"/>
          <p:nvPr/>
        </p:nvSpPr>
        <p:spPr>
          <a:xfrm>
            <a:off x="4370070" y="3242310"/>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游戏</a:t>
            </a:r>
          </a:p>
        </p:txBody>
      </p:sp>
      <p:sp>
        <p:nvSpPr>
          <p:cNvPr id="42" name="Rectangle 42"/>
          <p:cNvSpPr/>
          <p:nvPr/>
        </p:nvSpPr>
        <p:spPr>
          <a:xfrm>
            <a:off x="4953000" y="3244215"/>
            <a:ext cx="352425" cy="152400"/>
          </a:xfrm>
          <a:prstGeom prst="rect">
            <a:avLst/>
          </a:prstGeom>
          <a:solidFill>
            <a:srgbClr val="90CAF9"/>
          </a:solidFill>
          <a:ln>
            <a:noFill/>
          </a:ln>
        </p:spPr>
      </p:sp>
      <p:sp>
        <p:nvSpPr>
          <p:cNvPr id="43" name="TextBox 43"/>
          <p:cNvSpPr txBox="1"/>
          <p:nvPr/>
        </p:nvSpPr>
        <p:spPr>
          <a:xfrm>
            <a:off x="5703570" y="3270885"/>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2.92%</a:t>
            </a:r>
          </a:p>
        </p:txBody>
      </p:sp>
      <p:sp>
        <p:nvSpPr>
          <p:cNvPr id="44" name="TextBox 44"/>
          <p:cNvSpPr txBox="1"/>
          <p:nvPr/>
        </p:nvSpPr>
        <p:spPr>
          <a:xfrm>
            <a:off x="4370070" y="3489960"/>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房产</a:t>
            </a:r>
          </a:p>
        </p:txBody>
      </p:sp>
      <p:sp>
        <p:nvSpPr>
          <p:cNvPr id="45" name="Rectangle 45"/>
          <p:cNvSpPr/>
          <p:nvPr/>
        </p:nvSpPr>
        <p:spPr>
          <a:xfrm>
            <a:off x="4953000" y="3491865"/>
            <a:ext cx="295275" cy="152400"/>
          </a:xfrm>
          <a:prstGeom prst="rect">
            <a:avLst/>
          </a:prstGeom>
          <a:solidFill>
            <a:srgbClr val="BBDEFB"/>
          </a:solidFill>
          <a:ln>
            <a:noFill/>
          </a:ln>
        </p:spPr>
      </p:sp>
      <p:sp>
        <p:nvSpPr>
          <p:cNvPr id="46" name="TextBox 46"/>
          <p:cNvSpPr txBox="1"/>
          <p:nvPr/>
        </p:nvSpPr>
        <p:spPr>
          <a:xfrm>
            <a:off x="5703570" y="3518535"/>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2.40%</a:t>
            </a:r>
          </a:p>
        </p:txBody>
      </p:sp>
      <p:sp>
        <p:nvSpPr>
          <p:cNvPr id="47" name="TextBox 47"/>
          <p:cNvSpPr txBox="1"/>
          <p:nvPr/>
        </p:nvSpPr>
        <p:spPr>
          <a:xfrm>
            <a:off x="4370070" y="3737610"/>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时尚</a:t>
            </a:r>
          </a:p>
        </p:txBody>
      </p:sp>
      <p:sp>
        <p:nvSpPr>
          <p:cNvPr id="48" name="Rectangle 48"/>
          <p:cNvSpPr/>
          <p:nvPr/>
        </p:nvSpPr>
        <p:spPr>
          <a:xfrm>
            <a:off x="4953000" y="3739515"/>
            <a:ext cx="200025" cy="152400"/>
          </a:xfrm>
          <a:prstGeom prst="rect">
            <a:avLst/>
          </a:prstGeom>
          <a:solidFill>
            <a:srgbClr val="BBDEFB"/>
          </a:solidFill>
          <a:ln>
            <a:noFill/>
          </a:ln>
        </p:spPr>
      </p:sp>
      <p:sp>
        <p:nvSpPr>
          <p:cNvPr id="49" name="TextBox 49"/>
          <p:cNvSpPr txBox="1"/>
          <p:nvPr/>
        </p:nvSpPr>
        <p:spPr>
          <a:xfrm>
            <a:off x="5703570" y="3766185"/>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1.60%</a:t>
            </a:r>
          </a:p>
        </p:txBody>
      </p:sp>
      <p:sp>
        <p:nvSpPr>
          <p:cNvPr id="50" name="TextBox 50"/>
          <p:cNvSpPr txBox="1"/>
          <p:nvPr/>
        </p:nvSpPr>
        <p:spPr>
          <a:xfrm>
            <a:off x="4370070" y="3985260"/>
            <a:ext cx="26289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彩票</a:t>
            </a:r>
          </a:p>
        </p:txBody>
      </p:sp>
      <p:sp>
        <p:nvSpPr>
          <p:cNvPr id="51" name="Rectangle 51"/>
          <p:cNvSpPr/>
          <p:nvPr/>
        </p:nvSpPr>
        <p:spPr>
          <a:xfrm>
            <a:off x="4953000" y="3987165"/>
            <a:ext cx="114300" cy="152400"/>
          </a:xfrm>
          <a:prstGeom prst="rect">
            <a:avLst/>
          </a:prstGeom>
          <a:solidFill>
            <a:srgbClr val="E3F2FD"/>
          </a:solidFill>
          <a:ln>
            <a:noFill/>
          </a:ln>
        </p:spPr>
      </p:sp>
      <p:sp>
        <p:nvSpPr>
          <p:cNvPr id="52" name="TextBox 52"/>
          <p:cNvSpPr txBox="1"/>
          <p:nvPr/>
        </p:nvSpPr>
        <p:spPr>
          <a:xfrm>
            <a:off x="5703570" y="4013835"/>
            <a:ext cx="37690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0.91%</a:t>
            </a:r>
          </a:p>
        </p:txBody>
      </p:sp>
      <p:sp>
        <p:nvSpPr>
          <p:cNvPr id="53" name="TextBox 53"/>
          <p:cNvSpPr txBox="1"/>
          <p:nvPr/>
        </p:nvSpPr>
        <p:spPr>
          <a:xfrm>
            <a:off x="4370070" y="4232910"/>
            <a:ext cx="262890" cy="182880"/>
          </a:xfrm>
          <a:prstGeom prst="rect">
            <a:avLst/>
          </a:prstGeom>
          <a:noFill/>
          <a:ln>
            <a:noFill/>
          </a:ln>
        </p:spPr>
        <p:txBody>
          <a:bodyPr wrap="none" lIns="0" tIns="0" rIns="0" bIns="0" anchor="t" anchorCtr="0">
            <a:spAutoFit/>
          </a:bodyPr>
          <a:lstStyle/>
          <a:p>
            <a:pPr algn="l"/>
            <a:r>
              <a:rPr lang="zh-CN" sz="900" dirty="0">
                <a:solidFill>
                  <a:srgbClr val="C62828"/>
                </a:solidFill>
                <a:latin typeface="Arial"/>
                <a:ea typeface="Microsoft YaHei"/>
                <a:cs typeface="Arial"/>
              </a:rPr>
              <a:t>星座</a:t>
            </a:r>
          </a:p>
        </p:txBody>
      </p:sp>
      <p:sp>
        <p:nvSpPr>
          <p:cNvPr id="54" name="Rectangle 54"/>
          <p:cNvSpPr/>
          <p:nvPr/>
        </p:nvSpPr>
        <p:spPr>
          <a:xfrm>
            <a:off x="4953000" y="4234815"/>
            <a:ext cx="57150" cy="152400"/>
          </a:xfrm>
          <a:prstGeom prst="rect">
            <a:avLst/>
          </a:prstGeom>
          <a:solidFill>
            <a:srgbClr val="FFCDD2"/>
          </a:solidFill>
          <a:ln>
            <a:noFill/>
          </a:ln>
        </p:spPr>
      </p:sp>
      <p:sp>
        <p:nvSpPr>
          <p:cNvPr id="55" name="TextBox 55"/>
          <p:cNvSpPr txBox="1"/>
          <p:nvPr/>
        </p:nvSpPr>
        <p:spPr>
          <a:xfrm>
            <a:off x="5703570" y="4261485"/>
            <a:ext cx="376904" cy="182880"/>
          </a:xfrm>
          <a:prstGeom prst="rect">
            <a:avLst/>
          </a:prstGeom>
          <a:noFill/>
          <a:ln>
            <a:noFill/>
          </a:ln>
        </p:spPr>
        <p:txBody>
          <a:bodyPr wrap="none" lIns="0" tIns="0" rIns="0" bIns="0" anchor="t" anchorCtr="0">
            <a:spAutoFit/>
          </a:bodyPr>
          <a:lstStyle/>
          <a:p>
            <a:pPr algn="l"/>
            <a:r>
              <a:rPr lang="zh-CN" sz="900" dirty="0">
                <a:solidFill>
                  <a:srgbClr val="C62828"/>
                </a:solidFill>
                <a:latin typeface="Arial"/>
                <a:ea typeface="Microsoft YaHei"/>
                <a:cs typeface="Arial"/>
              </a:rPr>
              <a:t>0.43%</a:t>
            </a:r>
          </a:p>
        </p:txBody>
      </p:sp>
      <p:sp>
        <p:nvSpPr>
          <p:cNvPr id="56" name="Rectangle 56"/>
          <p:cNvSpPr/>
          <p:nvPr/>
        </p:nvSpPr>
        <p:spPr>
          <a:xfrm>
            <a:off x="571500" y="4632007"/>
            <a:ext cx="5238750" cy="523875"/>
          </a:xfrm>
          <a:prstGeom prst="rect">
            <a:avLst/>
          </a:prstGeom>
          <a:solidFill>
            <a:srgbClr val="FFF3E0"/>
          </a:solidFill>
          <a:ln>
            <a:noFill/>
          </a:ln>
        </p:spPr>
      </p:sp>
      <p:sp>
        <p:nvSpPr>
          <p:cNvPr id="57" name="Rectangle 57"/>
          <p:cNvSpPr/>
          <p:nvPr/>
        </p:nvSpPr>
        <p:spPr>
          <a:xfrm>
            <a:off x="571500" y="4632007"/>
            <a:ext cx="38100" cy="523875"/>
          </a:xfrm>
          <a:prstGeom prst="rect">
            <a:avLst/>
          </a:prstGeom>
          <a:solidFill>
            <a:srgbClr val="FF6F00"/>
          </a:solidFill>
          <a:ln>
            <a:noFill/>
          </a:ln>
        </p:spPr>
      </p:sp>
      <p:sp>
        <p:nvSpPr>
          <p:cNvPr id="58" name="TextBox 58"/>
          <p:cNvSpPr txBox="1"/>
          <p:nvPr/>
        </p:nvSpPr>
        <p:spPr>
          <a:xfrm>
            <a:off x="730568" y="4745831"/>
            <a:ext cx="2976134"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最大类(科技)与最小类(星座)样本量差距约 </a:t>
            </a:r>
            <a:r>
              <a:rPr lang="zh-CN" sz="975" b="1" dirty="0">
                <a:solidFill>
                  <a:srgbClr val="C62828"/>
                </a:solidFill>
                <a:latin typeface="Arial"/>
                <a:ea typeface="Microsoft YaHei"/>
                <a:cs typeface="Arial"/>
              </a:rPr>
              <a:t>45.5倍</a:t>
            </a:r>
          </a:p>
        </p:txBody>
      </p:sp>
      <p:sp>
        <p:nvSpPr>
          <p:cNvPr id="59" name="TextBox 59"/>
          <p:cNvSpPr txBox="1"/>
          <p:nvPr/>
        </p:nvSpPr>
        <p:spPr>
          <a:xfrm>
            <a:off x="730568" y="4936331"/>
            <a:ext cx="282661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头部4类合计占64.78%，尾部4类合计仅占5.34%</a:t>
            </a:r>
          </a:p>
        </p:txBody>
      </p:sp>
      <p:sp>
        <p:nvSpPr>
          <p:cNvPr id="60" name="TextBox 60"/>
          <p:cNvSpPr txBox="1"/>
          <p:nvPr/>
        </p:nvSpPr>
        <p:spPr>
          <a:xfrm>
            <a:off x="6366510" y="1156335"/>
            <a:ext cx="103860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标题长度分析</a:t>
            </a:r>
          </a:p>
        </p:txBody>
      </p:sp>
      <p:sp>
        <p:nvSpPr>
          <p:cNvPr id="61" name="Rectangle 61"/>
          <p:cNvSpPr/>
          <p:nvPr/>
        </p:nvSpPr>
        <p:spPr>
          <a:xfrm>
            <a:off x="6381750" y="1428750"/>
            <a:ext cx="5238750" cy="1238250"/>
          </a:xfrm>
          <a:prstGeom prst="rect">
            <a:avLst/>
          </a:prstGeom>
          <a:solidFill>
            <a:srgbClr val="F8FAFC"/>
          </a:solidFill>
          <a:ln>
            <a:noFill/>
          </a:ln>
        </p:spPr>
      </p:sp>
      <p:sp>
        <p:nvSpPr>
          <p:cNvPr id="62" name="TextBox 62"/>
          <p:cNvSpPr txBox="1"/>
          <p:nvPr/>
        </p:nvSpPr>
        <p:spPr>
          <a:xfrm>
            <a:off x="6558915" y="1553528"/>
            <a:ext cx="46772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统计量</a:t>
            </a:r>
          </a:p>
        </p:txBody>
      </p:sp>
      <p:sp>
        <p:nvSpPr>
          <p:cNvPr id="63" name="TextBox 63"/>
          <p:cNvSpPr txBox="1"/>
          <p:nvPr/>
        </p:nvSpPr>
        <p:spPr>
          <a:xfrm>
            <a:off x="7892415" y="1553528"/>
            <a:ext cx="46772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训练集</a:t>
            </a:r>
          </a:p>
        </p:txBody>
      </p:sp>
      <p:sp>
        <p:nvSpPr>
          <p:cNvPr id="64" name="TextBox 64"/>
          <p:cNvSpPr txBox="1"/>
          <p:nvPr/>
        </p:nvSpPr>
        <p:spPr>
          <a:xfrm>
            <a:off x="9225915" y="1553528"/>
            <a:ext cx="46772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测试集</a:t>
            </a:r>
          </a:p>
        </p:txBody>
      </p:sp>
      <p:sp>
        <p:nvSpPr>
          <p:cNvPr id="65" name="Rectangle 65"/>
          <p:cNvSpPr/>
          <p:nvPr/>
        </p:nvSpPr>
        <p:spPr>
          <a:xfrm>
            <a:off x="6572250" y="1743075"/>
            <a:ext cx="4857750" cy="9525"/>
          </a:xfrm>
          <a:prstGeom prst="rect">
            <a:avLst/>
          </a:prstGeom>
          <a:solidFill>
            <a:srgbClr val="E5E7EB"/>
          </a:solidFill>
          <a:ln>
            <a:noFill/>
          </a:ln>
        </p:spPr>
      </p:sp>
      <p:sp>
        <p:nvSpPr>
          <p:cNvPr id="66" name="TextBox 66"/>
          <p:cNvSpPr txBox="1"/>
          <p:nvPr/>
        </p:nvSpPr>
        <p:spPr>
          <a:xfrm>
            <a:off x="6558915" y="1839278"/>
            <a:ext cx="58674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平均长度</a:t>
            </a:r>
          </a:p>
        </p:txBody>
      </p:sp>
      <p:sp>
        <p:nvSpPr>
          <p:cNvPr id="67" name="TextBox 67"/>
          <p:cNvSpPr txBox="1"/>
          <p:nvPr/>
        </p:nvSpPr>
        <p:spPr>
          <a:xfrm>
            <a:off x="7892415" y="1839278"/>
            <a:ext cx="733758"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19.44 字符</a:t>
            </a:r>
          </a:p>
        </p:txBody>
      </p:sp>
      <p:sp>
        <p:nvSpPr>
          <p:cNvPr id="68" name="TextBox 68"/>
          <p:cNvSpPr txBox="1"/>
          <p:nvPr/>
        </p:nvSpPr>
        <p:spPr>
          <a:xfrm>
            <a:off x="9225915" y="1839278"/>
            <a:ext cx="733758"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19.78 字符</a:t>
            </a:r>
          </a:p>
        </p:txBody>
      </p:sp>
      <p:sp>
        <p:nvSpPr>
          <p:cNvPr id="69" name="Rectangle 69"/>
          <p:cNvSpPr/>
          <p:nvPr/>
        </p:nvSpPr>
        <p:spPr>
          <a:xfrm>
            <a:off x="6572250" y="2019300"/>
            <a:ext cx="4857750" cy="9525"/>
          </a:xfrm>
          <a:prstGeom prst="rect">
            <a:avLst/>
          </a:prstGeom>
          <a:solidFill>
            <a:srgbClr val="F3F4F6"/>
          </a:solidFill>
          <a:ln>
            <a:noFill/>
          </a:ln>
        </p:spPr>
      </p:sp>
      <p:sp>
        <p:nvSpPr>
          <p:cNvPr id="70" name="TextBox 70"/>
          <p:cNvSpPr txBox="1"/>
          <p:nvPr/>
        </p:nvSpPr>
        <p:spPr>
          <a:xfrm>
            <a:off x="6558915" y="2096452"/>
            <a:ext cx="58674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中位长度</a:t>
            </a:r>
          </a:p>
        </p:txBody>
      </p:sp>
      <p:sp>
        <p:nvSpPr>
          <p:cNvPr id="71" name="TextBox 71"/>
          <p:cNvSpPr txBox="1"/>
          <p:nvPr/>
        </p:nvSpPr>
        <p:spPr>
          <a:xfrm>
            <a:off x="7892415" y="2096452"/>
            <a:ext cx="502730"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20 字符</a:t>
            </a:r>
          </a:p>
        </p:txBody>
      </p:sp>
      <p:sp>
        <p:nvSpPr>
          <p:cNvPr id="72" name="TextBox 72"/>
          <p:cNvSpPr txBox="1"/>
          <p:nvPr/>
        </p:nvSpPr>
        <p:spPr>
          <a:xfrm>
            <a:off x="9225915" y="2096452"/>
            <a:ext cx="502730"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20 字符</a:t>
            </a:r>
          </a:p>
        </p:txBody>
      </p:sp>
      <p:sp>
        <p:nvSpPr>
          <p:cNvPr id="73" name="Rectangle 73"/>
          <p:cNvSpPr/>
          <p:nvPr/>
        </p:nvSpPr>
        <p:spPr>
          <a:xfrm>
            <a:off x="6572250" y="2276475"/>
            <a:ext cx="4857750" cy="9525"/>
          </a:xfrm>
          <a:prstGeom prst="rect">
            <a:avLst/>
          </a:prstGeom>
          <a:solidFill>
            <a:srgbClr val="F3F4F6"/>
          </a:solidFill>
          <a:ln>
            <a:noFill/>
          </a:ln>
        </p:spPr>
      </p:sp>
      <p:sp>
        <p:nvSpPr>
          <p:cNvPr id="74" name="TextBox 74"/>
          <p:cNvSpPr txBox="1"/>
          <p:nvPr/>
        </p:nvSpPr>
        <p:spPr>
          <a:xfrm>
            <a:off x="6558915" y="2353628"/>
            <a:ext cx="44672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标准差</a:t>
            </a:r>
          </a:p>
        </p:txBody>
      </p:sp>
      <p:sp>
        <p:nvSpPr>
          <p:cNvPr id="75" name="TextBox 75"/>
          <p:cNvSpPr txBox="1"/>
          <p:nvPr/>
        </p:nvSpPr>
        <p:spPr>
          <a:xfrm>
            <a:off x="7892415" y="2353628"/>
            <a:ext cx="334708"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4.12</a:t>
            </a:r>
          </a:p>
        </p:txBody>
      </p:sp>
      <p:sp>
        <p:nvSpPr>
          <p:cNvPr id="76" name="TextBox 76"/>
          <p:cNvSpPr txBox="1"/>
          <p:nvPr/>
        </p:nvSpPr>
        <p:spPr>
          <a:xfrm>
            <a:off x="9225915" y="2353628"/>
            <a:ext cx="334708"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3.87</a:t>
            </a:r>
          </a:p>
        </p:txBody>
      </p:sp>
      <p:sp>
        <p:nvSpPr>
          <p:cNvPr id="77" name="TextBox 77"/>
          <p:cNvSpPr txBox="1"/>
          <p:nvPr/>
        </p:nvSpPr>
        <p:spPr>
          <a:xfrm>
            <a:off x="6366510" y="2870835"/>
            <a:ext cx="103860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分词词频分析</a:t>
            </a:r>
          </a:p>
        </p:txBody>
      </p:sp>
      <p:sp>
        <p:nvSpPr>
          <p:cNvPr id="78" name="Rectangle 78"/>
          <p:cNvSpPr/>
          <p:nvPr/>
        </p:nvSpPr>
        <p:spPr>
          <a:xfrm>
            <a:off x="6381750" y="3143250"/>
            <a:ext cx="5238750" cy="762000"/>
          </a:xfrm>
          <a:prstGeom prst="rect">
            <a:avLst/>
          </a:prstGeom>
          <a:solidFill>
            <a:srgbClr val="F8FAFC"/>
          </a:solidFill>
          <a:ln>
            <a:noFill/>
          </a:ln>
        </p:spPr>
      </p:sp>
      <p:sp>
        <p:nvSpPr>
          <p:cNvPr id="79" name="Rectangle 79"/>
          <p:cNvSpPr/>
          <p:nvPr/>
        </p:nvSpPr>
        <p:spPr>
          <a:xfrm>
            <a:off x="6381750" y="3143250"/>
            <a:ext cx="38100" cy="762000"/>
          </a:xfrm>
          <a:prstGeom prst="rect">
            <a:avLst/>
          </a:prstGeom>
          <a:solidFill>
            <a:srgbClr val="1565C0"/>
          </a:solidFill>
          <a:ln>
            <a:noFill/>
          </a:ln>
        </p:spPr>
      </p:sp>
      <p:sp>
        <p:nvSpPr>
          <p:cNvPr id="80" name="TextBox 80"/>
          <p:cNvSpPr txBox="1"/>
          <p:nvPr/>
        </p:nvSpPr>
        <p:spPr>
          <a:xfrm>
            <a:off x="6558915" y="3268028"/>
            <a:ext cx="2848023"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总词数: 训练集 </a:t>
            </a:r>
            <a:r>
              <a:rPr lang="zh-CN" sz="1050" b="1" dirty="0">
                <a:solidFill>
                  <a:srgbClr val="1D1D1F"/>
                </a:solidFill>
                <a:latin typeface="Arial"/>
                <a:ea typeface="Microsoft YaHei"/>
                <a:cs typeface="Arial"/>
              </a:rPr>
              <a:t>5,068,719</a:t>
            </a:r>
            <a:r>
              <a:rPr lang="zh-CN" sz="1050" dirty="0">
                <a:solidFill>
                  <a:srgbClr val="1D1D1F"/>
                </a:solidFill>
                <a:latin typeface="Arial"/>
                <a:ea typeface="Microsoft YaHei"/>
                <a:cs typeface="Arial"/>
              </a:rPr>
              <a:t> | 测试集 </a:t>
            </a:r>
            <a:r>
              <a:rPr lang="zh-CN" sz="1050" b="1" dirty="0">
                <a:solidFill>
                  <a:srgbClr val="1D1D1F"/>
                </a:solidFill>
                <a:latin typeface="Arial"/>
                <a:ea typeface="Microsoft YaHei"/>
                <a:cs typeface="Arial"/>
              </a:rPr>
              <a:t>557,632</a:t>
            </a:r>
          </a:p>
        </p:txBody>
      </p:sp>
      <p:sp>
        <p:nvSpPr>
          <p:cNvPr id="81" name="TextBox 81"/>
          <p:cNvSpPr txBox="1"/>
          <p:nvPr/>
        </p:nvSpPr>
        <p:spPr>
          <a:xfrm>
            <a:off x="6558915" y="3506152"/>
            <a:ext cx="3184065"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词汇丰富度(TTR): 训练集 4.55% | 测试集 12.40%</a:t>
            </a:r>
          </a:p>
        </p:txBody>
      </p:sp>
      <p:sp>
        <p:nvSpPr>
          <p:cNvPr id="82" name="TextBox 82"/>
          <p:cNvSpPr txBox="1"/>
          <p:nvPr/>
        </p:nvSpPr>
        <p:spPr>
          <a:xfrm>
            <a:off x="6558915" y="3696652"/>
            <a:ext cx="313505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每标题平均词数: 6.74 (训练集) / 6.67 (测试集)</a:t>
            </a:r>
          </a:p>
        </p:txBody>
      </p:sp>
      <p:sp>
        <p:nvSpPr>
          <p:cNvPr id="83" name="TextBox 83"/>
          <p:cNvSpPr txBox="1"/>
          <p:nvPr/>
        </p:nvSpPr>
        <p:spPr>
          <a:xfrm>
            <a:off x="6366510" y="4109085"/>
            <a:ext cx="1038606"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Arial"/>
                <a:ea typeface="Microsoft YaHei"/>
                <a:cs typeface="Arial"/>
              </a:rPr>
              <a:t>分布差异分析</a:t>
            </a:r>
          </a:p>
        </p:txBody>
      </p:sp>
      <p:sp>
        <p:nvSpPr>
          <p:cNvPr id="84" name="Rectangle 84"/>
          <p:cNvSpPr/>
          <p:nvPr/>
        </p:nvSpPr>
        <p:spPr>
          <a:xfrm>
            <a:off x="6381750" y="4381500"/>
            <a:ext cx="5238750" cy="523875"/>
          </a:xfrm>
          <a:prstGeom prst="rect">
            <a:avLst/>
          </a:prstGeom>
          <a:solidFill>
            <a:srgbClr val="FFF3E0"/>
          </a:solidFill>
          <a:ln>
            <a:noFill/>
          </a:ln>
        </p:spPr>
      </p:sp>
      <p:sp>
        <p:nvSpPr>
          <p:cNvPr id="85" name="Rectangle 85"/>
          <p:cNvSpPr/>
          <p:nvPr/>
        </p:nvSpPr>
        <p:spPr>
          <a:xfrm>
            <a:off x="6381750" y="4381500"/>
            <a:ext cx="38100" cy="523875"/>
          </a:xfrm>
          <a:prstGeom prst="rect">
            <a:avLst/>
          </a:prstGeom>
          <a:solidFill>
            <a:srgbClr val="FF6F00"/>
          </a:solidFill>
          <a:ln>
            <a:noFill/>
          </a:ln>
        </p:spPr>
      </p:sp>
      <p:sp>
        <p:nvSpPr>
          <p:cNvPr id="86" name="TextBox 86"/>
          <p:cNvSpPr txBox="1"/>
          <p:nvPr/>
        </p:nvSpPr>
        <p:spPr>
          <a:xfrm>
            <a:off x="6559868" y="4495324"/>
            <a:ext cx="1955506"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训练集与测试集 JS散度 = </a:t>
            </a:r>
            <a:r>
              <a:rPr lang="zh-CN" sz="975" b="1" dirty="0">
                <a:solidFill>
                  <a:srgbClr val="1D1D1F"/>
                </a:solidFill>
                <a:latin typeface="Arial"/>
                <a:ea typeface="Microsoft YaHei"/>
                <a:cs typeface="Arial"/>
              </a:rPr>
              <a:t>0.0999</a:t>
            </a:r>
          </a:p>
        </p:txBody>
      </p:sp>
      <p:sp>
        <p:nvSpPr>
          <p:cNvPr id="87" name="TextBox 87"/>
          <p:cNvSpPr txBox="1"/>
          <p:nvPr/>
        </p:nvSpPr>
        <p:spPr>
          <a:xfrm>
            <a:off x="6559868" y="4685824"/>
            <a:ext cx="3353181"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测试集高频词: 佳能(4.7x) · 索尼(2.9x) · 留学(17.0x)</a:t>
            </a:r>
          </a:p>
        </p:txBody>
      </p:sp>
      <p:sp>
        <p:nvSpPr>
          <p:cNvPr id="88" name="Rectangle 88"/>
          <p:cNvSpPr/>
          <p:nvPr/>
        </p:nvSpPr>
        <p:spPr>
          <a:xfrm>
            <a:off x="571500" y="6619875"/>
            <a:ext cx="11049000" cy="9525"/>
          </a:xfrm>
          <a:prstGeom prst="rect">
            <a:avLst/>
          </a:prstGeom>
          <a:solidFill>
            <a:srgbClr val="E5E7EB"/>
          </a:solidFill>
          <a:ln>
            <a:noFill/>
          </a:ln>
        </p:spPr>
      </p:sp>
      <p:sp>
        <p:nvSpPr>
          <p:cNvPr id="89" name="TextBox 89"/>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05</a:t>
            </a:r>
          </a:p>
        </p:txBody>
      </p:sp>
      <p:sp>
        <p:nvSpPr>
          <p:cNvPr id="90" name="Rectangle 90"/>
          <p:cNvSpPr/>
          <p:nvPr/>
        </p:nvSpPr>
        <p:spPr>
          <a:xfrm>
            <a:off x="12001500" y="476250"/>
            <a:ext cx="9525" cy="6096000"/>
          </a:xfrm>
          <a:prstGeom prst="rect">
            <a:avLst/>
          </a:prstGeom>
          <a:solidFill>
            <a:srgbClr val="1565C0">
              <a:alpha val="8000"/>
            </a:srgbClr>
          </a:solidFill>
          <a:ln>
            <a:noFill/>
          </a:ln>
        </p:spPr>
      </p:sp>
      <p:sp>
        <p:nvSpPr>
          <p:cNvPr id="91" name="Rectangle 36">
            <a:extLst>
              <a:ext uri="{FF2B5EF4-FFF2-40B4-BE49-F238E27FC236}">
                <a16:creationId xmlns:a16="http://schemas.microsoft.com/office/drawing/2014/main" id="{BB72D60C-2EBF-41A8-F513-3F36F8702DF7}"/>
              </a:ext>
            </a:extLst>
          </p:cNvPr>
          <p:cNvSpPr/>
          <p:nvPr/>
        </p:nvSpPr>
        <p:spPr>
          <a:xfrm>
            <a:off x="1333500" y="4286568"/>
            <a:ext cx="664616" cy="152400"/>
          </a:xfrm>
          <a:prstGeom prst="rect">
            <a:avLst/>
          </a:prstGeom>
          <a:solidFill>
            <a:srgbClr val="64B5F6"/>
          </a:solidFill>
          <a:ln>
            <a:noFill/>
          </a:ln>
        </p:spPr>
      </p:sp>
      <p:sp>
        <p:nvSpPr>
          <p:cNvPr id="92" name="TextBox 35">
            <a:extLst>
              <a:ext uri="{FF2B5EF4-FFF2-40B4-BE49-F238E27FC236}">
                <a16:creationId xmlns:a16="http://schemas.microsoft.com/office/drawing/2014/main" id="{891437D9-B16D-BC48-69CC-0B1AFD0AE5BA}"/>
              </a:ext>
            </a:extLst>
          </p:cNvPr>
          <p:cNvSpPr txBox="1"/>
          <p:nvPr/>
        </p:nvSpPr>
        <p:spPr>
          <a:xfrm>
            <a:off x="754380" y="4288860"/>
            <a:ext cx="230832" cy="138499"/>
          </a:xfrm>
          <a:prstGeom prst="rect">
            <a:avLst/>
          </a:prstGeom>
          <a:noFill/>
          <a:ln>
            <a:noFill/>
          </a:ln>
        </p:spPr>
        <p:txBody>
          <a:bodyPr wrap="none" lIns="0" tIns="0" rIns="0" bIns="0" anchor="t" anchorCtr="0">
            <a:spAutoFit/>
          </a:bodyPr>
          <a:lstStyle/>
          <a:p>
            <a:pPr algn="l"/>
            <a:r>
              <a:rPr lang="zh-CN" altLang="en-US" sz="900" dirty="0">
                <a:solidFill>
                  <a:srgbClr val="6B7280"/>
                </a:solidFill>
                <a:latin typeface="Arial"/>
                <a:ea typeface="Microsoft YaHei"/>
                <a:cs typeface="Arial"/>
              </a:rPr>
              <a:t>教育</a:t>
            </a:r>
            <a:endParaRPr lang="zh-CN" sz="900" dirty="0">
              <a:solidFill>
                <a:srgbClr val="6B7280"/>
              </a:solidFill>
              <a:latin typeface="Arial"/>
              <a:ea typeface="Microsoft YaHei"/>
              <a:cs typeface="Arial"/>
            </a:endParaRPr>
          </a:p>
        </p:txBody>
      </p:sp>
      <p:sp>
        <p:nvSpPr>
          <p:cNvPr id="93" name="TextBox 37">
            <a:extLst>
              <a:ext uri="{FF2B5EF4-FFF2-40B4-BE49-F238E27FC236}">
                <a16:creationId xmlns:a16="http://schemas.microsoft.com/office/drawing/2014/main" id="{A7504D7E-7601-6DD4-39EB-ABAF3B4C1617}"/>
              </a:ext>
            </a:extLst>
          </p:cNvPr>
          <p:cNvSpPr txBox="1"/>
          <p:nvPr/>
        </p:nvSpPr>
        <p:spPr>
          <a:xfrm>
            <a:off x="3798570" y="4269264"/>
            <a:ext cx="327013" cy="138499"/>
          </a:xfrm>
          <a:prstGeom prst="rect">
            <a:avLst/>
          </a:prstGeom>
          <a:noFill/>
          <a:ln>
            <a:noFill/>
          </a:ln>
        </p:spPr>
        <p:txBody>
          <a:bodyPr wrap="none" lIns="0" tIns="0" rIns="0" bIns="0" anchor="t" anchorCtr="0">
            <a:spAutoFit/>
          </a:bodyPr>
          <a:lstStyle/>
          <a:p>
            <a:pPr algn="l"/>
            <a:r>
              <a:rPr lang="en-US" altLang="zh-CN" sz="900" dirty="0">
                <a:solidFill>
                  <a:srgbClr val="6B7280"/>
                </a:solidFill>
                <a:latin typeface="Arial"/>
                <a:ea typeface="Microsoft YaHei"/>
                <a:cs typeface="Arial"/>
              </a:rPr>
              <a:t>5.02</a:t>
            </a:r>
            <a:r>
              <a:rPr lang="zh-CN" sz="900" dirty="0">
                <a:solidFill>
                  <a:srgbClr val="6B7280"/>
                </a:solidFill>
                <a:latin typeface="Arial"/>
                <a:ea typeface="Microsoft YaHei"/>
                <a:cs typeface="Arial"/>
              </a:rPr>
              <a:t>%</a:t>
            </a:r>
          </a:p>
        </p:txBody>
      </p:sp>
      <p:sp>
        <p:nvSpPr>
          <p:cNvPr id="95" name="TextBox 35">
            <a:extLst>
              <a:ext uri="{FF2B5EF4-FFF2-40B4-BE49-F238E27FC236}">
                <a16:creationId xmlns:a16="http://schemas.microsoft.com/office/drawing/2014/main" id="{140E729B-55EE-6C34-F5E0-E1480FC3A88B}"/>
              </a:ext>
            </a:extLst>
          </p:cNvPr>
          <p:cNvSpPr txBox="1"/>
          <p:nvPr/>
        </p:nvSpPr>
        <p:spPr>
          <a:xfrm>
            <a:off x="4367838" y="2785110"/>
            <a:ext cx="230832" cy="138499"/>
          </a:xfrm>
          <a:prstGeom prst="rect">
            <a:avLst/>
          </a:prstGeom>
          <a:noFill/>
          <a:ln>
            <a:noFill/>
          </a:ln>
        </p:spPr>
        <p:txBody>
          <a:bodyPr wrap="none" lIns="0" tIns="0" rIns="0" bIns="0" anchor="t" anchorCtr="0">
            <a:spAutoFit/>
          </a:bodyPr>
          <a:lstStyle/>
          <a:p>
            <a:pPr algn="l"/>
            <a:r>
              <a:rPr lang="zh-CN" altLang="en-US" sz="900" dirty="0">
                <a:solidFill>
                  <a:srgbClr val="6B7280"/>
                </a:solidFill>
                <a:latin typeface="Arial"/>
                <a:ea typeface="Microsoft YaHei"/>
                <a:cs typeface="Arial"/>
              </a:rPr>
              <a:t>财经</a:t>
            </a:r>
            <a:endParaRPr lang="zh-CN" sz="900" dirty="0">
              <a:solidFill>
                <a:srgbClr val="6B7280"/>
              </a:solidFill>
              <a:latin typeface="Arial"/>
              <a:ea typeface="Microsoft YaHei"/>
              <a:cs typeface="Arial"/>
            </a:endParaRPr>
          </a:p>
        </p:txBody>
      </p:sp>
      <p:sp>
        <p:nvSpPr>
          <p:cNvPr id="96" name="Rectangle 39">
            <a:extLst>
              <a:ext uri="{FF2B5EF4-FFF2-40B4-BE49-F238E27FC236}">
                <a16:creationId xmlns:a16="http://schemas.microsoft.com/office/drawing/2014/main" id="{E7D194A7-CBB8-F238-493E-2548A7725B09}"/>
              </a:ext>
            </a:extLst>
          </p:cNvPr>
          <p:cNvSpPr/>
          <p:nvPr/>
        </p:nvSpPr>
        <p:spPr>
          <a:xfrm>
            <a:off x="4953000" y="2769394"/>
            <a:ext cx="541972" cy="160814"/>
          </a:xfrm>
          <a:prstGeom prst="rect">
            <a:avLst/>
          </a:prstGeom>
          <a:solidFill>
            <a:srgbClr val="90CAF9"/>
          </a:solidFill>
          <a:ln>
            <a:noFill/>
          </a:ln>
        </p:spPr>
      </p:sp>
      <p:sp>
        <p:nvSpPr>
          <p:cNvPr id="97" name="TextBox 40">
            <a:extLst>
              <a:ext uri="{FF2B5EF4-FFF2-40B4-BE49-F238E27FC236}">
                <a16:creationId xmlns:a16="http://schemas.microsoft.com/office/drawing/2014/main" id="{4D832BB7-43FE-74C5-52B1-E572677878D8}"/>
              </a:ext>
            </a:extLst>
          </p:cNvPr>
          <p:cNvSpPr txBox="1"/>
          <p:nvPr/>
        </p:nvSpPr>
        <p:spPr>
          <a:xfrm>
            <a:off x="5703570" y="2769394"/>
            <a:ext cx="327013" cy="138499"/>
          </a:xfrm>
          <a:prstGeom prst="rect">
            <a:avLst/>
          </a:prstGeom>
          <a:noFill/>
          <a:ln>
            <a:noFill/>
          </a:ln>
        </p:spPr>
        <p:txBody>
          <a:bodyPr wrap="none" lIns="0" tIns="0" rIns="0" bIns="0" anchor="t" anchorCtr="0">
            <a:spAutoFit/>
          </a:bodyPr>
          <a:lstStyle/>
          <a:p>
            <a:pPr algn="l"/>
            <a:r>
              <a:rPr lang="en-US" altLang="zh-CN" sz="900" dirty="0">
                <a:solidFill>
                  <a:srgbClr val="6B7280"/>
                </a:solidFill>
                <a:latin typeface="Arial"/>
                <a:ea typeface="Microsoft YaHei"/>
                <a:cs typeface="Arial"/>
              </a:rPr>
              <a:t>4.40</a:t>
            </a:r>
            <a:r>
              <a:rPr lang="zh-CN" sz="900" dirty="0">
                <a:solidFill>
                  <a:srgbClr val="6B7280"/>
                </a:solidFill>
                <a:latin typeface="Arial"/>
                <a:ea typeface="Microsoft YaHei"/>
                <a:cs typeface="Arial"/>
              </a:rPr>
              <a:t>%</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2593217"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MacBERT参数调优</a:t>
            </a:r>
          </a:p>
        </p:txBody>
      </p:sp>
      <p:sp>
        <p:nvSpPr>
          <p:cNvPr id="5" name="Rectangle 5"/>
          <p:cNvSpPr/>
          <p:nvPr/>
        </p:nvSpPr>
        <p:spPr>
          <a:xfrm>
            <a:off x="571500" y="952500"/>
            <a:ext cx="11049000" cy="9525"/>
          </a:xfrm>
          <a:prstGeom prst="rect">
            <a:avLst/>
          </a:prstGeom>
          <a:solidFill>
            <a:srgbClr val="E5E7EB"/>
          </a:solidFill>
          <a:ln>
            <a:noFill/>
          </a:ln>
        </p:spPr>
      </p:sp>
      <p:sp>
        <p:nvSpPr>
          <p:cNvPr id="6" name="TextBox 6"/>
          <p:cNvSpPr txBox="1"/>
          <p:nvPr/>
        </p:nvSpPr>
        <p:spPr>
          <a:xfrm>
            <a:off x="556260" y="1156335"/>
            <a:ext cx="1206627"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最佳超参数组合</a:t>
            </a:r>
          </a:p>
        </p:txBody>
      </p:sp>
      <p:sp>
        <p:nvSpPr>
          <p:cNvPr id="7" name="Rectangle 7"/>
          <p:cNvSpPr/>
          <p:nvPr/>
        </p:nvSpPr>
        <p:spPr>
          <a:xfrm>
            <a:off x="571500" y="1428750"/>
            <a:ext cx="5238750" cy="3238500"/>
          </a:xfrm>
          <a:prstGeom prst="rect">
            <a:avLst/>
          </a:prstGeom>
          <a:solidFill>
            <a:srgbClr val="F8FAFC"/>
          </a:solidFill>
          <a:ln>
            <a:noFill/>
          </a:ln>
        </p:spPr>
      </p:sp>
      <p:sp>
        <p:nvSpPr>
          <p:cNvPr id="8" name="Rectangle 8"/>
          <p:cNvSpPr/>
          <p:nvPr/>
        </p:nvSpPr>
        <p:spPr>
          <a:xfrm>
            <a:off x="571500" y="1428750"/>
            <a:ext cx="2286000" cy="304800"/>
          </a:xfrm>
          <a:prstGeom prst="rect">
            <a:avLst/>
          </a:prstGeom>
          <a:solidFill>
            <a:srgbClr val="1565C0"/>
          </a:solidFill>
          <a:ln>
            <a:noFill/>
          </a:ln>
        </p:spPr>
      </p:sp>
      <p:sp>
        <p:nvSpPr>
          <p:cNvPr id="9" name="TextBox 9"/>
          <p:cNvSpPr txBox="1"/>
          <p:nvPr/>
        </p:nvSpPr>
        <p:spPr>
          <a:xfrm>
            <a:off x="1565600" y="15139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参数</a:t>
            </a:r>
          </a:p>
        </p:txBody>
      </p:sp>
      <p:sp>
        <p:nvSpPr>
          <p:cNvPr id="10" name="Rectangle 10"/>
          <p:cNvSpPr/>
          <p:nvPr/>
        </p:nvSpPr>
        <p:spPr>
          <a:xfrm>
            <a:off x="2857500" y="1428750"/>
            <a:ext cx="2952750" cy="304800"/>
          </a:xfrm>
          <a:prstGeom prst="rect">
            <a:avLst/>
          </a:prstGeom>
          <a:solidFill>
            <a:srgbClr val="1565C0"/>
          </a:solidFill>
          <a:ln>
            <a:noFill/>
          </a:ln>
        </p:spPr>
      </p:sp>
      <p:sp>
        <p:nvSpPr>
          <p:cNvPr id="11" name="TextBox 11"/>
          <p:cNvSpPr txBox="1"/>
          <p:nvPr/>
        </p:nvSpPr>
        <p:spPr>
          <a:xfrm>
            <a:off x="4048458" y="1513999"/>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最佳配置</a:t>
            </a:r>
          </a:p>
        </p:txBody>
      </p:sp>
      <p:sp>
        <p:nvSpPr>
          <p:cNvPr id="12" name="Rectangle 12"/>
          <p:cNvSpPr/>
          <p:nvPr/>
        </p:nvSpPr>
        <p:spPr>
          <a:xfrm>
            <a:off x="571500" y="1733550"/>
            <a:ext cx="2286000" cy="285750"/>
          </a:xfrm>
          <a:prstGeom prst="rect">
            <a:avLst/>
          </a:prstGeom>
          <a:solidFill>
            <a:srgbClr val="FFFFFF"/>
          </a:solidFill>
          <a:ln>
            <a:noFill/>
          </a:ln>
        </p:spPr>
      </p:sp>
      <p:sp>
        <p:nvSpPr>
          <p:cNvPr id="13" name="TextBox 13"/>
          <p:cNvSpPr txBox="1"/>
          <p:nvPr/>
        </p:nvSpPr>
        <p:spPr>
          <a:xfrm>
            <a:off x="749618" y="1818799"/>
            <a:ext cx="67484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预训练模型</a:t>
            </a:r>
          </a:p>
        </p:txBody>
      </p:sp>
      <p:sp>
        <p:nvSpPr>
          <p:cNvPr id="14" name="Rectangle 14"/>
          <p:cNvSpPr/>
          <p:nvPr/>
        </p:nvSpPr>
        <p:spPr>
          <a:xfrm>
            <a:off x="2857500" y="1733550"/>
            <a:ext cx="2952750" cy="285750"/>
          </a:xfrm>
          <a:prstGeom prst="rect">
            <a:avLst/>
          </a:prstGeom>
          <a:solidFill>
            <a:srgbClr val="FFFFFF"/>
          </a:solidFill>
          <a:ln>
            <a:noFill/>
          </a:ln>
        </p:spPr>
      </p:sp>
      <p:sp>
        <p:nvSpPr>
          <p:cNvPr id="15" name="TextBox 15"/>
          <p:cNvSpPr txBox="1"/>
          <p:nvPr/>
        </p:nvSpPr>
        <p:spPr>
          <a:xfrm>
            <a:off x="3035618" y="1818799"/>
            <a:ext cx="1701975"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hfl/chinese-macbert-base</a:t>
            </a:r>
          </a:p>
        </p:txBody>
      </p:sp>
      <p:sp>
        <p:nvSpPr>
          <p:cNvPr id="16" name="Rectangle 16"/>
          <p:cNvSpPr/>
          <p:nvPr/>
        </p:nvSpPr>
        <p:spPr>
          <a:xfrm>
            <a:off x="571500" y="2019300"/>
            <a:ext cx="2286000" cy="285750"/>
          </a:xfrm>
          <a:prstGeom prst="rect">
            <a:avLst/>
          </a:prstGeom>
          <a:solidFill>
            <a:srgbClr val="F3F4F6"/>
          </a:solidFill>
          <a:ln>
            <a:noFill/>
          </a:ln>
        </p:spPr>
      </p:sp>
      <p:sp>
        <p:nvSpPr>
          <p:cNvPr id="17" name="TextBox 17"/>
          <p:cNvSpPr txBox="1"/>
          <p:nvPr/>
        </p:nvSpPr>
        <p:spPr>
          <a:xfrm>
            <a:off x="749618" y="2104549"/>
            <a:ext cx="414814"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优化器</a:t>
            </a:r>
          </a:p>
        </p:txBody>
      </p:sp>
      <p:sp>
        <p:nvSpPr>
          <p:cNvPr id="18" name="Rectangle 18"/>
          <p:cNvSpPr/>
          <p:nvPr/>
        </p:nvSpPr>
        <p:spPr>
          <a:xfrm>
            <a:off x="2857500" y="2019300"/>
            <a:ext cx="2952750" cy="285750"/>
          </a:xfrm>
          <a:prstGeom prst="rect">
            <a:avLst/>
          </a:prstGeom>
          <a:solidFill>
            <a:srgbClr val="F3F4F6"/>
          </a:solidFill>
          <a:ln>
            <a:noFill/>
          </a:ln>
        </p:spPr>
      </p:sp>
      <p:sp>
        <p:nvSpPr>
          <p:cNvPr id="19" name="TextBox 19"/>
          <p:cNvSpPr txBox="1"/>
          <p:nvPr/>
        </p:nvSpPr>
        <p:spPr>
          <a:xfrm>
            <a:off x="3035618" y="2104549"/>
            <a:ext cx="434316"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AdamW</a:t>
            </a:r>
          </a:p>
        </p:txBody>
      </p:sp>
      <p:sp>
        <p:nvSpPr>
          <p:cNvPr id="20" name="Rectangle 20"/>
          <p:cNvSpPr/>
          <p:nvPr/>
        </p:nvSpPr>
        <p:spPr>
          <a:xfrm>
            <a:off x="571500" y="2305050"/>
            <a:ext cx="2286000" cy="285750"/>
          </a:xfrm>
          <a:prstGeom prst="rect">
            <a:avLst/>
          </a:prstGeom>
          <a:solidFill>
            <a:srgbClr val="FFFFFF"/>
          </a:solidFill>
          <a:ln>
            <a:noFill/>
          </a:ln>
        </p:spPr>
      </p:sp>
      <p:sp>
        <p:nvSpPr>
          <p:cNvPr id="21" name="TextBox 21"/>
          <p:cNvSpPr txBox="1"/>
          <p:nvPr/>
        </p:nvSpPr>
        <p:spPr>
          <a:xfrm>
            <a:off x="749618" y="2390299"/>
            <a:ext cx="414814"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学习率</a:t>
            </a:r>
          </a:p>
        </p:txBody>
      </p:sp>
      <p:sp>
        <p:nvSpPr>
          <p:cNvPr id="22" name="Rectangle 22"/>
          <p:cNvSpPr/>
          <p:nvPr/>
        </p:nvSpPr>
        <p:spPr>
          <a:xfrm>
            <a:off x="2857500" y="2305050"/>
            <a:ext cx="2952750" cy="285750"/>
          </a:xfrm>
          <a:prstGeom prst="rect">
            <a:avLst/>
          </a:prstGeom>
          <a:solidFill>
            <a:srgbClr val="FFFFFF"/>
          </a:solidFill>
          <a:ln>
            <a:noFill/>
          </a:ln>
        </p:spPr>
      </p:sp>
      <p:sp>
        <p:nvSpPr>
          <p:cNvPr id="23" name="TextBox 23"/>
          <p:cNvSpPr txBox="1"/>
          <p:nvPr/>
        </p:nvSpPr>
        <p:spPr>
          <a:xfrm>
            <a:off x="3035618" y="2390299"/>
            <a:ext cx="1280722"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2e-5（统一学习率）</a:t>
            </a:r>
          </a:p>
        </p:txBody>
      </p:sp>
      <p:sp>
        <p:nvSpPr>
          <p:cNvPr id="24" name="Rectangle 24"/>
          <p:cNvSpPr/>
          <p:nvPr/>
        </p:nvSpPr>
        <p:spPr>
          <a:xfrm>
            <a:off x="571500" y="2590800"/>
            <a:ext cx="2286000" cy="285750"/>
          </a:xfrm>
          <a:prstGeom prst="rect">
            <a:avLst/>
          </a:prstGeom>
          <a:solidFill>
            <a:srgbClr val="F3F4F6"/>
          </a:solidFill>
          <a:ln>
            <a:noFill/>
          </a:ln>
        </p:spPr>
      </p:sp>
      <p:sp>
        <p:nvSpPr>
          <p:cNvPr id="25" name="TextBox 25"/>
          <p:cNvSpPr txBox="1"/>
          <p:nvPr/>
        </p:nvSpPr>
        <p:spPr>
          <a:xfrm>
            <a:off x="749618" y="2676049"/>
            <a:ext cx="54483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损失函数</a:t>
            </a:r>
          </a:p>
        </p:txBody>
      </p:sp>
      <p:sp>
        <p:nvSpPr>
          <p:cNvPr id="26" name="Rectangle 26"/>
          <p:cNvSpPr/>
          <p:nvPr/>
        </p:nvSpPr>
        <p:spPr>
          <a:xfrm>
            <a:off x="2857500" y="2590800"/>
            <a:ext cx="2952750" cy="285750"/>
          </a:xfrm>
          <a:prstGeom prst="rect">
            <a:avLst/>
          </a:prstGeom>
          <a:solidFill>
            <a:srgbClr val="F3F4F6"/>
          </a:solidFill>
          <a:ln>
            <a:noFill/>
          </a:ln>
        </p:spPr>
      </p:sp>
      <p:sp>
        <p:nvSpPr>
          <p:cNvPr id="27" name="TextBox 27"/>
          <p:cNvSpPr txBox="1"/>
          <p:nvPr/>
        </p:nvSpPr>
        <p:spPr>
          <a:xfrm>
            <a:off x="3035618" y="2676049"/>
            <a:ext cx="1818989"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CrossEntropyLoss（无权重）</a:t>
            </a:r>
          </a:p>
        </p:txBody>
      </p:sp>
      <p:sp>
        <p:nvSpPr>
          <p:cNvPr id="28" name="Rectangle 28"/>
          <p:cNvSpPr/>
          <p:nvPr/>
        </p:nvSpPr>
        <p:spPr>
          <a:xfrm>
            <a:off x="571500" y="2876550"/>
            <a:ext cx="2286000" cy="285750"/>
          </a:xfrm>
          <a:prstGeom prst="rect">
            <a:avLst/>
          </a:prstGeom>
          <a:solidFill>
            <a:srgbClr val="FFFFFF"/>
          </a:solidFill>
          <a:ln>
            <a:noFill/>
          </a:ln>
        </p:spPr>
      </p:sp>
      <p:sp>
        <p:nvSpPr>
          <p:cNvPr id="29" name="TextBox 29"/>
          <p:cNvSpPr txBox="1"/>
          <p:nvPr/>
        </p:nvSpPr>
        <p:spPr>
          <a:xfrm>
            <a:off x="749618" y="2961799"/>
            <a:ext cx="52532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Dropout</a:t>
            </a:r>
          </a:p>
        </p:txBody>
      </p:sp>
      <p:sp>
        <p:nvSpPr>
          <p:cNvPr id="30" name="Rectangle 30"/>
          <p:cNvSpPr/>
          <p:nvPr/>
        </p:nvSpPr>
        <p:spPr>
          <a:xfrm>
            <a:off x="2857500" y="2876550"/>
            <a:ext cx="2952750" cy="285750"/>
          </a:xfrm>
          <a:prstGeom prst="rect">
            <a:avLst/>
          </a:prstGeom>
          <a:solidFill>
            <a:srgbClr val="FFFFFF"/>
          </a:solidFill>
          <a:ln>
            <a:noFill/>
          </a:ln>
        </p:spPr>
      </p:sp>
      <p:sp>
        <p:nvSpPr>
          <p:cNvPr id="31" name="TextBox 31"/>
          <p:cNvSpPr txBox="1"/>
          <p:nvPr/>
        </p:nvSpPr>
        <p:spPr>
          <a:xfrm>
            <a:off x="3035618" y="2961799"/>
            <a:ext cx="239292"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0.1</a:t>
            </a:r>
          </a:p>
        </p:txBody>
      </p:sp>
      <p:sp>
        <p:nvSpPr>
          <p:cNvPr id="32" name="Rectangle 32"/>
          <p:cNvSpPr/>
          <p:nvPr/>
        </p:nvSpPr>
        <p:spPr>
          <a:xfrm>
            <a:off x="571500" y="3162300"/>
            <a:ext cx="2286000" cy="285750"/>
          </a:xfrm>
          <a:prstGeom prst="rect">
            <a:avLst/>
          </a:prstGeom>
          <a:solidFill>
            <a:srgbClr val="F3F4F6"/>
          </a:solidFill>
          <a:ln>
            <a:noFill/>
          </a:ln>
        </p:spPr>
      </p:sp>
      <p:sp>
        <p:nvSpPr>
          <p:cNvPr id="33" name="TextBox 33"/>
          <p:cNvSpPr txBox="1"/>
          <p:nvPr/>
        </p:nvSpPr>
        <p:spPr>
          <a:xfrm>
            <a:off x="749618" y="3247549"/>
            <a:ext cx="67484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Batch Size</a:t>
            </a:r>
          </a:p>
        </p:txBody>
      </p:sp>
      <p:sp>
        <p:nvSpPr>
          <p:cNvPr id="34" name="Rectangle 34"/>
          <p:cNvSpPr/>
          <p:nvPr/>
        </p:nvSpPr>
        <p:spPr>
          <a:xfrm>
            <a:off x="2857500" y="3162300"/>
            <a:ext cx="2952750" cy="285750"/>
          </a:xfrm>
          <a:prstGeom prst="rect">
            <a:avLst/>
          </a:prstGeom>
          <a:solidFill>
            <a:srgbClr val="F3F4F6"/>
          </a:solidFill>
          <a:ln>
            <a:noFill/>
          </a:ln>
        </p:spPr>
      </p:sp>
      <p:sp>
        <p:nvSpPr>
          <p:cNvPr id="35" name="TextBox 35"/>
          <p:cNvSpPr txBox="1"/>
          <p:nvPr/>
        </p:nvSpPr>
        <p:spPr>
          <a:xfrm>
            <a:off x="3035618" y="3247549"/>
            <a:ext cx="167783"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64</a:t>
            </a:r>
          </a:p>
        </p:txBody>
      </p:sp>
      <p:sp>
        <p:nvSpPr>
          <p:cNvPr id="36" name="Rectangle 36"/>
          <p:cNvSpPr/>
          <p:nvPr/>
        </p:nvSpPr>
        <p:spPr>
          <a:xfrm>
            <a:off x="571500" y="3448050"/>
            <a:ext cx="2286000" cy="285750"/>
          </a:xfrm>
          <a:prstGeom prst="rect">
            <a:avLst/>
          </a:prstGeom>
          <a:solidFill>
            <a:srgbClr val="FFFFFF"/>
          </a:solidFill>
          <a:ln>
            <a:noFill/>
          </a:ln>
        </p:spPr>
      </p:sp>
      <p:sp>
        <p:nvSpPr>
          <p:cNvPr id="37" name="TextBox 37"/>
          <p:cNvSpPr txBox="1"/>
          <p:nvPr/>
        </p:nvSpPr>
        <p:spPr>
          <a:xfrm>
            <a:off x="749618" y="3533299"/>
            <a:ext cx="80486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最大序列长度</a:t>
            </a:r>
          </a:p>
        </p:txBody>
      </p:sp>
      <p:sp>
        <p:nvSpPr>
          <p:cNvPr id="38" name="Rectangle 38"/>
          <p:cNvSpPr/>
          <p:nvPr/>
        </p:nvSpPr>
        <p:spPr>
          <a:xfrm>
            <a:off x="2857500" y="3448050"/>
            <a:ext cx="2952750" cy="285750"/>
          </a:xfrm>
          <a:prstGeom prst="rect">
            <a:avLst/>
          </a:prstGeom>
          <a:solidFill>
            <a:srgbClr val="FFFFFF"/>
          </a:solidFill>
          <a:ln>
            <a:noFill/>
          </a:ln>
        </p:spPr>
      </p:sp>
      <p:sp>
        <p:nvSpPr>
          <p:cNvPr id="39" name="TextBox 39"/>
          <p:cNvSpPr txBox="1"/>
          <p:nvPr/>
        </p:nvSpPr>
        <p:spPr>
          <a:xfrm>
            <a:off x="3035618" y="3533299"/>
            <a:ext cx="167783"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64</a:t>
            </a:r>
          </a:p>
        </p:txBody>
      </p:sp>
      <p:sp>
        <p:nvSpPr>
          <p:cNvPr id="40" name="Rectangle 40"/>
          <p:cNvSpPr/>
          <p:nvPr/>
        </p:nvSpPr>
        <p:spPr>
          <a:xfrm>
            <a:off x="571500" y="3733800"/>
            <a:ext cx="2286000" cy="285750"/>
          </a:xfrm>
          <a:prstGeom prst="rect">
            <a:avLst/>
          </a:prstGeom>
          <a:solidFill>
            <a:srgbClr val="F3F4F6"/>
          </a:solidFill>
          <a:ln>
            <a:noFill/>
          </a:ln>
        </p:spPr>
      </p:sp>
      <p:sp>
        <p:nvSpPr>
          <p:cNvPr id="41" name="TextBox 41"/>
          <p:cNvSpPr txBox="1"/>
          <p:nvPr/>
        </p:nvSpPr>
        <p:spPr>
          <a:xfrm>
            <a:off x="749618" y="3819049"/>
            <a:ext cx="67484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学习率调度</a:t>
            </a:r>
          </a:p>
        </p:txBody>
      </p:sp>
      <p:sp>
        <p:nvSpPr>
          <p:cNvPr id="42" name="Rectangle 42"/>
          <p:cNvSpPr/>
          <p:nvPr/>
        </p:nvSpPr>
        <p:spPr>
          <a:xfrm>
            <a:off x="2857500" y="3733800"/>
            <a:ext cx="2952750" cy="285750"/>
          </a:xfrm>
          <a:prstGeom prst="rect">
            <a:avLst/>
          </a:prstGeom>
          <a:solidFill>
            <a:srgbClr val="F3F4F6"/>
          </a:solidFill>
          <a:ln>
            <a:noFill/>
          </a:ln>
        </p:spPr>
      </p:sp>
      <p:sp>
        <p:nvSpPr>
          <p:cNvPr id="43" name="TextBox 43"/>
          <p:cNvSpPr txBox="1"/>
          <p:nvPr/>
        </p:nvSpPr>
        <p:spPr>
          <a:xfrm>
            <a:off x="3035618" y="3819049"/>
            <a:ext cx="1337929"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Cosine Warmup Decay</a:t>
            </a:r>
          </a:p>
        </p:txBody>
      </p:sp>
      <p:sp>
        <p:nvSpPr>
          <p:cNvPr id="44" name="Rectangle 44"/>
          <p:cNvSpPr/>
          <p:nvPr/>
        </p:nvSpPr>
        <p:spPr>
          <a:xfrm>
            <a:off x="571500" y="4019550"/>
            <a:ext cx="2286000" cy="285750"/>
          </a:xfrm>
          <a:prstGeom prst="rect">
            <a:avLst/>
          </a:prstGeom>
          <a:solidFill>
            <a:srgbClr val="FFFFFF"/>
          </a:solidFill>
          <a:ln>
            <a:noFill/>
          </a:ln>
        </p:spPr>
      </p:sp>
      <p:sp>
        <p:nvSpPr>
          <p:cNvPr id="45" name="TextBox 45"/>
          <p:cNvSpPr txBox="1"/>
          <p:nvPr/>
        </p:nvSpPr>
        <p:spPr>
          <a:xfrm>
            <a:off x="749618" y="4104799"/>
            <a:ext cx="86337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早停 Patience</a:t>
            </a:r>
          </a:p>
        </p:txBody>
      </p:sp>
      <p:sp>
        <p:nvSpPr>
          <p:cNvPr id="46" name="Rectangle 46"/>
          <p:cNvSpPr/>
          <p:nvPr/>
        </p:nvSpPr>
        <p:spPr>
          <a:xfrm>
            <a:off x="2857500" y="4019550"/>
            <a:ext cx="2952750" cy="285750"/>
          </a:xfrm>
          <a:prstGeom prst="rect">
            <a:avLst/>
          </a:prstGeom>
          <a:solidFill>
            <a:srgbClr val="FFFFFF"/>
          </a:solidFill>
          <a:ln>
            <a:noFill/>
          </a:ln>
        </p:spPr>
      </p:sp>
      <p:sp>
        <p:nvSpPr>
          <p:cNvPr id="47" name="TextBox 47"/>
          <p:cNvSpPr txBox="1"/>
          <p:nvPr/>
        </p:nvSpPr>
        <p:spPr>
          <a:xfrm>
            <a:off x="3035618" y="4104799"/>
            <a:ext cx="96274"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2</a:t>
            </a:r>
          </a:p>
        </p:txBody>
      </p:sp>
      <p:sp>
        <p:nvSpPr>
          <p:cNvPr id="48" name="Rectangle 48"/>
          <p:cNvSpPr/>
          <p:nvPr/>
        </p:nvSpPr>
        <p:spPr>
          <a:xfrm>
            <a:off x="571500" y="4810125"/>
            <a:ext cx="5238750" cy="523875"/>
          </a:xfrm>
          <a:prstGeom prst="rect">
            <a:avLst/>
          </a:prstGeom>
          <a:solidFill>
            <a:srgbClr val="E8F5E9"/>
          </a:solidFill>
          <a:ln>
            <a:noFill/>
          </a:ln>
        </p:spPr>
      </p:sp>
      <p:sp>
        <p:nvSpPr>
          <p:cNvPr id="49" name="Rectangle 49"/>
          <p:cNvSpPr/>
          <p:nvPr/>
        </p:nvSpPr>
        <p:spPr>
          <a:xfrm>
            <a:off x="571500" y="4810125"/>
            <a:ext cx="38100" cy="523875"/>
          </a:xfrm>
          <a:prstGeom prst="rect">
            <a:avLst/>
          </a:prstGeom>
          <a:solidFill>
            <a:srgbClr val="2E7D32"/>
          </a:solidFill>
          <a:ln>
            <a:noFill/>
          </a:ln>
        </p:spPr>
      </p:sp>
      <p:sp>
        <p:nvSpPr>
          <p:cNvPr id="50" name="TextBox 50"/>
          <p:cNvSpPr txBox="1"/>
          <p:nvPr/>
        </p:nvSpPr>
        <p:spPr>
          <a:xfrm>
            <a:off x="728662" y="4907756"/>
            <a:ext cx="816173"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验证集结果</a:t>
            </a:r>
          </a:p>
        </p:txBody>
      </p:sp>
      <p:sp>
        <p:nvSpPr>
          <p:cNvPr id="51" name="TextBox 51"/>
          <p:cNvSpPr txBox="1"/>
          <p:nvPr/>
        </p:nvSpPr>
        <p:spPr>
          <a:xfrm>
            <a:off x="729615" y="5125402"/>
            <a:ext cx="2595991" cy="213360"/>
          </a:xfrm>
          <a:prstGeom prst="rect">
            <a:avLst/>
          </a:prstGeom>
          <a:noFill/>
          <a:ln>
            <a:noFill/>
          </a:ln>
        </p:spPr>
        <p:txBody>
          <a:bodyPr wrap="none" lIns="0" tIns="0" rIns="0" bIns="0" anchor="t" anchorCtr="0">
            <a:spAutoFit/>
          </a:bodyPr>
          <a:lstStyle/>
          <a:p>
            <a:pPr algn="l"/>
            <a:r>
              <a:rPr lang="zh-CN" sz="1050" dirty="0">
                <a:solidFill>
                  <a:srgbClr val="1D1D1F"/>
                </a:solidFill>
                <a:latin typeface="Arial"/>
                <a:ea typeface="Microsoft YaHei"/>
                <a:cs typeface="Arial"/>
              </a:rPr>
              <a:t>Accuracy: </a:t>
            </a:r>
            <a:r>
              <a:rPr lang="zh-CN" sz="1050" b="1" dirty="0">
                <a:solidFill>
                  <a:srgbClr val="1565C0"/>
                </a:solidFill>
                <a:latin typeface="Arial"/>
                <a:ea typeface="Microsoft YaHei"/>
                <a:cs typeface="Arial"/>
              </a:rPr>
              <a:t>95.72%</a:t>
            </a:r>
            <a:r>
              <a:rPr lang="zh-CN" sz="1050" dirty="0">
                <a:solidFill>
                  <a:srgbClr val="1D1D1F"/>
                </a:solidFill>
                <a:latin typeface="Arial"/>
                <a:ea typeface="Microsoft YaHei"/>
                <a:cs typeface="Arial"/>
              </a:rPr>
              <a:t> | Macro F1: </a:t>
            </a:r>
            <a:r>
              <a:rPr lang="zh-CN" sz="1050" b="1" dirty="0">
                <a:solidFill>
                  <a:srgbClr val="1565C0"/>
                </a:solidFill>
                <a:latin typeface="Arial"/>
                <a:ea typeface="Microsoft YaHei"/>
                <a:cs typeface="Arial"/>
              </a:rPr>
              <a:t>95.16%</a:t>
            </a:r>
          </a:p>
        </p:txBody>
      </p:sp>
      <p:sp>
        <p:nvSpPr>
          <p:cNvPr id="52" name="TextBox 52"/>
          <p:cNvSpPr txBox="1"/>
          <p:nvPr/>
        </p:nvSpPr>
        <p:spPr>
          <a:xfrm>
            <a:off x="6366510" y="1156335"/>
            <a:ext cx="1038606"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Arial"/>
                <a:ea typeface="Microsoft YaHei"/>
                <a:cs typeface="Arial"/>
              </a:rPr>
              <a:t>调参关键发现</a:t>
            </a:r>
          </a:p>
        </p:txBody>
      </p:sp>
      <p:sp>
        <p:nvSpPr>
          <p:cNvPr id="53" name="Rectangle 53"/>
          <p:cNvSpPr/>
          <p:nvPr/>
        </p:nvSpPr>
        <p:spPr>
          <a:xfrm>
            <a:off x="6381750" y="1476375"/>
            <a:ext cx="5238750" cy="1047750"/>
          </a:xfrm>
          <a:prstGeom prst="rect">
            <a:avLst/>
          </a:prstGeom>
          <a:solidFill>
            <a:srgbClr val="F8FAFC"/>
          </a:solidFill>
          <a:ln>
            <a:noFill/>
          </a:ln>
        </p:spPr>
      </p:sp>
      <p:sp>
        <p:nvSpPr>
          <p:cNvPr id="54" name="Rectangle 54"/>
          <p:cNvSpPr/>
          <p:nvPr/>
        </p:nvSpPr>
        <p:spPr>
          <a:xfrm>
            <a:off x="6381750" y="1476375"/>
            <a:ext cx="38100" cy="1047750"/>
          </a:xfrm>
          <a:prstGeom prst="rect">
            <a:avLst/>
          </a:prstGeom>
          <a:solidFill>
            <a:srgbClr val="1565C0"/>
          </a:solidFill>
          <a:ln>
            <a:noFill/>
          </a:ln>
        </p:spPr>
      </p:sp>
      <p:sp>
        <p:nvSpPr>
          <p:cNvPr id="55" name="TextBox 55"/>
          <p:cNvSpPr txBox="1"/>
          <p:nvPr/>
        </p:nvSpPr>
        <p:spPr>
          <a:xfrm>
            <a:off x="6557962" y="1593056"/>
            <a:ext cx="816173"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学习率策略</a:t>
            </a:r>
          </a:p>
        </p:txBody>
      </p:sp>
      <p:sp>
        <p:nvSpPr>
          <p:cNvPr id="56" name="TextBox 56"/>
          <p:cNvSpPr txBox="1"/>
          <p:nvPr/>
        </p:nvSpPr>
        <p:spPr>
          <a:xfrm>
            <a:off x="6559868" y="1847374"/>
            <a:ext cx="4882514" cy="826770"/>
          </a:xfrm>
          <a:prstGeom prst="rect">
            <a:avLst/>
          </a:prstGeom>
          <a:noFill/>
          <a:ln>
            <a:noFill/>
          </a:ln>
        </p:spPr>
        <p:txBody>
          <a:bodyPr wrap="square" lIns="0" tIns="0" rIns="0" bIns="0" anchor="t" anchorCtr="0"/>
          <a:lstStyle/>
          <a:p>
            <a:pPr algn="l">
              <a:lnSpc>
                <a:spcPts val="1650"/>
              </a:lnSpc>
            </a:pPr>
            <a:r>
              <a:rPr lang="zh-CN" sz="975" dirty="0">
                <a:solidFill>
                  <a:srgbClr val="6B7280"/>
                </a:solidFill>
                <a:latin typeface="Arial"/>
                <a:ea typeface="Microsoft YaHei"/>
                <a:cs typeface="Arial"/>
              </a:rPr>
              <a:t>初期采用分层学习率 (BERT: 2e-6 | 分类头: 2e-5)，但BERT主体学习率过低，模型表示能力未充分利用。最终采用 </a:t>
            </a:r>
            <a:r>
              <a:rPr lang="zh-CN" sz="975" b="1" dirty="0">
                <a:solidFill>
                  <a:srgbClr val="1565C0"/>
                </a:solidFill>
                <a:latin typeface="Arial"/>
                <a:ea typeface="Microsoft YaHei"/>
                <a:cs typeface="Arial"/>
              </a:rPr>
              <a:t>统一学习率 2e-5</a:t>
            </a:r>
            <a:r>
              <a:rPr lang="zh-CN" sz="975" dirty="0">
                <a:solidFill>
                  <a:srgbClr val="6B7280"/>
                </a:solidFill>
                <a:latin typeface="Arial"/>
                <a:ea typeface="Microsoft YaHei"/>
                <a:cs typeface="Arial"/>
              </a:rPr>
              <a:t>，模型参数充分更新，测试集表现显著提升。</a:t>
            </a:r>
          </a:p>
        </p:txBody>
      </p:sp>
      <p:sp>
        <p:nvSpPr>
          <p:cNvPr id="57" name="Rectangle 57"/>
          <p:cNvSpPr/>
          <p:nvPr/>
        </p:nvSpPr>
        <p:spPr>
          <a:xfrm>
            <a:off x="6381750" y="2667000"/>
            <a:ext cx="5238750" cy="1047750"/>
          </a:xfrm>
          <a:prstGeom prst="rect">
            <a:avLst/>
          </a:prstGeom>
          <a:solidFill>
            <a:srgbClr val="F8FAFC"/>
          </a:solidFill>
          <a:ln>
            <a:noFill/>
          </a:ln>
        </p:spPr>
      </p:sp>
      <p:sp>
        <p:nvSpPr>
          <p:cNvPr id="58" name="Rectangle 58"/>
          <p:cNvSpPr/>
          <p:nvPr/>
        </p:nvSpPr>
        <p:spPr>
          <a:xfrm>
            <a:off x="6381750" y="2667000"/>
            <a:ext cx="38100" cy="1047750"/>
          </a:xfrm>
          <a:prstGeom prst="rect">
            <a:avLst/>
          </a:prstGeom>
          <a:solidFill>
            <a:srgbClr val="FF6F00"/>
          </a:solidFill>
          <a:ln>
            <a:noFill/>
          </a:ln>
        </p:spPr>
      </p:sp>
      <p:sp>
        <p:nvSpPr>
          <p:cNvPr id="59" name="TextBox 59"/>
          <p:cNvSpPr txBox="1"/>
          <p:nvPr/>
        </p:nvSpPr>
        <p:spPr>
          <a:xfrm>
            <a:off x="6557962" y="2783681"/>
            <a:ext cx="658654"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损失函数</a:t>
            </a:r>
          </a:p>
        </p:txBody>
      </p:sp>
      <p:sp>
        <p:nvSpPr>
          <p:cNvPr id="60" name="TextBox 60"/>
          <p:cNvSpPr txBox="1"/>
          <p:nvPr/>
        </p:nvSpPr>
        <p:spPr>
          <a:xfrm>
            <a:off x="6559868" y="3037999"/>
            <a:ext cx="4832032" cy="826770"/>
          </a:xfrm>
          <a:prstGeom prst="rect">
            <a:avLst/>
          </a:prstGeom>
          <a:noFill/>
          <a:ln>
            <a:noFill/>
          </a:ln>
        </p:spPr>
        <p:txBody>
          <a:bodyPr wrap="square" lIns="0" tIns="0" rIns="0" bIns="0" anchor="t" anchorCtr="0"/>
          <a:lstStyle/>
          <a:p>
            <a:pPr algn="l">
              <a:lnSpc>
                <a:spcPts val="1650"/>
              </a:lnSpc>
            </a:pPr>
            <a:r>
              <a:rPr lang="zh-CN" sz="975" dirty="0">
                <a:solidFill>
                  <a:srgbClr val="6B7280"/>
                </a:solidFill>
                <a:latin typeface="Arial"/>
                <a:ea typeface="Microsoft YaHei"/>
                <a:cs typeface="Arial"/>
              </a:rPr>
              <a:t>初期同时叠加 Focal Loss + Class Weight + Label Smoothing + WeightedRandomSampler 四种策略，结果准确率不升反降。最终回归最基础的 </a:t>
            </a:r>
            <a:r>
              <a:rPr lang="zh-CN" sz="975" b="1" dirty="0">
                <a:solidFill>
                  <a:srgbClr val="FF6F00"/>
                </a:solidFill>
                <a:latin typeface="Arial"/>
                <a:ea typeface="Microsoft YaHei"/>
                <a:cs typeface="Arial"/>
              </a:rPr>
              <a:t>CrossEntropyLoss</a:t>
            </a:r>
            <a:r>
              <a:rPr lang="zh-CN" sz="975" dirty="0">
                <a:solidFill>
                  <a:srgbClr val="6B7280"/>
                </a:solidFill>
                <a:latin typeface="Arial"/>
                <a:ea typeface="Microsoft YaHei"/>
                <a:cs typeface="Arial"/>
              </a:rPr>
              <a:t>，不使用权重的效果最好 — 做减法比做加法更重要。</a:t>
            </a:r>
          </a:p>
        </p:txBody>
      </p:sp>
      <p:sp>
        <p:nvSpPr>
          <p:cNvPr id="61" name="Rectangle 61"/>
          <p:cNvSpPr/>
          <p:nvPr/>
        </p:nvSpPr>
        <p:spPr>
          <a:xfrm>
            <a:off x="6381750" y="3857625"/>
            <a:ext cx="5238750" cy="714375"/>
          </a:xfrm>
          <a:prstGeom prst="rect">
            <a:avLst/>
          </a:prstGeom>
          <a:solidFill>
            <a:srgbClr val="F8FAFC"/>
          </a:solidFill>
          <a:ln>
            <a:noFill/>
          </a:ln>
        </p:spPr>
      </p:sp>
      <p:sp>
        <p:nvSpPr>
          <p:cNvPr id="62" name="Rectangle 62"/>
          <p:cNvSpPr/>
          <p:nvPr/>
        </p:nvSpPr>
        <p:spPr>
          <a:xfrm>
            <a:off x="6381750" y="3857625"/>
            <a:ext cx="38100" cy="714375"/>
          </a:xfrm>
          <a:prstGeom prst="rect">
            <a:avLst/>
          </a:prstGeom>
          <a:solidFill>
            <a:srgbClr val="1565C0"/>
          </a:solidFill>
          <a:ln>
            <a:noFill/>
          </a:ln>
        </p:spPr>
      </p:sp>
      <p:sp>
        <p:nvSpPr>
          <p:cNvPr id="63" name="TextBox 63"/>
          <p:cNvSpPr txBox="1"/>
          <p:nvPr/>
        </p:nvSpPr>
        <p:spPr>
          <a:xfrm>
            <a:off x="6557962" y="3974306"/>
            <a:ext cx="997321"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Dropout 比例</a:t>
            </a:r>
          </a:p>
        </p:txBody>
      </p:sp>
      <p:sp>
        <p:nvSpPr>
          <p:cNvPr id="64" name="TextBox 64"/>
          <p:cNvSpPr txBox="1"/>
          <p:nvPr/>
        </p:nvSpPr>
        <p:spPr>
          <a:xfrm>
            <a:off x="6559868" y="4175172"/>
            <a:ext cx="4752523" cy="301578"/>
          </a:xfrm>
          <a:prstGeom prst="rect">
            <a:avLst/>
          </a:prstGeom>
          <a:noFill/>
          <a:ln>
            <a:noFill/>
          </a:ln>
        </p:spPr>
        <p:txBody>
          <a:bodyPr wrap="square" lIns="0" tIns="0" rIns="0" bIns="0" anchor="t" anchorCtr="0">
            <a:spAutoFit/>
          </a:bodyPr>
          <a:lstStyle/>
          <a:p>
            <a:pPr algn="l"/>
            <a:r>
              <a:rPr lang="zh-CN" sz="975" dirty="0">
                <a:solidFill>
                  <a:srgbClr val="6B7280"/>
                </a:solidFill>
                <a:latin typeface="Arial"/>
                <a:ea typeface="Microsoft YaHei"/>
                <a:cs typeface="Arial"/>
              </a:rPr>
              <a:t>75万条训练数据下，数据充足，较高的Dropout会损失有效信息。</a:t>
            </a:r>
            <a:r>
              <a:rPr lang="zh-CN" sz="975" b="1" dirty="0">
                <a:solidFill>
                  <a:srgbClr val="1565C0"/>
                </a:solidFill>
                <a:latin typeface="Arial"/>
                <a:ea typeface="Microsoft YaHei"/>
                <a:cs typeface="Arial"/>
              </a:rPr>
              <a:t>Dropout=0.1</a:t>
            </a:r>
            <a:r>
              <a:rPr lang="zh-CN" sz="975" dirty="0">
                <a:solidFill>
                  <a:srgbClr val="6B7280"/>
                </a:solidFill>
                <a:latin typeface="Arial"/>
                <a:ea typeface="Microsoft YaHei"/>
                <a:cs typeface="Arial"/>
              </a:rPr>
              <a:t> 既起到正则化作用，又保留了有效特征。</a:t>
            </a:r>
          </a:p>
        </p:txBody>
      </p:sp>
      <p:sp>
        <p:nvSpPr>
          <p:cNvPr id="65" name="Rectangle 65"/>
          <p:cNvSpPr/>
          <p:nvPr/>
        </p:nvSpPr>
        <p:spPr>
          <a:xfrm>
            <a:off x="6381750" y="4714875"/>
            <a:ext cx="5238750" cy="714375"/>
          </a:xfrm>
          <a:prstGeom prst="rect">
            <a:avLst/>
          </a:prstGeom>
          <a:solidFill>
            <a:srgbClr val="F8FAFC"/>
          </a:solidFill>
          <a:ln>
            <a:noFill/>
          </a:ln>
        </p:spPr>
      </p:sp>
      <p:sp>
        <p:nvSpPr>
          <p:cNvPr id="66" name="Rectangle 66"/>
          <p:cNvSpPr/>
          <p:nvPr/>
        </p:nvSpPr>
        <p:spPr>
          <a:xfrm>
            <a:off x="6381750" y="4714875"/>
            <a:ext cx="38100" cy="714375"/>
          </a:xfrm>
          <a:prstGeom prst="rect">
            <a:avLst/>
          </a:prstGeom>
          <a:solidFill>
            <a:srgbClr val="1565C0"/>
          </a:solidFill>
          <a:ln>
            <a:noFill/>
          </a:ln>
        </p:spPr>
      </p:sp>
      <p:sp>
        <p:nvSpPr>
          <p:cNvPr id="67" name="TextBox 67"/>
          <p:cNvSpPr txBox="1"/>
          <p:nvPr/>
        </p:nvSpPr>
        <p:spPr>
          <a:xfrm>
            <a:off x="6557962" y="4831556"/>
            <a:ext cx="918561"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Pooling 策略</a:t>
            </a:r>
          </a:p>
        </p:txBody>
      </p:sp>
      <p:sp>
        <p:nvSpPr>
          <p:cNvPr id="68" name="TextBox 68"/>
          <p:cNvSpPr txBox="1"/>
          <p:nvPr/>
        </p:nvSpPr>
        <p:spPr>
          <a:xfrm>
            <a:off x="6559868" y="5033918"/>
            <a:ext cx="4100465" cy="300082"/>
          </a:xfrm>
          <a:prstGeom prst="rect">
            <a:avLst/>
          </a:prstGeom>
          <a:noFill/>
          <a:ln>
            <a:noFill/>
          </a:ln>
        </p:spPr>
        <p:txBody>
          <a:bodyPr wrap="square" lIns="0" tIns="0" rIns="0" bIns="0" anchor="t" anchorCtr="0">
            <a:spAutoFit/>
          </a:bodyPr>
          <a:lstStyle/>
          <a:p>
            <a:pPr algn="l"/>
            <a:r>
              <a:rPr lang="zh-CN" sz="975" dirty="0">
                <a:solidFill>
                  <a:srgbClr val="6B7280"/>
                </a:solidFill>
                <a:latin typeface="Arial"/>
                <a:ea typeface="Microsoft YaHei"/>
                <a:cs typeface="Arial"/>
              </a:rPr>
              <a:t>使用 </a:t>
            </a:r>
            <a:r>
              <a:rPr lang="zh-CN" sz="975" b="1" dirty="0">
                <a:solidFill>
                  <a:srgbClr val="1565C0"/>
                </a:solidFill>
                <a:latin typeface="Arial"/>
                <a:ea typeface="Microsoft YaHei"/>
                <a:cs typeface="Arial"/>
              </a:rPr>
              <a:t>last_hidden_state[:, 0]</a:t>
            </a:r>
            <a:r>
              <a:rPr lang="zh-CN" sz="975" dirty="0">
                <a:solidFill>
                  <a:srgbClr val="6B7280"/>
                </a:solidFill>
                <a:latin typeface="Arial"/>
                <a:ea typeface="Microsoft YaHei"/>
                <a:cs typeface="Arial"/>
              </a:rPr>
              <a:t> 而非 pooler_output， 保留更丰富的原始上下文信息，在中文分类任务中更有效。</a:t>
            </a:r>
          </a:p>
        </p:txBody>
      </p:sp>
      <p:sp>
        <p:nvSpPr>
          <p:cNvPr id="69" name="Rectangle 69"/>
          <p:cNvSpPr/>
          <p:nvPr/>
        </p:nvSpPr>
        <p:spPr>
          <a:xfrm>
            <a:off x="571500" y="6619875"/>
            <a:ext cx="11049000" cy="9525"/>
          </a:xfrm>
          <a:prstGeom prst="rect">
            <a:avLst/>
          </a:prstGeom>
          <a:solidFill>
            <a:srgbClr val="E5E7EB"/>
          </a:solidFill>
          <a:ln>
            <a:noFill/>
          </a:ln>
        </p:spPr>
      </p:sp>
      <p:sp>
        <p:nvSpPr>
          <p:cNvPr id="70" name="TextBox 70"/>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06</a:t>
            </a:r>
          </a:p>
        </p:txBody>
      </p:sp>
      <p:sp>
        <p:nvSpPr>
          <p:cNvPr id="71" name="Rectangle 71"/>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1947386"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训练曲线分析</a:t>
            </a:r>
          </a:p>
        </p:txBody>
      </p:sp>
      <p:sp>
        <p:nvSpPr>
          <p:cNvPr id="5" name="Rectangle 5"/>
          <p:cNvSpPr/>
          <p:nvPr/>
        </p:nvSpPr>
        <p:spPr>
          <a:xfrm>
            <a:off x="571500" y="952500"/>
            <a:ext cx="11049000" cy="9525"/>
          </a:xfrm>
          <a:prstGeom prst="rect">
            <a:avLst/>
          </a:prstGeom>
          <a:solidFill>
            <a:srgbClr val="E5E7EB"/>
          </a:solidFill>
          <a:ln>
            <a:noFill/>
          </a:ln>
        </p:spPr>
      </p:sp>
      <p:pic>
        <p:nvPicPr>
          <p:cNvPr id="6" name="Image 6"/>
          <p:cNvPicPr>
            <a:picLocks noChangeAspect="1"/>
          </p:cNvPicPr>
          <p:nvPr/>
        </p:nvPicPr>
        <p:blipFill>
          <a:blip r:embed="rId3"/>
          <a:stretch>
            <a:fillRect/>
          </a:stretch>
        </p:blipFill>
        <p:spPr>
          <a:xfrm>
            <a:off x="574836" y="1095375"/>
            <a:ext cx="11042327" cy="4095750"/>
          </a:xfrm>
          <a:prstGeom prst="rect">
            <a:avLst/>
          </a:prstGeom>
        </p:spPr>
      </p:pic>
      <p:sp>
        <p:nvSpPr>
          <p:cNvPr id="7" name="Rectangle 7"/>
          <p:cNvSpPr/>
          <p:nvPr/>
        </p:nvSpPr>
        <p:spPr>
          <a:xfrm>
            <a:off x="571500" y="4476750"/>
            <a:ext cx="11049000" cy="762000"/>
          </a:xfrm>
          <a:prstGeom prst="rect">
            <a:avLst/>
          </a:prstGeom>
          <a:gradFill>
            <a:gsLst>
              <a:gs pos="0">
                <a:srgbClr val="FFFFFF">
                  <a:alpha val="0"/>
                </a:srgbClr>
              </a:gs>
              <a:gs pos="100000">
                <a:srgbClr val="FFFFFF">
                  <a:alpha val="92000"/>
                </a:srgbClr>
              </a:gs>
            </a:gsLst>
            <a:lin ang="5400000" scaled="1"/>
          </a:gradFill>
          <a:ln>
            <a:noFill/>
          </a:ln>
        </p:spPr>
      </p:sp>
      <p:grpSp>
        <p:nvGrpSpPr>
          <p:cNvPr id="25" name="Group 25"/>
          <p:cNvGrpSpPr/>
          <p:nvPr/>
        </p:nvGrpSpPr>
        <p:grpSpPr>
          <a:xfrm>
            <a:off x="571500" y="5191125"/>
            <a:ext cx="11001375" cy="1238250"/>
            <a:chOff x="571500" y="5191125"/>
            <a:chExt cx="11001375" cy="1238250"/>
          </a:xfrm>
        </p:grpSpPr>
        <p:sp>
          <p:nvSpPr>
            <p:cNvPr id="8" name="Rectangle 8"/>
            <p:cNvSpPr/>
            <p:nvPr/>
          </p:nvSpPr>
          <p:spPr>
            <a:xfrm>
              <a:off x="571500" y="5191125"/>
              <a:ext cx="2571750" cy="1238250"/>
            </a:xfrm>
            <a:prstGeom prst="rect">
              <a:avLst/>
            </a:prstGeom>
            <a:solidFill>
              <a:srgbClr val="FFFFFF"/>
            </a:solidFill>
            <a:ln>
              <a:noFill/>
            </a:ln>
          </p:spPr>
        </p:sp>
        <p:sp>
          <p:nvSpPr>
            <p:cNvPr id="9" name="Rectangle 9"/>
            <p:cNvSpPr/>
            <p:nvPr/>
          </p:nvSpPr>
          <p:spPr>
            <a:xfrm>
              <a:off x="571500" y="5191125"/>
              <a:ext cx="57150" cy="28575"/>
            </a:xfrm>
            <a:prstGeom prst="rect">
              <a:avLst/>
            </a:prstGeom>
            <a:solidFill>
              <a:srgbClr val="1565C0"/>
            </a:solidFill>
            <a:ln>
              <a:noFill/>
            </a:ln>
          </p:spPr>
        </p:sp>
        <p:sp>
          <p:nvSpPr>
            <p:cNvPr id="10" name="Rectangle 10"/>
            <p:cNvSpPr/>
            <p:nvPr/>
          </p:nvSpPr>
          <p:spPr>
            <a:xfrm>
              <a:off x="571500" y="5219700"/>
              <a:ext cx="2571750" cy="38100"/>
            </a:xfrm>
            <a:prstGeom prst="rect">
              <a:avLst/>
            </a:prstGeom>
            <a:solidFill>
              <a:srgbClr val="1565C0"/>
            </a:solidFill>
            <a:ln>
              <a:noFill/>
            </a:ln>
          </p:spPr>
        </p:sp>
        <p:sp>
          <p:nvSpPr>
            <p:cNvPr id="11" name="TextBox 11"/>
            <p:cNvSpPr txBox="1"/>
            <p:nvPr/>
          </p:nvSpPr>
          <p:spPr>
            <a:xfrm>
              <a:off x="747712" y="5355431"/>
              <a:ext cx="1272981"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Epoch 1 快速收敛</a:t>
              </a:r>
            </a:p>
          </p:txBody>
        </p:sp>
        <p:sp>
          <p:nvSpPr>
            <p:cNvPr id="12" name="TextBox 12"/>
            <p:cNvSpPr txBox="1"/>
            <p:nvPr/>
          </p:nvSpPr>
          <p:spPr>
            <a:xfrm>
              <a:off x="749618" y="5590699"/>
              <a:ext cx="1584960" cy="388620"/>
            </a:xfrm>
            <a:prstGeom prst="rect">
              <a:avLst/>
            </a:prstGeom>
            <a:noFill/>
            <a:ln>
              <a:noFill/>
            </a:ln>
          </p:spPr>
          <p:txBody>
            <a:bodyPr wrap="square" lIns="0" tIns="0" rIns="0" bIns="0" anchor="t" anchorCtr="0"/>
            <a:lstStyle/>
            <a:p>
              <a:pPr algn="l">
                <a:lnSpc>
                  <a:spcPts val="1500"/>
                </a:lnSpc>
              </a:pPr>
              <a:r>
                <a:rPr lang="zh-CN" sz="975" dirty="0">
                  <a:solidFill>
                    <a:srgbClr val="6B7280"/>
                  </a:solidFill>
                  <a:latin typeface="Arial"/>
                  <a:ea typeface="Microsoft YaHei"/>
                  <a:cs typeface="Arial"/>
                </a:rPr>
                <a:t>Loss从2.75迅速下降至0.42模型从随机初始化快速收敛</a:t>
              </a:r>
            </a:p>
          </p:txBody>
        </p:sp>
        <p:sp>
          <p:nvSpPr>
            <p:cNvPr id="13" name="Rectangle 13"/>
            <p:cNvSpPr/>
            <p:nvPr/>
          </p:nvSpPr>
          <p:spPr>
            <a:xfrm>
              <a:off x="3381375" y="5191125"/>
              <a:ext cx="2571750" cy="1238250"/>
            </a:xfrm>
            <a:prstGeom prst="rect">
              <a:avLst/>
            </a:prstGeom>
            <a:solidFill>
              <a:srgbClr val="FFFFFF"/>
            </a:solidFill>
            <a:ln>
              <a:noFill/>
            </a:ln>
          </p:spPr>
        </p:sp>
        <p:sp>
          <p:nvSpPr>
            <p:cNvPr id="14" name="Rectangle 14"/>
            <p:cNvSpPr/>
            <p:nvPr/>
          </p:nvSpPr>
          <p:spPr>
            <a:xfrm>
              <a:off x="3381375" y="5191125"/>
              <a:ext cx="2571750" cy="38100"/>
            </a:xfrm>
            <a:prstGeom prst="rect">
              <a:avLst/>
            </a:prstGeom>
            <a:solidFill>
              <a:srgbClr val="1565C0"/>
            </a:solidFill>
            <a:ln>
              <a:noFill/>
            </a:ln>
          </p:spPr>
        </p:sp>
        <p:sp>
          <p:nvSpPr>
            <p:cNvPr id="15" name="TextBox 15"/>
            <p:cNvSpPr txBox="1"/>
            <p:nvPr/>
          </p:nvSpPr>
          <p:spPr>
            <a:xfrm>
              <a:off x="3557588" y="5355431"/>
              <a:ext cx="1272981"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Epoch 2 精细调优</a:t>
              </a:r>
            </a:p>
          </p:txBody>
        </p:sp>
        <p:sp>
          <p:nvSpPr>
            <p:cNvPr id="16" name="TextBox 16"/>
            <p:cNvSpPr txBox="1"/>
            <p:nvPr/>
          </p:nvSpPr>
          <p:spPr>
            <a:xfrm>
              <a:off x="3559492" y="5590699"/>
              <a:ext cx="1640681" cy="388620"/>
            </a:xfrm>
            <a:prstGeom prst="rect">
              <a:avLst/>
            </a:prstGeom>
            <a:noFill/>
            <a:ln>
              <a:noFill/>
            </a:ln>
          </p:spPr>
          <p:txBody>
            <a:bodyPr wrap="square" lIns="0" tIns="0" rIns="0" bIns="0" anchor="t" anchorCtr="0"/>
            <a:lstStyle/>
            <a:p>
              <a:pPr algn="l">
                <a:lnSpc>
                  <a:spcPts val="1500"/>
                </a:lnSpc>
              </a:pPr>
              <a:r>
                <a:rPr lang="zh-CN" sz="975" dirty="0">
                  <a:solidFill>
                    <a:srgbClr val="6B7280"/>
                  </a:solidFill>
                  <a:latin typeface="Arial"/>
                  <a:ea typeface="Microsoft YaHei"/>
                  <a:cs typeface="Arial"/>
                </a:rPr>
                <a:t>起始Loss仅约0.16全程Loss在0.1~0.3之间波动</a:t>
              </a:r>
            </a:p>
          </p:txBody>
        </p:sp>
        <p:sp>
          <p:nvSpPr>
            <p:cNvPr id="17" name="Rectangle 17"/>
            <p:cNvSpPr/>
            <p:nvPr/>
          </p:nvSpPr>
          <p:spPr>
            <a:xfrm>
              <a:off x="6191250" y="5191125"/>
              <a:ext cx="2571750" cy="1238250"/>
            </a:xfrm>
            <a:prstGeom prst="rect">
              <a:avLst/>
            </a:prstGeom>
            <a:solidFill>
              <a:srgbClr val="FFFFFF"/>
            </a:solidFill>
            <a:ln>
              <a:noFill/>
            </a:ln>
          </p:spPr>
        </p:sp>
        <p:sp>
          <p:nvSpPr>
            <p:cNvPr id="18" name="Rectangle 18"/>
            <p:cNvSpPr/>
            <p:nvPr/>
          </p:nvSpPr>
          <p:spPr>
            <a:xfrm>
              <a:off x="6191250" y="5191125"/>
              <a:ext cx="2571750" cy="38100"/>
            </a:xfrm>
            <a:prstGeom prst="rect">
              <a:avLst/>
            </a:prstGeom>
            <a:solidFill>
              <a:srgbClr val="FF6F00"/>
            </a:solidFill>
            <a:ln>
              <a:noFill/>
            </a:ln>
          </p:spPr>
        </p:sp>
        <p:sp>
          <p:nvSpPr>
            <p:cNvPr id="19" name="TextBox 19"/>
            <p:cNvSpPr txBox="1"/>
            <p:nvPr/>
          </p:nvSpPr>
          <p:spPr>
            <a:xfrm>
              <a:off x="6367462" y="5355431"/>
              <a:ext cx="1272981"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Epoch 3 最佳模型</a:t>
              </a:r>
            </a:p>
          </p:txBody>
        </p:sp>
        <p:sp>
          <p:nvSpPr>
            <p:cNvPr id="20" name="TextBox 20"/>
            <p:cNvSpPr txBox="1"/>
            <p:nvPr/>
          </p:nvSpPr>
          <p:spPr>
            <a:xfrm>
              <a:off x="6369368" y="5590699"/>
              <a:ext cx="1324928" cy="388620"/>
            </a:xfrm>
            <a:prstGeom prst="rect">
              <a:avLst/>
            </a:prstGeom>
            <a:noFill/>
            <a:ln>
              <a:noFill/>
            </a:ln>
          </p:spPr>
          <p:txBody>
            <a:bodyPr wrap="square" lIns="0" tIns="0" rIns="0" bIns="0" anchor="t" anchorCtr="0"/>
            <a:lstStyle/>
            <a:p>
              <a:pPr algn="l">
                <a:lnSpc>
                  <a:spcPts val="1500"/>
                </a:lnSpc>
              </a:pPr>
              <a:r>
                <a:rPr lang="zh-CN" sz="975" dirty="0">
                  <a:solidFill>
                    <a:srgbClr val="6B7280"/>
                  </a:solidFill>
                  <a:latin typeface="Arial"/>
                  <a:ea typeface="Microsoft YaHei"/>
                  <a:cs typeface="Arial"/>
                </a:rPr>
                <a:t>Val Loss最低值 0.1339</a:t>
              </a:r>
              <a:r>
                <a:rPr lang="zh-CN" sz="975" b="1" dirty="0">
                  <a:solidFill>
                    <a:srgbClr val="FF6F00"/>
                  </a:solidFill>
                  <a:latin typeface="Arial"/>
                  <a:ea typeface="Microsoft YaHei"/>
                  <a:cs typeface="Arial"/>
                </a:rPr>
                <a:t>确定为最佳模型 → 早停</a:t>
              </a:r>
            </a:p>
          </p:txBody>
        </p:sp>
        <p:sp>
          <p:nvSpPr>
            <p:cNvPr id="21" name="Rectangle 21"/>
            <p:cNvSpPr/>
            <p:nvPr/>
          </p:nvSpPr>
          <p:spPr>
            <a:xfrm>
              <a:off x="9001125" y="5191125"/>
              <a:ext cx="2571750" cy="1238250"/>
            </a:xfrm>
            <a:prstGeom prst="rect">
              <a:avLst/>
            </a:prstGeom>
            <a:solidFill>
              <a:srgbClr val="FFFFFF"/>
            </a:solidFill>
            <a:ln>
              <a:noFill/>
            </a:ln>
          </p:spPr>
        </p:sp>
        <p:sp>
          <p:nvSpPr>
            <p:cNvPr id="22" name="Rectangle 22"/>
            <p:cNvSpPr/>
            <p:nvPr/>
          </p:nvSpPr>
          <p:spPr>
            <a:xfrm>
              <a:off x="9001125" y="5191125"/>
              <a:ext cx="2571750" cy="38100"/>
            </a:xfrm>
            <a:prstGeom prst="rect">
              <a:avLst/>
            </a:prstGeom>
            <a:solidFill>
              <a:srgbClr val="C62828"/>
            </a:solidFill>
            <a:ln>
              <a:noFill/>
            </a:ln>
          </p:spPr>
        </p:sp>
        <p:sp>
          <p:nvSpPr>
            <p:cNvPr id="23" name="TextBox 23"/>
            <p:cNvSpPr txBox="1"/>
            <p:nvPr/>
          </p:nvSpPr>
          <p:spPr>
            <a:xfrm>
              <a:off x="9177338" y="5355431"/>
              <a:ext cx="1288732"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Epoch 4~5 过拟合</a:t>
              </a:r>
            </a:p>
          </p:txBody>
        </p:sp>
        <p:sp>
          <p:nvSpPr>
            <p:cNvPr id="24" name="TextBox 24"/>
            <p:cNvSpPr txBox="1"/>
            <p:nvPr/>
          </p:nvSpPr>
          <p:spPr>
            <a:xfrm>
              <a:off x="9179242" y="5590699"/>
              <a:ext cx="1430179" cy="388620"/>
            </a:xfrm>
            <a:prstGeom prst="rect">
              <a:avLst/>
            </a:prstGeom>
            <a:noFill/>
            <a:ln>
              <a:noFill/>
            </a:ln>
          </p:spPr>
          <p:txBody>
            <a:bodyPr wrap="square" lIns="0" tIns="0" rIns="0" bIns="0" anchor="t" anchorCtr="0"/>
            <a:lstStyle/>
            <a:p>
              <a:pPr algn="l">
                <a:lnSpc>
                  <a:spcPts val="1500"/>
                </a:lnSpc>
              </a:pPr>
              <a:r>
                <a:rPr lang="zh-CN" sz="975" dirty="0">
                  <a:solidFill>
                    <a:srgbClr val="6B7280"/>
                  </a:solidFill>
                  <a:latin typeface="Arial"/>
                  <a:ea typeface="Microsoft YaHei"/>
                  <a:cs typeface="Arial"/>
                </a:rPr>
                <a:t>训练Loss继续下降验证Loss回升 → 触发早停</a:t>
              </a:r>
            </a:p>
          </p:txBody>
        </p:sp>
      </p:grpSp>
      <p:sp>
        <p:nvSpPr>
          <p:cNvPr id="26" name="Rectangle 26"/>
          <p:cNvSpPr/>
          <p:nvPr/>
        </p:nvSpPr>
        <p:spPr>
          <a:xfrm>
            <a:off x="571500" y="6619875"/>
            <a:ext cx="11049000" cy="9525"/>
          </a:xfrm>
          <a:prstGeom prst="rect">
            <a:avLst/>
          </a:prstGeom>
          <a:solidFill>
            <a:srgbClr val="E5E7EB"/>
          </a:solidFill>
          <a:ln>
            <a:noFill/>
          </a:ln>
        </p:spPr>
      </p:sp>
      <p:sp>
        <p:nvSpPr>
          <p:cNvPr id="27" name="TextBox 27"/>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07</a:t>
            </a:r>
          </a:p>
        </p:txBody>
      </p:sp>
      <p:sp>
        <p:nvSpPr>
          <p:cNvPr id="28" name="Rectangle 28"/>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2892504"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混淆矩阵与类别性能</a:t>
            </a:r>
          </a:p>
        </p:txBody>
      </p:sp>
      <p:sp>
        <p:nvSpPr>
          <p:cNvPr id="5" name="Rectangle 5"/>
          <p:cNvSpPr/>
          <p:nvPr/>
        </p:nvSpPr>
        <p:spPr>
          <a:xfrm>
            <a:off x="571500" y="952500"/>
            <a:ext cx="11049000" cy="9525"/>
          </a:xfrm>
          <a:prstGeom prst="rect">
            <a:avLst/>
          </a:prstGeom>
          <a:solidFill>
            <a:srgbClr val="E5E7EB"/>
          </a:solidFill>
          <a:ln>
            <a:noFill/>
          </a:ln>
        </p:spPr>
      </p:sp>
      <p:pic>
        <p:nvPicPr>
          <p:cNvPr id="6" name="Image 6"/>
          <p:cNvPicPr>
            <a:picLocks noChangeAspect="1"/>
          </p:cNvPicPr>
          <p:nvPr/>
        </p:nvPicPr>
        <p:blipFill>
          <a:blip r:embed="rId3"/>
          <a:stretch>
            <a:fillRect/>
          </a:stretch>
        </p:blipFill>
        <p:spPr>
          <a:xfrm>
            <a:off x="571500" y="1310791"/>
            <a:ext cx="4572000" cy="4141168"/>
          </a:xfrm>
          <a:prstGeom prst="rect">
            <a:avLst/>
          </a:prstGeom>
        </p:spPr>
      </p:pic>
      <p:sp>
        <p:nvSpPr>
          <p:cNvPr id="7" name="TextBox 7"/>
          <p:cNvSpPr txBox="1"/>
          <p:nvPr/>
        </p:nvSpPr>
        <p:spPr>
          <a:xfrm>
            <a:off x="5412105" y="1140142"/>
            <a:ext cx="1433065" cy="274320"/>
          </a:xfrm>
          <a:prstGeom prst="rect">
            <a:avLst/>
          </a:prstGeom>
          <a:noFill/>
          <a:ln>
            <a:noFill/>
          </a:ln>
        </p:spPr>
        <p:txBody>
          <a:bodyPr wrap="none" lIns="0" tIns="0" rIns="0" bIns="0" anchor="t" anchorCtr="0">
            <a:spAutoFit/>
          </a:bodyPr>
          <a:lstStyle/>
          <a:p>
            <a:pPr algn="l"/>
            <a:r>
              <a:rPr lang="zh-CN" sz="1350" b="1" dirty="0">
                <a:solidFill>
                  <a:srgbClr val="1D1D1F"/>
                </a:solidFill>
                <a:latin typeface="Arial"/>
                <a:ea typeface="Microsoft YaHei"/>
                <a:cs typeface="Arial"/>
              </a:rPr>
              <a:t>各类别F1-Score</a:t>
            </a:r>
          </a:p>
        </p:txBody>
      </p:sp>
      <p:sp>
        <p:nvSpPr>
          <p:cNvPr id="8" name="Rectangle 8"/>
          <p:cNvSpPr/>
          <p:nvPr/>
        </p:nvSpPr>
        <p:spPr>
          <a:xfrm>
            <a:off x="5429250" y="1476375"/>
            <a:ext cx="3048000" cy="266700"/>
          </a:xfrm>
          <a:prstGeom prst="rect">
            <a:avLst/>
          </a:prstGeom>
          <a:solidFill>
            <a:srgbClr val="E8F5E9"/>
          </a:solidFill>
          <a:ln>
            <a:noFill/>
          </a:ln>
        </p:spPr>
      </p:sp>
      <p:sp>
        <p:nvSpPr>
          <p:cNvPr id="9" name="TextBox 9"/>
          <p:cNvSpPr txBox="1"/>
          <p:nvPr/>
        </p:nvSpPr>
        <p:spPr>
          <a:xfrm>
            <a:off x="5559742" y="1552099"/>
            <a:ext cx="297799"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体育</a:t>
            </a:r>
          </a:p>
        </p:txBody>
      </p:sp>
      <p:sp>
        <p:nvSpPr>
          <p:cNvPr id="10" name="Rectangle 10"/>
          <p:cNvSpPr/>
          <p:nvPr/>
        </p:nvSpPr>
        <p:spPr>
          <a:xfrm>
            <a:off x="6000750" y="1552575"/>
            <a:ext cx="1333500" cy="114300"/>
          </a:xfrm>
          <a:prstGeom prst="rect">
            <a:avLst/>
          </a:prstGeom>
          <a:solidFill>
            <a:srgbClr val="2E7D32"/>
          </a:solidFill>
          <a:ln>
            <a:noFill/>
          </a:ln>
        </p:spPr>
      </p:sp>
      <p:sp>
        <p:nvSpPr>
          <p:cNvPr id="11" name="TextBox 11"/>
          <p:cNvSpPr txBox="1"/>
          <p:nvPr/>
        </p:nvSpPr>
        <p:spPr>
          <a:xfrm>
            <a:off x="7417118" y="1552099"/>
            <a:ext cx="475271"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0.9915</a:t>
            </a:r>
          </a:p>
        </p:txBody>
      </p:sp>
      <p:sp>
        <p:nvSpPr>
          <p:cNvPr id="12" name="Rectangle 12"/>
          <p:cNvSpPr/>
          <p:nvPr/>
        </p:nvSpPr>
        <p:spPr>
          <a:xfrm>
            <a:off x="5429250" y="1790700"/>
            <a:ext cx="3048000" cy="266700"/>
          </a:xfrm>
          <a:prstGeom prst="rect">
            <a:avLst/>
          </a:prstGeom>
          <a:solidFill>
            <a:srgbClr val="E8F5E9"/>
          </a:solidFill>
          <a:ln>
            <a:noFill/>
          </a:ln>
        </p:spPr>
      </p:sp>
      <p:sp>
        <p:nvSpPr>
          <p:cNvPr id="13" name="TextBox 13"/>
          <p:cNvSpPr txBox="1"/>
          <p:nvPr/>
        </p:nvSpPr>
        <p:spPr>
          <a:xfrm>
            <a:off x="5559742" y="1866424"/>
            <a:ext cx="297799"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彩票</a:t>
            </a:r>
          </a:p>
        </p:txBody>
      </p:sp>
      <p:sp>
        <p:nvSpPr>
          <p:cNvPr id="14" name="Rectangle 14"/>
          <p:cNvSpPr/>
          <p:nvPr/>
        </p:nvSpPr>
        <p:spPr>
          <a:xfrm>
            <a:off x="6000750" y="1866900"/>
            <a:ext cx="1295400" cy="114300"/>
          </a:xfrm>
          <a:prstGeom prst="rect">
            <a:avLst/>
          </a:prstGeom>
          <a:solidFill>
            <a:srgbClr val="43A047"/>
          </a:solidFill>
          <a:ln>
            <a:noFill/>
          </a:ln>
        </p:spPr>
      </p:sp>
      <p:sp>
        <p:nvSpPr>
          <p:cNvPr id="15" name="TextBox 15"/>
          <p:cNvSpPr txBox="1"/>
          <p:nvPr/>
        </p:nvSpPr>
        <p:spPr>
          <a:xfrm>
            <a:off x="7417118" y="1866424"/>
            <a:ext cx="475271"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0.9726</a:t>
            </a:r>
          </a:p>
        </p:txBody>
      </p:sp>
      <p:sp>
        <p:nvSpPr>
          <p:cNvPr id="16" name="Rectangle 16"/>
          <p:cNvSpPr/>
          <p:nvPr/>
        </p:nvSpPr>
        <p:spPr>
          <a:xfrm>
            <a:off x="5429250" y="2105025"/>
            <a:ext cx="3048000" cy="266700"/>
          </a:xfrm>
          <a:prstGeom prst="rect">
            <a:avLst/>
          </a:prstGeom>
          <a:solidFill>
            <a:srgbClr val="E8F5E9"/>
          </a:solidFill>
          <a:ln>
            <a:noFill/>
          </a:ln>
        </p:spPr>
      </p:sp>
      <p:sp>
        <p:nvSpPr>
          <p:cNvPr id="17" name="TextBox 17"/>
          <p:cNvSpPr txBox="1"/>
          <p:nvPr/>
        </p:nvSpPr>
        <p:spPr>
          <a:xfrm>
            <a:off x="5559742" y="2180749"/>
            <a:ext cx="297799"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娱乐</a:t>
            </a:r>
          </a:p>
        </p:txBody>
      </p:sp>
      <p:sp>
        <p:nvSpPr>
          <p:cNvPr id="18" name="Rectangle 18"/>
          <p:cNvSpPr/>
          <p:nvPr/>
        </p:nvSpPr>
        <p:spPr>
          <a:xfrm>
            <a:off x="6000750" y="2181225"/>
            <a:ext cx="1285875" cy="114300"/>
          </a:xfrm>
          <a:prstGeom prst="rect">
            <a:avLst/>
          </a:prstGeom>
          <a:solidFill>
            <a:srgbClr val="66BB6A"/>
          </a:solidFill>
          <a:ln>
            <a:noFill/>
          </a:ln>
        </p:spPr>
      </p:sp>
      <p:sp>
        <p:nvSpPr>
          <p:cNvPr id="19" name="TextBox 19"/>
          <p:cNvSpPr txBox="1"/>
          <p:nvPr/>
        </p:nvSpPr>
        <p:spPr>
          <a:xfrm>
            <a:off x="7417118" y="2180749"/>
            <a:ext cx="475271"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0.9705</a:t>
            </a:r>
          </a:p>
        </p:txBody>
      </p:sp>
      <p:sp>
        <p:nvSpPr>
          <p:cNvPr id="20" name="Rectangle 20"/>
          <p:cNvSpPr/>
          <p:nvPr/>
        </p:nvSpPr>
        <p:spPr>
          <a:xfrm>
            <a:off x="5429250" y="2419350"/>
            <a:ext cx="3048000" cy="266700"/>
          </a:xfrm>
          <a:prstGeom prst="rect">
            <a:avLst/>
          </a:prstGeom>
          <a:solidFill>
            <a:srgbClr val="F1F8E9"/>
          </a:solidFill>
          <a:ln>
            <a:noFill/>
          </a:ln>
        </p:spPr>
      </p:sp>
      <p:sp>
        <p:nvSpPr>
          <p:cNvPr id="21" name="TextBox 21"/>
          <p:cNvSpPr txBox="1"/>
          <p:nvPr/>
        </p:nvSpPr>
        <p:spPr>
          <a:xfrm>
            <a:off x="5559742" y="2495074"/>
            <a:ext cx="284798"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教育</a:t>
            </a:r>
          </a:p>
        </p:txBody>
      </p:sp>
      <p:sp>
        <p:nvSpPr>
          <p:cNvPr id="22" name="Rectangle 22"/>
          <p:cNvSpPr/>
          <p:nvPr/>
        </p:nvSpPr>
        <p:spPr>
          <a:xfrm>
            <a:off x="6000750" y="2495550"/>
            <a:ext cx="1276350" cy="114300"/>
          </a:xfrm>
          <a:prstGeom prst="rect">
            <a:avLst/>
          </a:prstGeom>
          <a:solidFill>
            <a:srgbClr val="81C784"/>
          </a:solidFill>
          <a:ln>
            <a:noFill/>
          </a:ln>
        </p:spPr>
      </p:sp>
      <p:sp>
        <p:nvSpPr>
          <p:cNvPr id="23" name="TextBox 23"/>
          <p:cNvSpPr txBox="1"/>
          <p:nvPr/>
        </p:nvSpPr>
        <p:spPr>
          <a:xfrm>
            <a:off x="7417118" y="2495074"/>
            <a:ext cx="453819"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0.9661</a:t>
            </a:r>
          </a:p>
        </p:txBody>
      </p:sp>
      <p:sp>
        <p:nvSpPr>
          <p:cNvPr id="24" name="Rectangle 24"/>
          <p:cNvSpPr/>
          <p:nvPr/>
        </p:nvSpPr>
        <p:spPr>
          <a:xfrm>
            <a:off x="5429250" y="2733675"/>
            <a:ext cx="3048000" cy="266700"/>
          </a:xfrm>
          <a:prstGeom prst="rect">
            <a:avLst/>
          </a:prstGeom>
          <a:solidFill>
            <a:srgbClr val="F1F8E9"/>
          </a:solidFill>
          <a:ln>
            <a:noFill/>
          </a:ln>
        </p:spPr>
      </p:sp>
      <p:sp>
        <p:nvSpPr>
          <p:cNvPr id="25" name="TextBox 25"/>
          <p:cNvSpPr txBox="1"/>
          <p:nvPr/>
        </p:nvSpPr>
        <p:spPr>
          <a:xfrm>
            <a:off x="5559742" y="2809399"/>
            <a:ext cx="284798"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星座</a:t>
            </a:r>
          </a:p>
        </p:txBody>
      </p:sp>
      <p:sp>
        <p:nvSpPr>
          <p:cNvPr id="26" name="Rectangle 26"/>
          <p:cNvSpPr/>
          <p:nvPr/>
        </p:nvSpPr>
        <p:spPr>
          <a:xfrm>
            <a:off x="6000750" y="2809875"/>
            <a:ext cx="1266825" cy="114300"/>
          </a:xfrm>
          <a:prstGeom prst="rect">
            <a:avLst/>
          </a:prstGeom>
          <a:solidFill>
            <a:srgbClr val="A5D6A7"/>
          </a:solidFill>
          <a:ln>
            <a:noFill/>
          </a:ln>
        </p:spPr>
      </p:sp>
      <p:sp>
        <p:nvSpPr>
          <p:cNvPr id="27" name="TextBox 27"/>
          <p:cNvSpPr txBox="1"/>
          <p:nvPr/>
        </p:nvSpPr>
        <p:spPr>
          <a:xfrm>
            <a:off x="7417118" y="2809399"/>
            <a:ext cx="453819"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0.9637</a:t>
            </a:r>
          </a:p>
        </p:txBody>
      </p:sp>
      <p:sp>
        <p:nvSpPr>
          <p:cNvPr id="28" name="Rectangle 28"/>
          <p:cNvSpPr/>
          <p:nvPr/>
        </p:nvSpPr>
        <p:spPr>
          <a:xfrm>
            <a:off x="5429250" y="3095625"/>
            <a:ext cx="3048000" cy="266700"/>
          </a:xfrm>
          <a:prstGeom prst="rect">
            <a:avLst/>
          </a:prstGeom>
          <a:solidFill>
            <a:srgbClr val="FFF8E1"/>
          </a:solidFill>
          <a:ln>
            <a:noFill/>
          </a:ln>
        </p:spPr>
      </p:sp>
      <p:sp>
        <p:nvSpPr>
          <p:cNvPr id="29" name="TextBox 29"/>
          <p:cNvSpPr txBox="1"/>
          <p:nvPr/>
        </p:nvSpPr>
        <p:spPr>
          <a:xfrm>
            <a:off x="5559742" y="3171349"/>
            <a:ext cx="284798"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科技</a:t>
            </a:r>
          </a:p>
        </p:txBody>
      </p:sp>
      <p:sp>
        <p:nvSpPr>
          <p:cNvPr id="30" name="Rectangle 30"/>
          <p:cNvSpPr/>
          <p:nvPr/>
        </p:nvSpPr>
        <p:spPr>
          <a:xfrm>
            <a:off x="6000750" y="3171825"/>
            <a:ext cx="1247775" cy="114300"/>
          </a:xfrm>
          <a:prstGeom prst="rect">
            <a:avLst/>
          </a:prstGeom>
          <a:solidFill>
            <a:srgbClr val="FFB300"/>
          </a:solidFill>
          <a:ln>
            <a:noFill/>
          </a:ln>
        </p:spPr>
      </p:sp>
      <p:sp>
        <p:nvSpPr>
          <p:cNvPr id="31" name="TextBox 31"/>
          <p:cNvSpPr txBox="1"/>
          <p:nvPr/>
        </p:nvSpPr>
        <p:spPr>
          <a:xfrm>
            <a:off x="7417118" y="3171349"/>
            <a:ext cx="453819"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0.9543</a:t>
            </a:r>
          </a:p>
        </p:txBody>
      </p:sp>
      <p:sp>
        <p:nvSpPr>
          <p:cNvPr id="32" name="Rectangle 32"/>
          <p:cNvSpPr/>
          <p:nvPr/>
        </p:nvSpPr>
        <p:spPr>
          <a:xfrm>
            <a:off x="5429250" y="3409950"/>
            <a:ext cx="3048000" cy="266700"/>
          </a:xfrm>
          <a:prstGeom prst="rect">
            <a:avLst/>
          </a:prstGeom>
          <a:solidFill>
            <a:srgbClr val="FFF8E1"/>
          </a:solidFill>
          <a:ln>
            <a:noFill/>
          </a:ln>
        </p:spPr>
      </p:sp>
      <p:sp>
        <p:nvSpPr>
          <p:cNvPr id="33" name="TextBox 33"/>
          <p:cNvSpPr txBox="1"/>
          <p:nvPr/>
        </p:nvSpPr>
        <p:spPr>
          <a:xfrm>
            <a:off x="5559742" y="3485674"/>
            <a:ext cx="284798"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股票</a:t>
            </a:r>
          </a:p>
        </p:txBody>
      </p:sp>
      <p:sp>
        <p:nvSpPr>
          <p:cNvPr id="34" name="Rectangle 34"/>
          <p:cNvSpPr/>
          <p:nvPr/>
        </p:nvSpPr>
        <p:spPr>
          <a:xfrm>
            <a:off x="6000750" y="3486150"/>
            <a:ext cx="1247775" cy="114300"/>
          </a:xfrm>
          <a:prstGeom prst="rect">
            <a:avLst/>
          </a:prstGeom>
          <a:solidFill>
            <a:srgbClr val="FFB300"/>
          </a:solidFill>
          <a:ln>
            <a:noFill/>
          </a:ln>
        </p:spPr>
      </p:sp>
      <p:sp>
        <p:nvSpPr>
          <p:cNvPr id="35" name="TextBox 35"/>
          <p:cNvSpPr txBox="1"/>
          <p:nvPr/>
        </p:nvSpPr>
        <p:spPr>
          <a:xfrm>
            <a:off x="7417118" y="3485674"/>
            <a:ext cx="453819"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0.9529</a:t>
            </a:r>
          </a:p>
        </p:txBody>
      </p:sp>
      <p:sp>
        <p:nvSpPr>
          <p:cNvPr id="36" name="Rectangle 36"/>
          <p:cNvSpPr/>
          <p:nvPr/>
        </p:nvSpPr>
        <p:spPr>
          <a:xfrm>
            <a:off x="5429250" y="3771900"/>
            <a:ext cx="3048000" cy="266700"/>
          </a:xfrm>
          <a:prstGeom prst="rect">
            <a:avLst/>
          </a:prstGeom>
          <a:solidFill>
            <a:srgbClr val="FFEBEE"/>
          </a:solidFill>
          <a:ln>
            <a:noFill/>
          </a:ln>
        </p:spPr>
      </p:sp>
      <p:sp>
        <p:nvSpPr>
          <p:cNvPr id="37" name="TextBox 37"/>
          <p:cNvSpPr txBox="1"/>
          <p:nvPr/>
        </p:nvSpPr>
        <p:spPr>
          <a:xfrm>
            <a:off x="5559742" y="3847624"/>
            <a:ext cx="297799"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游戏</a:t>
            </a:r>
          </a:p>
        </p:txBody>
      </p:sp>
      <p:sp>
        <p:nvSpPr>
          <p:cNvPr id="38" name="Rectangle 38"/>
          <p:cNvSpPr/>
          <p:nvPr/>
        </p:nvSpPr>
        <p:spPr>
          <a:xfrm>
            <a:off x="6000750" y="3848100"/>
            <a:ext cx="1200150" cy="114300"/>
          </a:xfrm>
          <a:prstGeom prst="rect">
            <a:avLst/>
          </a:prstGeom>
          <a:solidFill>
            <a:srgbClr val="EF5350"/>
          </a:solidFill>
          <a:ln>
            <a:noFill/>
          </a:ln>
        </p:spPr>
      </p:sp>
      <p:sp>
        <p:nvSpPr>
          <p:cNvPr id="39" name="TextBox 39"/>
          <p:cNvSpPr txBox="1"/>
          <p:nvPr/>
        </p:nvSpPr>
        <p:spPr>
          <a:xfrm>
            <a:off x="7417118" y="3847624"/>
            <a:ext cx="475271"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0.9234</a:t>
            </a:r>
          </a:p>
        </p:txBody>
      </p:sp>
      <p:sp>
        <p:nvSpPr>
          <p:cNvPr id="40" name="Rectangle 40"/>
          <p:cNvSpPr/>
          <p:nvPr/>
        </p:nvSpPr>
        <p:spPr>
          <a:xfrm>
            <a:off x="5429250" y="4086225"/>
            <a:ext cx="3048000" cy="266700"/>
          </a:xfrm>
          <a:prstGeom prst="rect">
            <a:avLst/>
          </a:prstGeom>
          <a:solidFill>
            <a:srgbClr val="FFEBEE"/>
          </a:solidFill>
          <a:ln>
            <a:noFill/>
          </a:ln>
        </p:spPr>
      </p:sp>
      <p:sp>
        <p:nvSpPr>
          <p:cNvPr id="41" name="TextBox 41"/>
          <p:cNvSpPr txBox="1"/>
          <p:nvPr/>
        </p:nvSpPr>
        <p:spPr>
          <a:xfrm>
            <a:off x="5559742" y="4161949"/>
            <a:ext cx="297799"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财经</a:t>
            </a:r>
          </a:p>
        </p:txBody>
      </p:sp>
      <p:sp>
        <p:nvSpPr>
          <p:cNvPr id="42" name="Rectangle 42"/>
          <p:cNvSpPr/>
          <p:nvPr/>
        </p:nvSpPr>
        <p:spPr>
          <a:xfrm>
            <a:off x="6000750" y="4162425"/>
            <a:ext cx="1190625" cy="114300"/>
          </a:xfrm>
          <a:prstGeom prst="rect">
            <a:avLst/>
          </a:prstGeom>
          <a:solidFill>
            <a:srgbClr val="EF5350"/>
          </a:solidFill>
          <a:ln>
            <a:noFill/>
          </a:ln>
        </p:spPr>
      </p:sp>
      <p:sp>
        <p:nvSpPr>
          <p:cNvPr id="43" name="TextBox 43"/>
          <p:cNvSpPr txBox="1"/>
          <p:nvPr/>
        </p:nvSpPr>
        <p:spPr>
          <a:xfrm>
            <a:off x="7417118" y="4161949"/>
            <a:ext cx="475271" cy="198120"/>
          </a:xfrm>
          <a:prstGeom prst="rect">
            <a:avLst/>
          </a:prstGeom>
          <a:noFill/>
          <a:ln>
            <a:noFill/>
          </a:ln>
        </p:spPr>
        <p:txBody>
          <a:bodyPr wrap="none" lIns="0" tIns="0" rIns="0" bIns="0" anchor="t" anchorCtr="0">
            <a:spAutoFit/>
          </a:bodyPr>
          <a:lstStyle/>
          <a:p>
            <a:pPr algn="l"/>
            <a:r>
              <a:rPr lang="zh-CN" sz="975" b="1" dirty="0">
                <a:solidFill>
                  <a:srgbClr val="C62828"/>
                </a:solidFill>
                <a:latin typeface="Arial"/>
                <a:ea typeface="Microsoft YaHei"/>
                <a:cs typeface="Arial"/>
              </a:rPr>
              <a:t>0.9182</a:t>
            </a:r>
          </a:p>
        </p:txBody>
      </p:sp>
      <p:sp>
        <p:nvSpPr>
          <p:cNvPr id="44" name="TextBox 44"/>
          <p:cNvSpPr txBox="1"/>
          <p:nvPr/>
        </p:nvSpPr>
        <p:spPr>
          <a:xfrm>
            <a:off x="5414010" y="453771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关键发现</a:t>
            </a:r>
          </a:p>
        </p:txBody>
      </p:sp>
      <p:sp>
        <p:nvSpPr>
          <p:cNvPr id="45" name="Rectangle 45"/>
          <p:cNvSpPr/>
          <p:nvPr/>
        </p:nvSpPr>
        <p:spPr>
          <a:xfrm>
            <a:off x="5429250" y="4810125"/>
            <a:ext cx="3048000" cy="523875"/>
          </a:xfrm>
          <a:prstGeom prst="rect">
            <a:avLst/>
          </a:prstGeom>
          <a:solidFill>
            <a:srgbClr val="E8F5E9"/>
          </a:solidFill>
          <a:ln>
            <a:noFill/>
          </a:ln>
        </p:spPr>
      </p:sp>
      <p:sp>
        <p:nvSpPr>
          <p:cNvPr id="46" name="Rectangle 46"/>
          <p:cNvSpPr/>
          <p:nvPr/>
        </p:nvSpPr>
        <p:spPr>
          <a:xfrm>
            <a:off x="5429250" y="4810125"/>
            <a:ext cx="38100" cy="523875"/>
          </a:xfrm>
          <a:prstGeom prst="rect">
            <a:avLst/>
          </a:prstGeom>
          <a:solidFill>
            <a:srgbClr val="2E7D32"/>
          </a:solidFill>
          <a:ln>
            <a:noFill/>
          </a:ln>
        </p:spPr>
      </p:sp>
      <p:sp>
        <p:nvSpPr>
          <p:cNvPr id="47" name="TextBox 47"/>
          <p:cNvSpPr txBox="1"/>
          <p:nvPr/>
        </p:nvSpPr>
        <p:spPr>
          <a:xfrm>
            <a:off x="5559742" y="4895374"/>
            <a:ext cx="570833" cy="198120"/>
          </a:xfrm>
          <a:prstGeom prst="rect">
            <a:avLst/>
          </a:prstGeom>
          <a:noFill/>
          <a:ln>
            <a:noFill/>
          </a:ln>
        </p:spPr>
        <p:txBody>
          <a:bodyPr wrap="none" lIns="0" tIns="0" rIns="0" bIns="0" anchor="t" anchorCtr="0">
            <a:spAutoFit/>
          </a:bodyPr>
          <a:lstStyle/>
          <a:p>
            <a:pPr algn="l"/>
            <a:r>
              <a:rPr lang="zh-CN" sz="975" b="1" dirty="0">
                <a:solidFill>
                  <a:srgbClr val="1D1D1F"/>
                </a:solidFill>
                <a:latin typeface="Arial"/>
                <a:ea typeface="Microsoft YaHei"/>
                <a:cs typeface="Arial"/>
              </a:rPr>
              <a:t>最佳类别</a:t>
            </a:r>
          </a:p>
        </p:txBody>
      </p:sp>
      <p:sp>
        <p:nvSpPr>
          <p:cNvPr id="48" name="TextBox 48"/>
          <p:cNvSpPr txBox="1"/>
          <p:nvPr/>
        </p:nvSpPr>
        <p:spPr>
          <a:xfrm>
            <a:off x="5560695" y="5093970"/>
            <a:ext cx="260918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体育(0.9915) — 独特球队名、赛事术语区分度高</a:t>
            </a:r>
          </a:p>
        </p:txBody>
      </p:sp>
      <p:sp>
        <p:nvSpPr>
          <p:cNvPr id="49" name="Rectangle 49"/>
          <p:cNvSpPr/>
          <p:nvPr/>
        </p:nvSpPr>
        <p:spPr>
          <a:xfrm>
            <a:off x="5429250" y="5429250"/>
            <a:ext cx="3048000" cy="523875"/>
          </a:xfrm>
          <a:prstGeom prst="rect">
            <a:avLst/>
          </a:prstGeom>
          <a:solidFill>
            <a:srgbClr val="FFF3E0"/>
          </a:solidFill>
          <a:ln>
            <a:noFill/>
          </a:ln>
        </p:spPr>
      </p:sp>
      <p:sp>
        <p:nvSpPr>
          <p:cNvPr id="50" name="Rectangle 50"/>
          <p:cNvSpPr/>
          <p:nvPr/>
        </p:nvSpPr>
        <p:spPr>
          <a:xfrm>
            <a:off x="5429250" y="5429250"/>
            <a:ext cx="38100" cy="523875"/>
          </a:xfrm>
          <a:prstGeom prst="rect">
            <a:avLst/>
          </a:prstGeom>
          <a:solidFill>
            <a:srgbClr val="FF6F00"/>
          </a:solidFill>
          <a:ln>
            <a:noFill/>
          </a:ln>
        </p:spPr>
      </p:sp>
      <p:sp>
        <p:nvSpPr>
          <p:cNvPr id="51" name="TextBox 51"/>
          <p:cNvSpPr txBox="1"/>
          <p:nvPr/>
        </p:nvSpPr>
        <p:spPr>
          <a:xfrm>
            <a:off x="5559742" y="5514499"/>
            <a:ext cx="707350" cy="198120"/>
          </a:xfrm>
          <a:prstGeom prst="rect">
            <a:avLst/>
          </a:prstGeom>
          <a:noFill/>
          <a:ln>
            <a:noFill/>
          </a:ln>
        </p:spPr>
        <p:txBody>
          <a:bodyPr wrap="none" lIns="0" tIns="0" rIns="0" bIns="0" anchor="t" anchorCtr="0">
            <a:spAutoFit/>
          </a:bodyPr>
          <a:lstStyle/>
          <a:p>
            <a:pPr algn="l"/>
            <a:r>
              <a:rPr lang="zh-CN" sz="975" b="1" dirty="0">
                <a:solidFill>
                  <a:srgbClr val="1D1D1F"/>
                </a:solidFill>
                <a:latin typeface="Arial"/>
                <a:ea typeface="Microsoft YaHei"/>
                <a:cs typeface="Arial"/>
              </a:rPr>
              <a:t>少样本亮点</a:t>
            </a:r>
          </a:p>
        </p:txBody>
      </p:sp>
      <p:sp>
        <p:nvSpPr>
          <p:cNvPr id="52" name="TextBox 52"/>
          <p:cNvSpPr txBox="1"/>
          <p:nvPr/>
        </p:nvSpPr>
        <p:spPr>
          <a:xfrm>
            <a:off x="5560695" y="5713095"/>
            <a:ext cx="2273141"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星座仅322条验证样本，Recall高达0.9907</a:t>
            </a:r>
          </a:p>
        </p:txBody>
      </p:sp>
      <p:sp>
        <p:nvSpPr>
          <p:cNvPr id="53" name="TextBox 53"/>
          <p:cNvSpPr txBox="1"/>
          <p:nvPr/>
        </p:nvSpPr>
        <p:spPr>
          <a:xfrm>
            <a:off x="8650605" y="1140142"/>
            <a:ext cx="1357455" cy="274320"/>
          </a:xfrm>
          <a:prstGeom prst="rect">
            <a:avLst/>
          </a:prstGeom>
          <a:noFill/>
          <a:ln>
            <a:noFill/>
          </a:ln>
        </p:spPr>
        <p:txBody>
          <a:bodyPr wrap="none" lIns="0" tIns="0" rIns="0" bIns="0" anchor="t" anchorCtr="0">
            <a:spAutoFit/>
          </a:bodyPr>
          <a:lstStyle/>
          <a:p>
            <a:pPr algn="l"/>
            <a:r>
              <a:rPr lang="zh-CN" sz="1350" b="1" dirty="0">
                <a:solidFill>
                  <a:srgbClr val="1D1D1F"/>
                </a:solidFill>
                <a:latin typeface="Arial"/>
                <a:ea typeface="Microsoft YaHei"/>
                <a:cs typeface="Arial"/>
              </a:rPr>
              <a:t>主要混淆类别对</a:t>
            </a:r>
          </a:p>
        </p:txBody>
      </p:sp>
      <p:grpSp>
        <p:nvGrpSpPr>
          <p:cNvPr id="66" name="Group 66"/>
          <p:cNvGrpSpPr/>
          <p:nvPr/>
        </p:nvGrpSpPr>
        <p:grpSpPr>
          <a:xfrm>
            <a:off x="8667750" y="1476375"/>
            <a:ext cx="2952750" cy="2286000"/>
            <a:chOff x="8667750" y="1476375"/>
            <a:chExt cx="2952750" cy="2286000"/>
          </a:xfrm>
        </p:grpSpPr>
        <p:sp>
          <p:nvSpPr>
            <p:cNvPr id="54" name="Rectangle 54"/>
            <p:cNvSpPr/>
            <p:nvPr/>
          </p:nvSpPr>
          <p:spPr>
            <a:xfrm>
              <a:off x="8667750" y="1476375"/>
              <a:ext cx="2952750" cy="666750"/>
            </a:xfrm>
            <a:prstGeom prst="rect">
              <a:avLst/>
            </a:prstGeom>
            <a:solidFill>
              <a:srgbClr val="FFF3E0"/>
            </a:solidFill>
            <a:ln>
              <a:noFill/>
            </a:ln>
          </p:spPr>
        </p:sp>
        <p:sp>
          <p:nvSpPr>
            <p:cNvPr id="55" name="Rectangle 55"/>
            <p:cNvSpPr/>
            <p:nvPr/>
          </p:nvSpPr>
          <p:spPr>
            <a:xfrm>
              <a:off x="8667750" y="1476375"/>
              <a:ext cx="38100" cy="666750"/>
            </a:xfrm>
            <a:prstGeom prst="rect">
              <a:avLst/>
            </a:prstGeom>
            <a:solidFill>
              <a:srgbClr val="FF6F00"/>
            </a:solidFill>
            <a:ln>
              <a:noFill/>
            </a:ln>
          </p:spPr>
        </p:sp>
        <p:sp>
          <p:nvSpPr>
            <p:cNvPr id="56" name="TextBox 56"/>
            <p:cNvSpPr txBox="1"/>
            <p:nvPr/>
          </p:nvSpPr>
          <p:spPr>
            <a:xfrm>
              <a:off x="8825865" y="1582102"/>
              <a:ext cx="78381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财经 ↔ 股票</a:t>
              </a:r>
            </a:p>
          </p:txBody>
        </p:sp>
        <p:sp>
          <p:nvSpPr>
            <p:cNvPr id="57" name="TextBox 57"/>
            <p:cNvSpPr txBox="1"/>
            <p:nvPr/>
          </p:nvSpPr>
          <p:spPr>
            <a:xfrm>
              <a:off x="8827770" y="1807845"/>
              <a:ext cx="194310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语义高度重叠，财经新闻常涉及股市</a:t>
              </a:r>
            </a:p>
          </p:txBody>
        </p:sp>
        <p:sp>
          <p:nvSpPr>
            <p:cNvPr id="58" name="Rectangle 58"/>
            <p:cNvSpPr/>
            <p:nvPr/>
          </p:nvSpPr>
          <p:spPr>
            <a:xfrm>
              <a:off x="8667750" y="2286000"/>
              <a:ext cx="2952750" cy="666750"/>
            </a:xfrm>
            <a:prstGeom prst="rect">
              <a:avLst/>
            </a:prstGeom>
            <a:solidFill>
              <a:srgbClr val="FFF3E0"/>
            </a:solidFill>
            <a:ln>
              <a:noFill/>
            </a:ln>
          </p:spPr>
        </p:sp>
        <p:sp>
          <p:nvSpPr>
            <p:cNvPr id="59" name="Rectangle 59"/>
            <p:cNvSpPr/>
            <p:nvPr/>
          </p:nvSpPr>
          <p:spPr>
            <a:xfrm>
              <a:off x="8667750" y="2286000"/>
              <a:ext cx="38100" cy="666750"/>
            </a:xfrm>
            <a:prstGeom prst="rect">
              <a:avLst/>
            </a:prstGeom>
            <a:solidFill>
              <a:srgbClr val="FF6F00"/>
            </a:solidFill>
            <a:ln>
              <a:noFill/>
            </a:ln>
          </p:spPr>
        </p:sp>
        <p:sp>
          <p:nvSpPr>
            <p:cNvPr id="60" name="TextBox 60"/>
            <p:cNvSpPr txBox="1"/>
            <p:nvPr/>
          </p:nvSpPr>
          <p:spPr>
            <a:xfrm>
              <a:off x="8825865" y="2391728"/>
              <a:ext cx="78381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科技 ↔ 游戏</a:t>
              </a:r>
            </a:p>
          </p:txBody>
        </p:sp>
        <p:sp>
          <p:nvSpPr>
            <p:cNvPr id="61" name="TextBox 61"/>
            <p:cNvSpPr txBox="1"/>
            <p:nvPr/>
          </p:nvSpPr>
          <p:spPr>
            <a:xfrm>
              <a:off x="8827770" y="2617470"/>
              <a:ext cx="194310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游戏新闻常涉及硬件评测、科技资讯</a:t>
              </a:r>
            </a:p>
          </p:txBody>
        </p:sp>
        <p:sp>
          <p:nvSpPr>
            <p:cNvPr id="62" name="Rectangle 62"/>
            <p:cNvSpPr/>
            <p:nvPr/>
          </p:nvSpPr>
          <p:spPr>
            <a:xfrm>
              <a:off x="8667750" y="3095625"/>
              <a:ext cx="2952750" cy="666750"/>
            </a:xfrm>
            <a:prstGeom prst="rect">
              <a:avLst/>
            </a:prstGeom>
            <a:solidFill>
              <a:srgbClr val="FFF3E0"/>
            </a:solidFill>
            <a:ln>
              <a:noFill/>
            </a:ln>
          </p:spPr>
        </p:sp>
        <p:sp>
          <p:nvSpPr>
            <p:cNvPr id="63" name="Rectangle 63"/>
            <p:cNvSpPr/>
            <p:nvPr/>
          </p:nvSpPr>
          <p:spPr>
            <a:xfrm>
              <a:off x="8667750" y="3095625"/>
              <a:ext cx="38100" cy="666750"/>
            </a:xfrm>
            <a:prstGeom prst="rect">
              <a:avLst/>
            </a:prstGeom>
            <a:solidFill>
              <a:srgbClr val="FF6F00"/>
            </a:solidFill>
            <a:ln>
              <a:noFill/>
            </a:ln>
          </p:spPr>
        </p:sp>
        <p:sp>
          <p:nvSpPr>
            <p:cNvPr id="64" name="TextBox 64"/>
            <p:cNvSpPr txBox="1"/>
            <p:nvPr/>
          </p:nvSpPr>
          <p:spPr>
            <a:xfrm>
              <a:off x="8825865" y="3201352"/>
              <a:ext cx="783815"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社会 ↔ 时政</a:t>
              </a:r>
            </a:p>
          </p:txBody>
        </p:sp>
        <p:sp>
          <p:nvSpPr>
            <p:cNvPr id="65" name="TextBox 65"/>
            <p:cNvSpPr txBox="1"/>
            <p:nvPr/>
          </p:nvSpPr>
          <p:spPr>
            <a:xfrm>
              <a:off x="8827770" y="3427095"/>
              <a:ext cx="206311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部分社会新闻涉及时政议题，边界模糊</a:t>
              </a:r>
            </a:p>
          </p:txBody>
        </p:sp>
      </p:grpSp>
      <p:sp>
        <p:nvSpPr>
          <p:cNvPr id="67" name="Rectangle 67"/>
          <p:cNvSpPr/>
          <p:nvPr/>
        </p:nvSpPr>
        <p:spPr>
          <a:xfrm>
            <a:off x="8667750" y="4000500"/>
            <a:ext cx="2952750" cy="476250"/>
          </a:xfrm>
          <a:prstGeom prst="rect">
            <a:avLst/>
          </a:prstGeom>
          <a:solidFill>
            <a:srgbClr val="1565C0"/>
          </a:solidFill>
          <a:ln>
            <a:noFill/>
          </a:ln>
        </p:spPr>
      </p:sp>
      <p:sp>
        <p:nvSpPr>
          <p:cNvPr id="68" name="TextBox 68"/>
          <p:cNvSpPr txBox="1"/>
          <p:nvPr/>
        </p:nvSpPr>
        <p:spPr>
          <a:xfrm>
            <a:off x="9564769" y="4125278"/>
            <a:ext cx="115871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验证集 Accuracy</a:t>
            </a:r>
          </a:p>
        </p:txBody>
      </p:sp>
      <p:sp>
        <p:nvSpPr>
          <p:cNvPr id="69" name="TextBox 69"/>
          <p:cNvSpPr txBox="1"/>
          <p:nvPr/>
        </p:nvSpPr>
        <p:spPr>
          <a:xfrm>
            <a:off x="9680210" y="4234815"/>
            <a:ext cx="927830"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95.72%</a:t>
            </a:r>
          </a:p>
        </p:txBody>
      </p:sp>
      <p:sp>
        <p:nvSpPr>
          <p:cNvPr id="70" name="Rectangle 70"/>
          <p:cNvSpPr/>
          <p:nvPr/>
        </p:nvSpPr>
        <p:spPr>
          <a:xfrm>
            <a:off x="571500" y="6619875"/>
            <a:ext cx="11049000" cy="9525"/>
          </a:xfrm>
          <a:prstGeom prst="rect">
            <a:avLst/>
          </a:prstGeom>
          <a:solidFill>
            <a:srgbClr val="E5E7EB"/>
          </a:solidFill>
          <a:ln>
            <a:noFill/>
          </a:ln>
        </p:spPr>
      </p:sp>
      <p:sp>
        <p:nvSpPr>
          <p:cNvPr id="71" name="TextBox 71"/>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08</a:t>
            </a:r>
          </a:p>
        </p:txBody>
      </p:sp>
      <p:sp>
        <p:nvSpPr>
          <p:cNvPr id="72" name="Rectangle 72"/>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image">
                                      <p:cBhvr>
                                        <p:cTn id="7"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1632347"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伪标签训练</a:t>
            </a:r>
          </a:p>
        </p:txBody>
      </p:sp>
      <p:sp>
        <p:nvSpPr>
          <p:cNvPr id="5" name="Rectangle 5"/>
          <p:cNvSpPr/>
          <p:nvPr/>
        </p:nvSpPr>
        <p:spPr>
          <a:xfrm>
            <a:off x="571500" y="952500"/>
            <a:ext cx="11049000" cy="9525"/>
          </a:xfrm>
          <a:prstGeom prst="rect">
            <a:avLst/>
          </a:prstGeom>
          <a:solidFill>
            <a:srgbClr val="E5E7EB"/>
          </a:solidFill>
          <a:ln>
            <a:noFill/>
          </a:ln>
        </p:spPr>
      </p:sp>
      <p:sp>
        <p:nvSpPr>
          <p:cNvPr id="6" name="TextBox 6"/>
          <p:cNvSpPr txBox="1"/>
          <p:nvPr/>
        </p:nvSpPr>
        <p:spPr>
          <a:xfrm>
            <a:off x="556260" y="12039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方法概述</a:t>
            </a:r>
          </a:p>
        </p:txBody>
      </p:sp>
      <p:sp>
        <p:nvSpPr>
          <p:cNvPr id="7" name="Rectangle 7"/>
          <p:cNvSpPr/>
          <p:nvPr/>
        </p:nvSpPr>
        <p:spPr>
          <a:xfrm>
            <a:off x="542926" y="1504950"/>
            <a:ext cx="3174132" cy="1411216"/>
          </a:xfrm>
          <a:prstGeom prst="rect">
            <a:avLst/>
          </a:prstGeom>
          <a:solidFill>
            <a:srgbClr val="F8FAFC"/>
          </a:solidFill>
          <a:ln>
            <a:noFill/>
          </a:ln>
        </p:spPr>
      </p:sp>
      <p:sp>
        <p:nvSpPr>
          <p:cNvPr id="8" name="Rectangle 8"/>
          <p:cNvSpPr/>
          <p:nvPr/>
        </p:nvSpPr>
        <p:spPr>
          <a:xfrm>
            <a:off x="542924" y="1495217"/>
            <a:ext cx="82177" cy="1411216"/>
          </a:xfrm>
          <a:prstGeom prst="rect">
            <a:avLst/>
          </a:prstGeom>
          <a:solidFill>
            <a:srgbClr val="1565C0"/>
          </a:solidFill>
          <a:ln>
            <a:noFill/>
          </a:ln>
        </p:spPr>
      </p:sp>
      <p:sp>
        <p:nvSpPr>
          <p:cNvPr id="9" name="TextBox 9"/>
          <p:cNvSpPr txBox="1"/>
          <p:nvPr/>
        </p:nvSpPr>
        <p:spPr>
          <a:xfrm>
            <a:off x="729615" y="1629728"/>
            <a:ext cx="2505431" cy="842010"/>
          </a:xfrm>
          <a:prstGeom prst="rect">
            <a:avLst/>
          </a:prstGeom>
          <a:noFill/>
          <a:ln>
            <a:noFill/>
          </a:ln>
        </p:spPr>
        <p:txBody>
          <a:bodyPr wrap="square" lIns="0" tIns="0" rIns="0" bIns="0" anchor="t" anchorCtr="0"/>
          <a:lstStyle/>
          <a:p>
            <a:pPr algn="l">
              <a:lnSpc>
                <a:spcPts val="1650"/>
              </a:lnSpc>
            </a:pPr>
            <a:r>
              <a:rPr lang="zh-CN" sz="1050" dirty="0">
                <a:solidFill>
                  <a:srgbClr val="1D1D1F"/>
                </a:solidFill>
                <a:latin typeface="Arial"/>
                <a:ea typeface="Microsoft YaHei"/>
                <a:cs typeface="Arial"/>
              </a:rPr>
              <a:t>伪标签训练（Pseudo-Labeling）是一种半监督学习方法，用当前训练好的模型对无标签的测试集进行预测，筛选出 </a:t>
            </a:r>
            <a:r>
              <a:rPr lang="zh-CN" sz="1050" b="1" dirty="0">
                <a:solidFill>
                  <a:srgbClr val="1565C0"/>
                </a:solidFill>
                <a:latin typeface="Arial"/>
                <a:ea typeface="Microsoft YaHei"/>
                <a:cs typeface="Arial"/>
              </a:rPr>
              <a:t>高置信度（置信度 &gt; 0.95）</a:t>
            </a:r>
            <a:r>
              <a:rPr lang="zh-CN" sz="1050" dirty="0">
                <a:solidFill>
                  <a:srgbClr val="1D1D1F"/>
                </a:solidFill>
                <a:latin typeface="Arial"/>
                <a:ea typeface="Microsoft YaHei"/>
                <a:cs typeface="Arial"/>
              </a:rPr>
              <a:t>的样本，将预测结果作为伪标签加入训练集重新训练。</a:t>
            </a:r>
          </a:p>
        </p:txBody>
      </p:sp>
      <p:sp>
        <p:nvSpPr>
          <p:cNvPr id="10" name="TextBox 10"/>
          <p:cNvSpPr txBox="1"/>
          <p:nvPr/>
        </p:nvSpPr>
        <p:spPr>
          <a:xfrm>
            <a:off x="542924" y="3076429"/>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核心流程</a:t>
            </a:r>
          </a:p>
        </p:txBody>
      </p:sp>
      <p:grpSp>
        <p:nvGrpSpPr>
          <p:cNvPr id="29" name="Group 29"/>
          <p:cNvGrpSpPr/>
          <p:nvPr/>
        </p:nvGrpSpPr>
        <p:grpSpPr>
          <a:xfrm>
            <a:off x="542924" y="3372657"/>
            <a:ext cx="11049000" cy="1228725"/>
            <a:chOff x="571500" y="2952750"/>
            <a:chExt cx="11049000" cy="1228725"/>
          </a:xfrm>
        </p:grpSpPr>
        <p:sp>
          <p:nvSpPr>
            <p:cNvPr id="11" name="Rectangle 11"/>
            <p:cNvSpPr/>
            <p:nvPr/>
          </p:nvSpPr>
          <p:spPr>
            <a:xfrm>
              <a:off x="571500" y="3000375"/>
              <a:ext cx="1714500" cy="476250"/>
            </a:xfrm>
            <a:prstGeom prst="rect">
              <a:avLst/>
            </a:prstGeom>
            <a:solidFill>
              <a:srgbClr val="1565C0"/>
            </a:solidFill>
            <a:ln>
              <a:noFill/>
            </a:ln>
          </p:spPr>
        </p:sp>
        <p:sp>
          <p:nvSpPr>
            <p:cNvPr id="12" name="TextBox 12"/>
            <p:cNvSpPr txBox="1"/>
            <p:nvPr/>
          </p:nvSpPr>
          <p:spPr>
            <a:xfrm>
              <a:off x="1047869" y="31727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原始训练集</a:t>
              </a:r>
            </a:p>
          </p:txBody>
        </p:sp>
        <p:sp>
          <p:nvSpPr>
            <p:cNvPr id="13" name="Line 13"/>
            <p:cNvSpPr/>
            <p:nvPr/>
          </p:nvSpPr>
          <p:spPr>
            <a:xfrm>
              <a:off x="2286000" y="3238500"/>
              <a:ext cx="476250" cy="1"/>
            </a:xfrm>
            <a:prstGeom prst="line">
              <a:avLst/>
            </a:prstGeom>
            <a:noFill/>
            <a:ln w="14288">
              <a:solidFill>
                <a:srgbClr val="1565C0"/>
              </a:solidFill>
              <a:tailEnd type="triangle" w="lg" len="lg"/>
            </a:ln>
          </p:spPr>
        </p:sp>
        <p:sp>
          <p:nvSpPr>
            <p:cNvPr id="14" name="Rectangle 14"/>
            <p:cNvSpPr/>
            <p:nvPr/>
          </p:nvSpPr>
          <p:spPr>
            <a:xfrm>
              <a:off x="2857500" y="3000375"/>
              <a:ext cx="1714500" cy="476250"/>
            </a:xfrm>
            <a:prstGeom prst="rect">
              <a:avLst/>
            </a:prstGeom>
            <a:solidFill>
              <a:srgbClr val="1565C0"/>
            </a:solidFill>
            <a:ln>
              <a:noFill/>
            </a:ln>
          </p:spPr>
        </p:sp>
        <p:sp>
          <p:nvSpPr>
            <p:cNvPr id="15" name="TextBox 15"/>
            <p:cNvSpPr txBox="1"/>
            <p:nvPr/>
          </p:nvSpPr>
          <p:spPr>
            <a:xfrm>
              <a:off x="3234632" y="3172778"/>
              <a:ext cx="96023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训练 MacBERT</a:t>
              </a:r>
            </a:p>
          </p:txBody>
        </p:sp>
        <p:sp>
          <p:nvSpPr>
            <p:cNvPr id="16" name="Line 16"/>
            <p:cNvSpPr/>
            <p:nvPr/>
          </p:nvSpPr>
          <p:spPr>
            <a:xfrm>
              <a:off x="4572000" y="3238500"/>
              <a:ext cx="476250" cy="1"/>
            </a:xfrm>
            <a:prstGeom prst="line">
              <a:avLst/>
            </a:prstGeom>
            <a:noFill/>
            <a:ln w="14288">
              <a:solidFill>
                <a:srgbClr val="1565C0"/>
              </a:solidFill>
              <a:tailEnd type="triangle" w="lg" len="lg"/>
            </a:ln>
          </p:spPr>
        </p:sp>
        <p:sp>
          <p:nvSpPr>
            <p:cNvPr id="17" name="Rectangle 17"/>
            <p:cNvSpPr/>
            <p:nvPr/>
          </p:nvSpPr>
          <p:spPr>
            <a:xfrm>
              <a:off x="5143500" y="3000375"/>
              <a:ext cx="1714500" cy="476250"/>
            </a:xfrm>
            <a:prstGeom prst="rect">
              <a:avLst/>
            </a:prstGeom>
            <a:solidFill>
              <a:srgbClr val="1565C0"/>
            </a:solidFill>
            <a:ln>
              <a:noFill/>
            </a:ln>
          </p:spPr>
        </p:sp>
        <p:sp>
          <p:nvSpPr>
            <p:cNvPr id="18" name="TextBox 18"/>
            <p:cNvSpPr txBox="1"/>
            <p:nvPr/>
          </p:nvSpPr>
          <p:spPr>
            <a:xfrm>
              <a:off x="5619869" y="31727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预测测试集</a:t>
              </a:r>
            </a:p>
          </p:txBody>
        </p:sp>
        <p:sp>
          <p:nvSpPr>
            <p:cNvPr id="19" name="Line 19"/>
            <p:cNvSpPr/>
            <p:nvPr/>
          </p:nvSpPr>
          <p:spPr>
            <a:xfrm>
              <a:off x="6858000" y="3238500"/>
              <a:ext cx="476250" cy="1"/>
            </a:xfrm>
            <a:prstGeom prst="line">
              <a:avLst/>
            </a:prstGeom>
            <a:noFill/>
            <a:ln w="14288">
              <a:solidFill>
                <a:srgbClr val="FF6F00"/>
              </a:solidFill>
              <a:tailEnd type="triangle" w="lg" len="lg"/>
            </a:ln>
          </p:spPr>
        </p:sp>
        <p:sp>
          <p:nvSpPr>
            <p:cNvPr id="20" name="Rectangle 20"/>
            <p:cNvSpPr/>
            <p:nvPr/>
          </p:nvSpPr>
          <p:spPr>
            <a:xfrm>
              <a:off x="7429500" y="2952750"/>
              <a:ext cx="1905000" cy="571500"/>
            </a:xfrm>
            <a:prstGeom prst="rect">
              <a:avLst/>
            </a:prstGeom>
            <a:solidFill>
              <a:srgbClr val="FFF3E0"/>
            </a:solidFill>
            <a:ln>
              <a:noFill/>
            </a:ln>
          </p:spPr>
        </p:sp>
        <p:sp>
          <p:nvSpPr>
            <p:cNvPr id="21" name="Rectangle 21"/>
            <p:cNvSpPr/>
            <p:nvPr/>
          </p:nvSpPr>
          <p:spPr>
            <a:xfrm>
              <a:off x="7429500" y="2952750"/>
              <a:ext cx="1905000" cy="571500"/>
            </a:xfrm>
            <a:prstGeom prst="rect">
              <a:avLst/>
            </a:prstGeom>
            <a:noFill/>
            <a:ln w="14288">
              <a:solidFill>
                <a:srgbClr val="FF6F00"/>
              </a:solidFill>
              <a:prstDash val="dash"/>
            </a:ln>
          </p:spPr>
        </p:sp>
        <p:sp>
          <p:nvSpPr>
            <p:cNvPr id="22" name="TextBox 22"/>
            <p:cNvSpPr txBox="1"/>
            <p:nvPr/>
          </p:nvSpPr>
          <p:spPr>
            <a:xfrm>
              <a:off x="8028325" y="3095149"/>
              <a:ext cx="707350" cy="198120"/>
            </a:xfrm>
            <a:prstGeom prst="rect">
              <a:avLst/>
            </a:prstGeom>
            <a:noFill/>
            <a:ln>
              <a:noFill/>
            </a:ln>
          </p:spPr>
          <p:txBody>
            <a:bodyPr wrap="none" lIns="0" tIns="0" rIns="0" bIns="0" anchor="t" anchorCtr="0">
              <a:spAutoFit/>
            </a:bodyPr>
            <a:lstStyle/>
            <a:p>
              <a:pPr algn="ctr"/>
              <a:r>
                <a:rPr lang="zh-CN" sz="975" b="1" dirty="0">
                  <a:solidFill>
                    <a:srgbClr val="FF6F00"/>
                  </a:solidFill>
                  <a:latin typeface="Arial"/>
                  <a:ea typeface="Microsoft YaHei"/>
                  <a:cs typeface="Arial"/>
                </a:rPr>
                <a:t>筛选置信度</a:t>
              </a:r>
            </a:p>
          </p:txBody>
        </p:sp>
        <p:sp>
          <p:nvSpPr>
            <p:cNvPr id="23" name="TextBox 23"/>
            <p:cNvSpPr txBox="1"/>
            <p:nvPr/>
          </p:nvSpPr>
          <p:spPr>
            <a:xfrm>
              <a:off x="8161429" y="3285649"/>
              <a:ext cx="441142" cy="198120"/>
            </a:xfrm>
            <a:prstGeom prst="rect">
              <a:avLst/>
            </a:prstGeom>
            <a:noFill/>
            <a:ln>
              <a:noFill/>
            </a:ln>
          </p:spPr>
          <p:txBody>
            <a:bodyPr wrap="none" lIns="0" tIns="0" rIns="0" bIns="0" anchor="t" anchorCtr="0">
              <a:spAutoFit/>
            </a:bodyPr>
            <a:lstStyle/>
            <a:p>
              <a:pPr algn="ctr"/>
              <a:r>
                <a:rPr lang="zh-CN" sz="975" b="1" dirty="0">
                  <a:solidFill>
                    <a:srgbClr val="FF6F00"/>
                  </a:solidFill>
                  <a:latin typeface="Arial"/>
                  <a:ea typeface="Microsoft YaHei"/>
                  <a:cs typeface="Arial"/>
                </a:rPr>
                <a:t>&gt; 0.95</a:t>
              </a:r>
            </a:p>
          </p:txBody>
        </p:sp>
        <p:sp>
          <p:nvSpPr>
            <p:cNvPr id="24" name="Line 24"/>
            <p:cNvSpPr/>
            <p:nvPr/>
          </p:nvSpPr>
          <p:spPr>
            <a:xfrm>
              <a:off x="9334500" y="3238500"/>
              <a:ext cx="476250" cy="1"/>
            </a:xfrm>
            <a:prstGeom prst="line">
              <a:avLst/>
            </a:prstGeom>
            <a:noFill/>
            <a:ln w="14288">
              <a:solidFill>
                <a:srgbClr val="1565C0"/>
              </a:solidFill>
              <a:tailEnd type="triangle" w="lg" len="lg"/>
            </a:ln>
          </p:spPr>
        </p:sp>
        <p:sp>
          <p:nvSpPr>
            <p:cNvPr id="25" name="Rectangle 25"/>
            <p:cNvSpPr/>
            <p:nvPr/>
          </p:nvSpPr>
          <p:spPr>
            <a:xfrm>
              <a:off x="9906000" y="3000375"/>
              <a:ext cx="1714500" cy="476250"/>
            </a:xfrm>
            <a:prstGeom prst="rect">
              <a:avLst/>
            </a:prstGeom>
            <a:solidFill>
              <a:srgbClr val="2E7D32"/>
            </a:solidFill>
            <a:ln>
              <a:noFill/>
            </a:ln>
          </p:spPr>
        </p:sp>
        <p:sp>
          <p:nvSpPr>
            <p:cNvPr id="26" name="TextBox 26"/>
            <p:cNvSpPr txBox="1"/>
            <p:nvPr/>
          </p:nvSpPr>
          <p:spPr>
            <a:xfrm>
              <a:off x="10382369" y="3172778"/>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生成伪标签</a:t>
              </a:r>
            </a:p>
          </p:txBody>
        </p:sp>
        <p:sp>
          <p:nvSpPr>
            <p:cNvPr id="27" name="Freeform 27"/>
            <p:cNvSpPr/>
            <p:nvPr/>
          </p:nvSpPr>
          <p:spPr>
            <a:xfrm>
              <a:off x="1428750" y="3476625"/>
              <a:ext cx="9334500" cy="428625"/>
            </a:xfrm>
            <a:custGeom>
              <a:avLst/>
              <a:gdLst/>
              <a:ahLst/>
              <a:cxnLst/>
              <a:rect l="l" t="t" r="r" b="b"/>
              <a:pathLst>
                <a:path w="9334500" h="428625">
                  <a:moveTo>
                    <a:pt x="9334500" y="0"/>
                  </a:moveTo>
                  <a:lnTo>
                    <a:pt x="9334500" y="428625"/>
                  </a:lnTo>
                  <a:lnTo>
                    <a:pt x="0" y="428625"/>
                  </a:lnTo>
                  <a:lnTo>
                    <a:pt x="0" y="0"/>
                  </a:lnTo>
                </a:path>
              </a:pathLst>
            </a:custGeom>
            <a:noFill/>
            <a:ln w="14288">
              <a:solidFill>
                <a:srgbClr val="1565C0"/>
              </a:solidFill>
              <a:prstDash val="dash"/>
              <a:tailEnd type="triangle" w="lg" len="lg"/>
            </a:ln>
          </p:spPr>
        </p:sp>
        <p:sp>
          <p:nvSpPr>
            <p:cNvPr id="28" name="TextBox 28"/>
            <p:cNvSpPr txBox="1"/>
            <p:nvPr/>
          </p:nvSpPr>
          <p:spPr>
            <a:xfrm>
              <a:off x="5484495" y="3998595"/>
              <a:ext cx="1223010"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合并训练集，迭代训练</a:t>
              </a:r>
            </a:p>
          </p:txBody>
        </p:sp>
      </p:grpSp>
      <p:sp>
        <p:nvSpPr>
          <p:cNvPr id="30" name="Rectangle 30"/>
          <p:cNvSpPr/>
          <p:nvPr/>
        </p:nvSpPr>
        <p:spPr>
          <a:xfrm>
            <a:off x="487635" y="4812910"/>
            <a:ext cx="5334000" cy="952500"/>
          </a:xfrm>
          <a:prstGeom prst="rect">
            <a:avLst/>
          </a:prstGeom>
          <a:solidFill>
            <a:srgbClr val="F8FAFC"/>
          </a:solidFill>
          <a:ln>
            <a:noFill/>
          </a:ln>
        </p:spPr>
      </p:sp>
      <p:sp>
        <p:nvSpPr>
          <p:cNvPr id="31" name="TextBox 31"/>
          <p:cNvSpPr txBox="1"/>
          <p:nvPr/>
        </p:nvSpPr>
        <p:spPr>
          <a:xfrm>
            <a:off x="655402" y="4898158"/>
            <a:ext cx="614744" cy="213360"/>
          </a:xfrm>
          <a:prstGeom prst="rect">
            <a:avLst/>
          </a:prstGeom>
          <a:noFill/>
          <a:ln>
            <a:noFill/>
          </a:ln>
        </p:spPr>
        <p:txBody>
          <a:bodyPr wrap="none" lIns="0" tIns="0" rIns="0" bIns="0" anchor="t" anchorCtr="0">
            <a:spAutoFit/>
          </a:bodyPr>
          <a:lstStyle/>
          <a:p>
            <a:pPr algn="l"/>
            <a:r>
              <a:rPr lang="zh-CN" sz="1050" b="1" dirty="0">
                <a:solidFill>
                  <a:srgbClr val="1D1D1F"/>
                </a:solidFill>
                <a:latin typeface="Arial"/>
                <a:ea typeface="Microsoft YaHei"/>
                <a:cs typeface="Arial"/>
              </a:rPr>
              <a:t>两轮迭代</a:t>
            </a:r>
          </a:p>
        </p:txBody>
      </p:sp>
      <p:sp>
        <p:nvSpPr>
          <p:cNvPr id="32" name="TextBox 32"/>
          <p:cNvSpPr txBox="1"/>
          <p:nvPr/>
        </p:nvSpPr>
        <p:spPr>
          <a:xfrm>
            <a:off x="611492" y="5075800"/>
            <a:ext cx="3572351" cy="617220"/>
          </a:xfrm>
          <a:prstGeom prst="rect">
            <a:avLst/>
          </a:prstGeom>
          <a:noFill/>
          <a:ln>
            <a:noFill/>
          </a:ln>
        </p:spPr>
        <p:txBody>
          <a:bodyPr wrap="square" lIns="0" tIns="0" rIns="0" bIns="0" anchor="t" anchorCtr="0"/>
          <a:lstStyle/>
          <a:p>
            <a:pPr algn="l">
              <a:lnSpc>
                <a:spcPts val="1650"/>
              </a:lnSpc>
            </a:pPr>
            <a:r>
              <a:rPr lang="zh-CN" sz="975" dirty="0">
                <a:solidFill>
                  <a:srgbClr val="6B7280"/>
                </a:solidFill>
                <a:latin typeface="Arial"/>
                <a:ea typeface="Microsoft YaHei"/>
                <a:cs typeface="Arial"/>
              </a:rPr>
              <a:t>• 第一轮：筛选约 4~5 万条高置信度样本（占测试集 50%~60%）• 第二轮：进一步筛选，新增信息量有限• 目的：弥合训练集与测试集之间的分布差异</a:t>
            </a:r>
          </a:p>
        </p:txBody>
      </p:sp>
      <p:sp>
        <p:nvSpPr>
          <p:cNvPr id="59" name="Rectangle 59"/>
          <p:cNvSpPr/>
          <p:nvPr/>
        </p:nvSpPr>
        <p:spPr>
          <a:xfrm>
            <a:off x="6353174" y="2723932"/>
            <a:ext cx="5238750" cy="381000"/>
          </a:xfrm>
          <a:prstGeom prst="rect">
            <a:avLst/>
          </a:prstGeom>
          <a:solidFill>
            <a:srgbClr val="FFF3E0"/>
          </a:solidFill>
          <a:ln>
            <a:noFill/>
          </a:ln>
        </p:spPr>
      </p:sp>
      <p:sp>
        <p:nvSpPr>
          <p:cNvPr id="60" name="TextBox 60"/>
          <p:cNvSpPr txBox="1"/>
          <p:nvPr/>
        </p:nvSpPr>
        <p:spPr>
          <a:xfrm>
            <a:off x="6530339" y="2848710"/>
            <a:ext cx="4429870" cy="213360"/>
          </a:xfrm>
          <a:prstGeom prst="rect">
            <a:avLst/>
          </a:prstGeom>
          <a:noFill/>
          <a:ln>
            <a:noFill/>
          </a:ln>
        </p:spPr>
        <p:txBody>
          <a:bodyPr wrap="none" lIns="0" tIns="0" rIns="0" bIns="0" anchor="t" anchorCtr="0">
            <a:spAutoFit/>
          </a:bodyPr>
          <a:lstStyle/>
          <a:p>
            <a:pPr algn="l"/>
            <a:r>
              <a:rPr lang="zh-CN" sz="1050" b="1" dirty="0">
                <a:solidFill>
                  <a:srgbClr val="FF6F00"/>
                </a:solidFill>
                <a:latin typeface="Arial"/>
                <a:ea typeface="Microsoft YaHei"/>
                <a:cs typeface="Arial"/>
              </a:rPr>
              <a:t>置信度阈值 = 0.95 | 批次大小 = 64 | 无梯度推理 torch.no_grad()</a:t>
            </a:r>
          </a:p>
        </p:txBody>
      </p:sp>
      <p:sp>
        <p:nvSpPr>
          <p:cNvPr id="61" name="Rectangle 61"/>
          <p:cNvSpPr/>
          <p:nvPr/>
        </p:nvSpPr>
        <p:spPr>
          <a:xfrm>
            <a:off x="571500" y="6619875"/>
            <a:ext cx="11049000" cy="9525"/>
          </a:xfrm>
          <a:prstGeom prst="rect">
            <a:avLst/>
          </a:prstGeom>
          <a:solidFill>
            <a:srgbClr val="E5E7EB"/>
          </a:solidFill>
          <a:ln>
            <a:noFill/>
          </a:ln>
        </p:spPr>
      </p:sp>
      <p:sp>
        <p:nvSpPr>
          <p:cNvPr id="62" name="TextBox 62"/>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09</a:t>
            </a:r>
          </a:p>
        </p:txBody>
      </p:sp>
      <p:sp>
        <p:nvSpPr>
          <p:cNvPr id="63" name="Rectangle 63"/>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2892504"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伪标签训练结果分析</a:t>
            </a:r>
          </a:p>
        </p:txBody>
      </p:sp>
      <p:sp>
        <p:nvSpPr>
          <p:cNvPr id="5" name="Rectangle 5"/>
          <p:cNvSpPr/>
          <p:nvPr/>
        </p:nvSpPr>
        <p:spPr>
          <a:xfrm>
            <a:off x="571500" y="952500"/>
            <a:ext cx="11049000" cy="9525"/>
          </a:xfrm>
          <a:prstGeom prst="rect">
            <a:avLst/>
          </a:prstGeom>
          <a:solidFill>
            <a:srgbClr val="E5E7EB"/>
          </a:solidFill>
          <a:ln>
            <a:noFill/>
          </a:ln>
        </p:spPr>
      </p:sp>
      <p:pic>
        <p:nvPicPr>
          <p:cNvPr id="6" name="Image 6"/>
          <p:cNvPicPr>
            <a:picLocks noChangeAspect="1"/>
          </p:cNvPicPr>
          <p:nvPr/>
        </p:nvPicPr>
        <p:blipFill>
          <a:blip r:embed="rId3"/>
          <a:stretch>
            <a:fillRect/>
          </a:stretch>
        </p:blipFill>
        <p:spPr>
          <a:xfrm>
            <a:off x="583662" y="1095375"/>
            <a:ext cx="6643176" cy="4953000"/>
          </a:xfrm>
          <a:prstGeom prst="rect">
            <a:avLst/>
          </a:prstGeom>
        </p:spPr>
      </p:pic>
      <p:sp>
        <p:nvSpPr>
          <p:cNvPr id="7" name="TextBox 7"/>
          <p:cNvSpPr txBox="1"/>
          <p:nvPr/>
        </p:nvSpPr>
        <p:spPr>
          <a:xfrm>
            <a:off x="7507605" y="1187768"/>
            <a:ext cx="1168432" cy="274320"/>
          </a:xfrm>
          <a:prstGeom prst="rect">
            <a:avLst/>
          </a:prstGeom>
          <a:noFill/>
          <a:ln>
            <a:noFill/>
          </a:ln>
        </p:spPr>
        <p:txBody>
          <a:bodyPr wrap="none" lIns="0" tIns="0" rIns="0" bIns="0" anchor="t" anchorCtr="0">
            <a:spAutoFit/>
          </a:bodyPr>
          <a:lstStyle/>
          <a:p>
            <a:pPr algn="l"/>
            <a:r>
              <a:rPr lang="zh-CN" sz="1350" b="1" dirty="0">
                <a:solidFill>
                  <a:srgbClr val="1D1D1F"/>
                </a:solidFill>
                <a:latin typeface="Arial"/>
                <a:ea typeface="Microsoft YaHei"/>
                <a:cs typeface="Arial"/>
              </a:rPr>
              <a:t>测试集准确率</a:t>
            </a:r>
          </a:p>
        </p:txBody>
      </p:sp>
      <p:sp>
        <p:nvSpPr>
          <p:cNvPr id="8" name="Rectangle 8"/>
          <p:cNvSpPr/>
          <p:nvPr/>
        </p:nvSpPr>
        <p:spPr>
          <a:xfrm>
            <a:off x="7524750" y="1524000"/>
            <a:ext cx="4095750" cy="1905000"/>
          </a:xfrm>
          <a:prstGeom prst="rect">
            <a:avLst/>
          </a:prstGeom>
          <a:solidFill>
            <a:srgbClr val="F8FAFC"/>
          </a:solidFill>
          <a:ln>
            <a:noFill/>
          </a:ln>
        </p:spPr>
      </p:sp>
      <p:sp>
        <p:nvSpPr>
          <p:cNvPr id="9" name="Rectangle 9"/>
          <p:cNvSpPr/>
          <p:nvPr/>
        </p:nvSpPr>
        <p:spPr>
          <a:xfrm>
            <a:off x="7524750" y="1524000"/>
            <a:ext cx="1905000" cy="333375"/>
          </a:xfrm>
          <a:prstGeom prst="rect">
            <a:avLst/>
          </a:prstGeom>
          <a:solidFill>
            <a:srgbClr val="1565C0"/>
          </a:solidFill>
          <a:ln>
            <a:noFill/>
          </a:ln>
        </p:spPr>
      </p:sp>
      <p:sp>
        <p:nvSpPr>
          <p:cNvPr id="10" name="TextBox 10"/>
          <p:cNvSpPr txBox="1"/>
          <p:nvPr/>
        </p:nvSpPr>
        <p:spPr>
          <a:xfrm>
            <a:off x="8169878" y="162972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训练阶段</a:t>
            </a:r>
          </a:p>
        </p:txBody>
      </p:sp>
      <p:sp>
        <p:nvSpPr>
          <p:cNvPr id="11" name="Rectangle 11"/>
          <p:cNvSpPr/>
          <p:nvPr/>
        </p:nvSpPr>
        <p:spPr>
          <a:xfrm>
            <a:off x="9429750" y="1524000"/>
            <a:ext cx="2190750" cy="333375"/>
          </a:xfrm>
          <a:prstGeom prst="rect">
            <a:avLst/>
          </a:prstGeom>
          <a:solidFill>
            <a:srgbClr val="1565C0"/>
          </a:solidFill>
          <a:ln>
            <a:noFill/>
          </a:ln>
        </p:spPr>
      </p:sp>
      <p:sp>
        <p:nvSpPr>
          <p:cNvPr id="12" name="TextBox 12"/>
          <p:cNvSpPr txBox="1"/>
          <p:nvPr/>
        </p:nvSpPr>
        <p:spPr>
          <a:xfrm>
            <a:off x="10291262" y="1629728"/>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准确率</a:t>
            </a:r>
          </a:p>
        </p:txBody>
      </p:sp>
      <p:sp>
        <p:nvSpPr>
          <p:cNvPr id="13" name="Rectangle 13"/>
          <p:cNvSpPr/>
          <p:nvPr/>
        </p:nvSpPr>
        <p:spPr>
          <a:xfrm>
            <a:off x="7524750" y="1857375"/>
            <a:ext cx="1905000" cy="333375"/>
          </a:xfrm>
          <a:prstGeom prst="rect">
            <a:avLst/>
          </a:prstGeom>
          <a:solidFill>
            <a:srgbClr val="FFFFFF"/>
          </a:solidFill>
          <a:ln>
            <a:noFill/>
          </a:ln>
        </p:spPr>
      </p:sp>
      <p:sp>
        <p:nvSpPr>
          <p:cNvPr id="14" name="TextBox 14"/>
          <p:cNvSpPr txBox="1"/>
          <p:nvPr/>
        </p:nvSpPr>
        <p:spPr>
          <a:xfrm>
            <a:off x="7702868" y="1961674"/>
            <a:ext cx="54483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基线模型</a:t>
            </a:r>
          </a:p>
        </p:txBody>
      </p:sp>
      <p:sp>
        <p:nvSpPr>
          <p:cNvPr id="15" name="Rectangle 15"/>
          <p:cNvSpPr/>
          <p:nvPr/>
        </p:nvSpPr>
        <p:spPr>
          <a:xfrm>
            <a:off x="9429750" y="1857375"/>
            <a:ext cx="2190750" cy="333375"/>
          </a:xfrm>
          <a:prstGeom prst="rect">
            <a:avLst/>
          </a:prstGeom>
          <a:solidFill>
            <a:srgbClr val="FFFFFF"/>
          </a:solidFill>
          <a:ln>
            <a:noFill/>
          </a:ln>
        </p:spPr>
      </p:sp>
      <p:sp>
        <p:nvSpPr>
          <p:cNvPr id="16" name="TextBox 16"/>
          <p:cNvSpPr txBox="1"/>
          <p:nvPr/>
        </p:nvSpPr>
        <p:spPr>
          <a:xfrm>
            <a:off x="9607868" y="1961674"/>
            <a:ext cx="479822" cy="198120"/>
          </a:xfrm>
          <a:prstGeom prst="rect">
            <a:avLst/>
          </a:prstGeom>
          <a:noFill/>
          <a:ln>
            <a:noFill/>
          </a:ln>
        </p:spPr>
        <p:txBody>
          <a:bodyPr wrap="none" lIns="0" tIns="0" rIns="0" bIns="0" anchor="t" anchorCtr="0">
            <a:spAutoFit/>
          </a:bodyPr>
          <a:lstStyle/>
          <a:p>
            <a:pPr algn="l"/>
            <a:r>
              <a:rPr lang="zh-CN" sz="975" dirty="0">
                <a:solidFill>
                  <a:srgbClr val="1D1D1F"/>
                </a:solidFill>
                <a:latin typeface="Arial"/>
                <a:ea typeface="Microsoft YaHei"/>
                <a:cs typeface="Arial"/>
              </a:rPr>
              <a:t>88.47%</a:t>
            </a:r>
          </a:p>
        </p:txBody>
      </p:sp>
      <p:sp>
        <p:nvSpPr>
          <p:cNvPr id="17" name="Rectangle 17"/>
          <p:cNvSpPr/>
          <p:nvPr/>
        </p:nvSpPr>
        <p:spPr>
          <a:xfrm>
            <a:off x="7524750" y="2190750"/>
            <a:ext cx="1905000" cy="333375"/>
          </a:xfrm>
          <a:prstGeom prst="rect">
            <a:avLst/>
          </a:prstGeom>
          <a:solidFill>
            <a:srgbClr val="F3F4F6"/>
          </a:solidFill>
          <a:ln>
            <a:noFill/>
          </a:ln>
        </p:spPr>
      </p:sp>
      <p:sp>
        <p:nvSpPr>
          <p:cNvPr id="18" name="TextBox 18"/>
          <p:cNvSpPr txBox="1"/>
          <p:nvPr/>
        </p:nvSpPr>
        <p:spPr>
          <a:xfrm>
            <a:off x="7702868" y="2295049"/>
            <a:ext cx="80486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第一轮伪标签</a:t>
            </a:r>
          </a:p>
        </p:txBody>
      </p:sp>
      <p:sp>
        <p:nvSpPr>
          <p:cNvPr id="19" name="Rectangle 19"/>
          <p:cNvSpPr/>
          <p:nvPr/>
        </p:nvSpPr>
        <p:spPr>
          <a:xfrm>
            <a:off x="9429750" y="2190750"/>
            <a:ext cx="2190750" cy="333375"/>
          </a:xfrm>
          <a:prstGeom prst="rect">
            <a:avLst/>
          </a:prstGeom>
          <a:solidFill>
            <a:srgbClr val="F3F4F6"/>
          </a:solidFill>
          <a:ln>
            <a:noFill/>
          </a:ln>
        </p:spPr>
      </p:sp>
      <p:sp>
        <p:nvSpPr>
          <p:cNvPr id="20" name="TextBox 20"/>
          <p:cNvSpPr txBox="1"/>
          <p:nvPr/>
        </p:nvSpPr>
        <p:spPr>
          <a:xfrm>
            <a:off x="9607868" y="2295049"/>
            <a:ext cx="502575" cy="198120"/>
          </a:xfrm>
          <a:prstGeom prst="rect">
            <a:avLst/>
          </a:prstGeom>
          <a:noFill/>
          <a:ln>
            <a:noFill/>
          </a:ln>
        </p:spPr>
        <p:txBody>
          <a:bodyPr wrap="none" lIns="0" tIns="0" rIns="0" bIns="0" anchor="t" anchorCtr="0">
            <a:spAutoFit/>
          </a:bodyPr>
          <a:lstStyle/>
          <a:p>
            <a:pPr algn="l"/>
            <a:r>
              <a:rPr lang="zh-CN" sz="975" b="1" dirty="0">
                <a:solidFill>
                  <a:srgbClr val="1565C0"/>
                </a:solidFill>
                <a:latin typeface="Arial"/>
                <a:ea typeface="Microsoft YaHei"/>
                <a:cs typeface="Arial"/>
              </a:rPr>
              <a:t>89.98%</a:t>
            </a:r>
          </a:p>
        </p:txBody>
      </p:sp>
      <p:sp>
        <p:nvSpPr>
          <p:cNvPr id="21" name="Rectangle 21"/>
          <p:cNvSpPr/>
          <p:nvPr/>
        </p:nvSpPr>
        <p:spPr>
          <a:xfrm>
            <a:off x="7524750" y="2524125"/>
            <a:ext cx="1905000" cy="333375"/>
          </a:xfrm>
          <a:prstGeom prst="rect">
            <a:avLst/>
          </a:prstGeom>
          <a:solidFill>
            <a:srgbClr val="FFFFFF"/>
          </a:solidFill>
          <a:ln>
            <a:noFill/>
          </a:ln>
        </p:spPr>
      </p:sp>
      <p:sp>
        <p:nvSpPr>
          <p:cNvPr id="22" name="TextBox 22"/>
          <p:cNvSpPr txBox="1"/>
          <p:nvPr/>
        </p:nvSpPr>
        <p:spPr>
          <a:xfrm>
            <a:off x="7702868" y="2628424"/>
            <a:ext cx="80486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第二轮伪标签</a:t>
            </a:r>
          </a:p>
        </p:txBody>
      </p:sp>
      <p:sp>
        <p:nvSpPr>
          <p:cNvPr id="23" name="Rectangle 23"/>
          <p:cNvSpPr/>
          <p:nvPr/>
        </p:nvSpPr>
        <p:spPr>
          <a:xfrm>
            <a:off x="9429750" y="2524125"/>
            <a:ext cx="2190750" cy="333375"/>
          </a:xfrm>
          <a:prstGeom prst="rect">
            <a:avLst/>
          </a:prstGeom>
          <a:solidFill>
            <a:srgbClr val="FFFFFF"/>
          </a:solidFill>
          <a:ln>
            <a:noFill/>
          </a:ln>
        </p:spPr>
      </p:sp>
      <p:sp>
        <p:nvSpPr>
          <p:cNvPr id="24" name="TextBox 24"/>
          <p:cNvSpPr txBox="1"/>
          <p:nvPr/>
        </p:nvSpPr>
        <p:spPr>
          <a:xfrm>
            <a:off x="9607868" y="2628424"/>
            <a:ext cx="652743"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90.0012%</a:t>
            </a:r>
          </a:p>
        </p:txBody>
      </p:sp>
      <p:sp>
        <p:nvSpPr>
          <p:cNvPr id="25" name="Rectangle 25"/>
          <p:cNvSpPr/>
          <p:nvPr/>
        </p:nvSpPr>
        <p:spPr>
          <a:xfrm>
            <a:off x="7524750" y="2857500"/>
            <a:ext cx="1905000" cy="333375"/>
          </a:xfrm>
          <a:prstGeom prst="rect">
            <a:avLst/>
          </a:prstGeom>
          <a:solidFill>
            <a:srgbClr val="F3F4F6"/>
          </a:solidFill>
          <a:ln>
            <a:noFill/>
          </a:ln>
        </p:spPr>
      </p:sp>
      <p:sp>
        <p:nvSpPr>
          <p:cNvPr id="26" name="TextBox 26"/>
          <p:cNvSpPr txBox="1"/>
          <p:nvPr/>
        </p:nvSpPr>
        <p:spPr>
          <a:xfrm>
            <a:off x="7702868" y="2961799"/>
            <a:ext cx="414814"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总提升</a:t>
            </a:r>
          </a:p>
        </p:txBody>
      </p:sp>
      <p:sp>
        <p:nvSpPr>
          <p:cNvPr id="27" name="Rectangle 27"/>
          <p:cNvSpPr/>
          <p:nvPr/>
        </p:nvSpPr>
        <p:spPr>
          <a:xfrm>
            <a:off x="9429750" y="2857500"/>
            <a:ext cx="2190750" cy="333375"/>
          </a:xfrm>
          <a:prstGeom prst="rect">
            <a:avLst/>
          </a:prstGeom>
          <a:solidFill>
            <a:srgbClr val="F3F4F6"/>
          </a:solidFill>
          <a:ln>
            <a:noFill/>
          </a:ln>
        </p:spPr>
      </p:sp>
      <p:sp>
        <p:nvSpPr>
          <p:cNvPr id="28" name="TextBox 28"/>
          <p:cNvSpPr txBox="1"/>
          <p:nvPr/>
        </p:nvSpPr>
        <p:spPr>
          <a:xfrm>
            <a:off x="9607868" y="2961799"/>
            <a:ext cx="502575"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+1.53%</a:t>
            </a:r>
          </a:p>
        </p:txBody>
      </p:sp>
      <p:sp>
        <p:nvSpPr>
          <p:cNvPr id="29" name="TextBox 29"/>
          <p:cNvSpPr txBox="1"/>
          <p:nvPr/>
        </p:nvSpPr>
        <p:spPr>
          <a:xfrm>
            <a:off x="7510462" y="3593306"/>
            <a:ext cx="973693"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提升幅度对比</a:t>
            </a:r>
          </a:p>
        </p:txBody>
      </p:sp>
      <p:sp>
        <p:nvSpPr>
          <p:cNvPr id="30" name="TextBox 30"/>
          <p:cNvSpPr txBox="1"/>
          <p:nvPr/>
        </p:nvSpPr>
        <p:spPr>
          <a:xfrm>
            <a:off x="7513320" y="3903345"/>
            <a:ext cx="62293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第一轮贡献</a:t>
            </a:r>
          </a:p>
        </p:txBody>
      </p:sp>
      <p:sp>
        <p:nvSpPr>
          <p:cNvPr id="31" name="Rectangle 31"/>
          <p:cNvSpPr/>
          <p:nvPr/>
        </p:nvSpPr>
        <p:spPr>
          <a:xfrm>
            <a:off x="7524750" y="4076700"/>
            <a:ext cx="1905000" cy="171450"/>
          </a:xfrm>
          <a:prstGeom prst="rect">
            <a:avLst/>
          </a:prstGeom>
          <a:solidFill>
            <a:srgbClr val="E3F2FD"/>
          </a:solidFill>
          <a:ln>
            <a:noFill/>
          </a:ln>
        </p:spPr>
      </p:sp>
      <p:sp>
        <p:nvSpPr>
          <p:cNvPr id="32" name="Rectangle 32"/>
          <p:cNvSpPr/>
          <p:nvPr/>
        </p:nvSpPr>
        <p:spPr>
          <a:xfrm>
            <a:off x="7524750" y="4076700"/>
            <a:ext cx="1905000" cy="171450"/>
          </a:xfrm>
          <a:prstGeom prst="rect">
            <a:avLst/>
          </a:prstGeom>
          <a:solidFill>
            <a:srgbClr val="1565C0"/>
          </a:solidFill>
          <a:ln>
            <a:noFill/>
          </a:ln>
        </p:spPr>
      </p:sp>
      <p:sp>
        <p:nvSpPr>
          <p:cNvPr id="33" name="TextBox 33"/>
          <p:cNvSpPr txBox="1"/>
          <p:nvPr/>
        </p:nvSpPr>
        <p:spPr>
          <a:xfrm>
            <a:off x="9513570" y="4112895"/>
            <a:ext cx="463915" cy="182880"/>
          </a:xfrm>
          <a:prstGeom prst="rect">
            <a:avLst/>
          </a:prstGeom>
          <a:noFill/>
          <a:ln>
            <a:noFill/>
          </a:ln>
        </p:spPr>
        <p:txBody>
          <a:bodyPr wrap="none" lIns="0" tIns="0" rIns="0" bIns="0" anchor="t" anchorCtr="0">
            <a:spAutoFit/>
          </a:bodyPr>
          <a:lstStyle/>
          <a:p>
            <a:pPr algn="l"/>
            <a:r>
              <a:rPr lang="zh-CN" sz="900" b="1" dirty="0">
                <a:solidFill>
                  <a:srgbClr val="1565C0"/>
                </a:solidFill>
                <a:latin typeface="Arial"/>
                <a:ea typeface="Microsoft YaHei"/>
                <a:cs typeface="Arial"/>
              </a:rPr>
              <a:t>+1.51%</a:t>
            </a:r>
          </a:p>
        </p:txBody>
      </p:sp>
      <p:sp>
        <p:nvSpPr>
          <p:cNvPr id="34" name="TextBox 34"/>
          <p:cNvSpPr txBox="1"/>
          <p:nvPr/>
        </p:nvSpPr>
        <p:spPr>
          <a:xfrm>
            <a:off x="7513320" y="4341495"/>
            <a:ext cx="62293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第二轮贡献</a:t>
            </a:r>
          </a:p>
        </p:txBody>
      </p:sp>
      <p:sp>
        <p:nvSpPr>
          <p:cNvPr id="35" name="Rectangle 35"/>
          <p:cNvSpPr/>
          <p:nvPr/>
        </p:nvSpPr>
        <p:spPr>
          <a:xfrm>
            <a:off x="7524750" y="4514850"/>
            <a:ext cx="1905000" cy="171450"/>
          </a:xfrm>
          <a:prstGeom prst="rect">
            <a:avLst/>
          </a:prstGeom>
          <a:solidFill>
            <a:srgbClr val="E8F5E9"/>
          </a:solidFill>
          <a:ln>
            <a:noFill/>
          </a:ln>
        </p:spPr>
      </p:sp>
      <p:sp>
        <p:nvSpPr>
          <p:cNvPr id="36" name="Rectangle 36"/>
          <p:cNvSpPr/>
          <p:nvPr/>
        </p:nvSpPr>
        <p:spPr>
          <a:xfrm>
            <a:off x="7524750" y="4514850"/>
            <a:ext cx="28575" cy="171450"/>
          </a:xfrm>
          <a:prstGeom prst="rect">
            <a:avLst/>
          </a:prstGeom>
          <a:solidFill>
            <a:srgbClr val="2E7D32"/>
          </a:solidFill>
          <a:ln>
            <a:noFill/>
          </a:ln>
        </p:spPr>
      </p:sp>
      <p:sp>
        <p:nvSpPr>
          <p:cNvPr id="37" name="TextBox 37"/>
          <p:cNvSpPr txBox="1"/>
          <p:nvPr/>
        </p:nvSpPr>
        <p:spPr>
          <a:xfrm>
            <a:off x="9513570" y="4551045"/>
            <a:ext cx="463915" cy="182880"/>
          </a:xfrm>
          <a:prstGeom prst="rect">
            <a:avLst/>
          </a:prstGeom>
          <a:noFill/>
          <a:ln>
            <a:noFill/>
          </a:ln>
        </p:spPr>
        <p:txBody>
          <a:bodyPr wrap="none" lIns="0" tIns="0" rIns="0" bIns="0" anchor="t" anchorCtr="0">
            <a:spAutoFit/>
          </a:bodyPr>
          <a:lstStyle/>
          <a:p>
            <a:pPr algn="l"/>
            <a:r>
              <a:rPr lang="zh-CN" sz="900" b="1" dirty="0">
                <a:solidFill>
                  <a:srgbClr val="2E7D32"/>
                </a:solidFill>
                <a:latin typeface="Arial"/>
                <a:ea typeface="Microsoft YaHei"/>
                <a:cs typeface="Arial"/>
              </a:rPr>
              <a:t>+0.02%</a:t>
            </a:r>
          </a:p>
        </p:txBody>
      </p:sp>
      <p:sp>
        <p:nvSpPr>
          <p:cNvPr id="38" name="Rectangle 38"/>
          <p:cNvSpPr/>
          <p:nvPr/>
        </p:nvSpPr>
        <p:spPr>
          <a:xfrm>
            <a:off x="7524750" y="4857750"/>
            <a:ext cx="4095750" cy="714375"/>
          </a:xfrm>
          <a:prstGeom prst="rect">
            <a:avLst/>
          </a:prstGeom>
          <a:solidFill>
            <a:srgbClr val="FFF3E0"/>
          </a:solidFill>
          <a:ln>
            <a:noFill/>
          </a:ln>
        </p:spPr>
      </p:sp>
      <p:sp>
        <p:nvSpPr>
          <p:cNvPr id="39" name="Rectangle 39"/>
          <p:cNvSpPr/>
          <p:nvPr/>
        </p:nvSpPr>
        <p:spPr>
          <a:xfrm>
            <a:off x="7524750" y="4857750"/>
            <a:ext cx="38100" cy="714375"/>
          </a:xfrm>
          <a:prstGeom prst="rect">
            <a:avLst/>
          </a:prstGeom>
          <a:solidFill>
            <a:srgbClr val="FF6F00"/>
          </a:solidFill>
          <a:ln>
            <a:noFill/>
          </a:ln>
        </p:spPr>
      </p:sp>
      <p:sp>
        <p:nvSpPr>
          <p:cNvPr id="40" name="TextBox 40"/>
          <p:cNvSpPr txBox="1"/>
          <p:nvPr/>
        </p:nvSpPr>
        <p:spPr>
          <a:xfrm>
            <a:off x="7683818" y="4971574"/>
            <a:ext cx="843867" cy="198120"/>
          </a:xfrm>
          <a:prstGeom prst="rect">
            <a:avLst/>
          </a:prstGeom>
          <a:noFill/>
          <a:ln>
            <a:noFill/>
          </a:ln>
        </p:spPr>
        <p:txBody>
          <a:bodyPr wrap="none" lIns="0" tIns="0" rIns="0" bIns="0" anchor="t" anchorCtr="0">
            <a:spAutoFit/>
          </a:bodyPr>
          <a:lstStyle/>
          <a:p>
            <a:pPr algn="l"/>
            <a:r>
              <a:rPr lang="zh-CN" sz="975" b="1" dirty="0">
                <a:solidFill>
                  <a:srgbClr val="1D1D1F"/>
                </a:solidFill>
                <a:latin typeface="Arial"/>
                <a:ea typeface="Microsoft YaHei"/>
                <a:cs typeface="Arial"/>
              </a:rPr>
              <a:t>边际效益递减</a:t>
            </a:r>
          </a:p>
        </p:txBody>
      </p:sp>
      <p:sp>
        <p:nvSpPr>
          <p:cNvPr id="41" name="TextBox 41"/>
          <p:cNvSpPr txBox="1"/>
          <p:nvPr/>
        </p:nvSpPr>
        <p:spPr>
          <a:xfrm>
            <a:off x="7684770" y="5189220"/>
            <a:ext cx="291522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第一轮显著提升源于弥合分布差异（测试集中"留学"、</a:t>
            </a:r>
          </a:p>
        </p:txBody>
      </p:sp>
      <p:sp>
        <p:nvSpPr>
          <p:cNvPr id="42" name="TextBox 42"/>
          <p:cNvSpPr txBox="1"/>
          <p:nvPr/>
        </p:nvSpPr>
        <p:spPr>
          <a:xfrm>
            <a:off x="7684770" y="5360670"/>
            <a:ext cx="220713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"佳能"、"索尼"等词频率远高于训练集）</a:t>
            </a:r>
          </a:p>
        </p:txBody>
      </p:sp>
      <p:sp>
        <p:nvSpPr>
          <p:cNvPr id="43" name="Rectangle 43"/>
          <p:cNvSpPr/>
          <p:nvPr/>
        </p:nvSpPr>
        <p:spPr>
          <a:xfrm>
            <a:off x="571500" y="6238875"/>
            <a:ext cx="11049000" cy="285750"/>
          </a:xfrm>
          <a:prstGeom prst="rect">
            <a:avLst/>
          </a:prstGeom>
          <a:solidFill>
            <a:srgbClr val="1565C0"/>
          </a:solidFill>
          <a:ln>
            <a:noFill/>
          </a:ln>
        </p:spPr>
      </p:sp>
      <p:sp>
        <p:nvSpPr>
          <p:cNvPr id="44" name="TextBox 44"/>
          <p:cNvSpPr txBox="1"/>
          <p:nvPr/>
        </p:nvSpPr>
        <p:spPr>
          <a:xfrm>
            <a:off x="2932271" y="6316028"/>
            <a:ext cx="6327458"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伪标签训练有效弥合了训练集与测试集之间的分布差异，验证了半监督学习在分布偏移场景下的有效性</a:t>
            </a:r>
          </a:p>
        </p:txBody>
      </p:sp>
      <p:sp>
        <p:nvSpPr>
          <p:cNvPr id="45" name="Rectangle 45"/>
          <p:cNvSpPr/>
          <p:nvPr/>
        </p:nvSpPr>
        <p:spPr>
          <a:xfrm>
            <a:off x="571500" y="6619875"/>
            <a:ext cx="11049000" cy="9525"/>
          </a:xfrm>
          <a:prstGeom prst="rect">
            <a:avLst/>
          </a:prstGeom>
          <a:solidFill>
            <a:srgbClr val="E5E7EB"/>
          </a:solidFill>
          <a:ln>
            <a:noFill/>
          </a:ln>
        </p:spPr>
      </p:sp>
      <p:sp>
        <p:nvSpPr>
          <p:cNvPr id="46" name="TextBox 46"/>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10</a:t>
            </a:r>
          </a:p>
        </p:txBody>
      </p:sp>
      <p:sp>
        <p:nvSpPr>
          <p:cNvPr id="47" name="Rectangle 47"/>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571500" y="476250"/>
            <a:ext cx="571500" cy="28575"/>
          </a:xfrm>
          <a:prstGeom prst="rect">
            <a:avLst/>
          </a:prstGeom>
          <a:solidFill>
            <a:srgbClr val="FF6F00"/>
          </a:solidFill>
          <a:ln>
            <a:noFill/>
          </a:ln>
        </p:spPr>
      </p:sp>
      <p:sp>
        <p:nvSpPr>
          <p:cNvPr id="4" name="TextBox 4"/>
          <p:cNvSpPr txBox="1"/>
          <p:nvPr/>
        </p:nvSpPr>
        <p:spPr>
          <a:xfrm>
            <a:off x="542925" y="566738"/>
            <a:ext cx="2892504" cy="457200"/>
          </a:xfrm>
          <a:prstGeom prst="rect">
            <a:avLst/>
          </a:prstGeom>
          <a:noFill/>
          <a:ln>
            <a:noFill/>
          </a:ln>
        </p:spPr>
        <p:txBody>
          <a:bodyPr wrap="none" lIns="0" tIns="0" rIns="0" bIns="0" anchor="t" anchorCtr="0">
            <a:spAutoFit/>
          </a:bodyPr>
          <a:lstStyle/>
          <a:p>
            <a:pPr algn="l"/>
            <a:r>
              <a:rPr lang="zh-CN" sz="2250" b="1" dirty="0">
                <a:solidFill>
                  <a:srgbClr val="1D1D1F"/>
                </a:solidFill>
                <a:latin typeface="Arial"/>
                <a:ea typeface="Microsoft YaHei"/>
                <a:cs typeface="Arial"/>
              </a:rPr>
              <a:t>伪标签混淆矩阵分析</a:t>
            </a:r>
          </a:p>
        </p:txBody>
      </p:sp>
      <p:sp>
        <p:nvSpPr>
          <p:cNvPr id="5" name="Rectangle 5"/>
          <p:cNvSpPr/>
          <p:nvPr/>
        </p:nvSpPr>
        <p:spPr>
          <a:xfrm>
            <a:off x="571500" y="952500"/>
            <a:ext cx="11049000" cy="9525"/>
          </a:xfrm>
          <a:prstGeom prst="rect">
            <a:avLst/>
          </a:prstGeom>
          <a:solidFill>
            <a:srgbClr val="E5E7EB"/>
          </a:solidFill>
          <a:ln>
            <a:noFill/>
          </a:ln>
        </p:spPr>
      </p:sp>
      <p:pic>
        <p:nvPicPr>
          <p:cNvPr id="6" name="Image 6"/>
          <p:cNvPicPr>
            <a:picLocks noChangeAspect="1"/>
          </p:cNvPicPr>
          <p:nvPr/>
        </p:nvPicPr>
        <p:blipFill>
          <a:blip r:embed="rId3"/>
          <a:stretch>
            <a:fillRect/>
          </a:stretch>
        </p:blipFill>
        <p:spPr>
          <a:xfrm>
            <a:off x="571500" y="1310791"/>
            <a:ext cx="4572000" cy="4141168"/>
          </a:xfrm>
          <a:prstGeom prst="rect">
            <a:avLst/>
          </a:prstGeom>
        </p:spPr>
      </p:pic>
      <p:sp>
        <p:nvSpPr>
          <p:cNvPr id="7" name="TextBox 7"/>
          <p:cNvSpPr txBox="1"/>
          <p:nvPr/>
        </p:nvSpPr>
        <p:spPr>
          <a:xfrm>
            <a:off x="5412105" y="1187768"/>
            <a:ext cx="1168432" cy="274320"/>
          </a:xfrm>
          <a:prstGeom prst="rect">
            <a:avLst/>
          </a:prstGeom>
          <a:noFill/>
          <a:ln>
            <a:noFill/>
          </a:ln>
        </p:spPr>
        <p:txBody>
          <a:bodyPr wrap="none" lIns="0" tIns="0" rIns="0" bIns="0" anchor="t" anchorCtr="0">
            <a:spAutoFit/>
          </a:bodyPr>
          <a:lstStyle/>
          <a:p>
            <a:pPr algn="l"/>
            <a:r>
              <a:rPr lang="zh-CN" sz="1350" b="1" dirty="0">
                <a:solidFill>
                  <a:srgbClr val="1D1D1F"/>
                </a:solidFill>
                <a:latin typeface="Arial"/>
                <a:ea typeface="Microsoft YaHei"/>
                <a:cs typeface="Arial"/>
              </a:rPr>
              <a:t>整体提升对比</a:t>
            </a:r>
          </a:p>
        </p:txBody>
      </p:sp>
      <p:sp>
        <p:nvSpPr>
          <p:cNvPr id="8" name="Rectangle 8"/>
          <p:cNvSpPr/>
          <p:nvPr/>
        </p:nvSpPr>
        <p:spPr>
          <a:xfrm>
            <a:off x="5429250" y="1524000"/>
            <a:ext cx="2952750" cy="523875"/>
          </a:xfrm>
          <a:prstGeom prst="rect">
            <a:avLst/>
          </a:prstGeom>
          <a:solidFill>
            <a:srgbClr val="F8FAFC"/>
          </a:solidFill>
          <a:ln>
            <a:noFill/>
          </a:ln>
        </p:spPr>
      </p:sp>
      <p:sp>
        <p:nvSpPr>
          <p:cNvPr id="9" name="Rectangle 9"/>
          <p:cNvSpPr/>
          <p:nvPr/>
        </p:nvSpPr>
        <p:spPr>
          <a:xfrm>
            <a:off x="5429250" y="1524000"/>
            <a:ext cx="38100" cy="523875"/>
          </a:xfrm>
          <a:prstGeom prst="rect">
            <a:avLst/>
          </a:prstGeom>
          <a:solidFill>
            <a:srgbClr val="1565C0"/>
          </a:solidFill>
          <a:ln>
            <a:noFill/>
          </a:ln>
        </p:spPr>
      </p:sp>
      <p:sp>
        <p:nvSpPr>
          <p:cNvPr id="10" name="TextBox 10"/>
          <p:cNvSpPr txBox="1"/>
          <p:nvPr/>
        </p:nvSpPr>
        <p:spPr>
          <a:xfrm>
            <a:off x="5607368" y="1637824"/>
            <a:ext cx="1415939"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单模型验证集 Accuracy</a:t>
            </a:r>
          </a:p>
        </p:txBody>
      </p:sp>
      <p:sp>
        <p:nvSpPr>
          <p:cNvPr id="11" name="TextBox 11"/>
          <p:cNvSpPr txBox="1"/>
          <p:nvPr/>
        </p:nvSpPr>
        <p:spPr>
          <a:xfrm>
            <a:off x="5605462" y="1812131"/>
            <a:ext cx="579894" cy="228600"/>
          </a:xfrm>
          <a:prstGeom prst="rect">
            <a:avLst/>
          </a:prstGeom>
          <a:noFill/>
          <a:ln>
            <a:noFill/>
          </a:ln>
        </p:spPr>
        <p:txBody>
          <a:bodyPr wrap="none" lIns="0" tIns="0" rIns="0" bIns="0" anchor="t" anchorCtr="0">
            <a:spAutoFit/>
          </a:bodyPr>
          <a:lstStyle/>
          <a:p>
            <a:pPr algn="l"/>
            <a:r>
              <a:rPr lang="zh-CN" sz="1125" b="1" dirty="0">
                <a:solidFill>
                  <a:srgbClr val="1D1D1F"/>
                </a:solidFill>
                <a:latin typeface="Arial"/>
                <a:ea typeface="Microsoft YaHei"/>
                <a:cs typeface="Arial"/>
              </a:rPr>
              <a:t>95.72%</a:t>
            </a:r>
          </a:p>
        </p:txBody>
      </p:sp>
      <p:sp>
        <p:nvSpPr>
          <p:cNvPr id="12" name="Rectangle 12"/>
          <p:cNvSpPr/>
          <p:nvPr/>
        </p:nvSpPr>
        <p:spPr>
          <a:xfrm>
            <a:off x="5429250" y="2143125"/>
            <a:ext cx="2952750" cy="523875"/>
          </a:xfrm>
          <a:prstGeom prst="rect">
            <a:avLst/>
          </a:prstGeom>
          <a:solidFill>
            <a:srgbClr val="E8F5E9"/>
          </a:solidFill>
          <a:ln>
            <a:noFill/>
          </a:ln>
        </p:spPr>
      </p:sp>
      <p:sp>
        <p:nvSpPr>
          <p:cNvPr id="13" name="Rectangle 13"/>
          <p:cNvSpPr/>
          <p:nvPr/>
        </p:nvSpPr>
        <p:spPr>
          <a:xfrm>
            <a:off x="5429250" y="2143125"/>
            <a:ext cx="38100" cy="523875"/>
          </a:xfrm>
          <a:prstGeom prst="rect">
            <a:avLst/>
          </a:prstGeom>
          <a:solidFill>
            <a:srgbClr val="2E7D32"/>
          </a:solidFill>
          <a:ln>
            <a:noFill/>
          </a:ln>
        </p:spPr>
      </p:sp>
      <p:sp>
        <p:nvSpPr>
          <p:cNvPr id="14" name="TextBox 14"/>
          <p:cNvSpPr txBox="1"/>
          <p:nvPr/>
        </p:nvSpPr>
        <p:spPr>
          <a:xfrm>
            <a:off x="5607368" y="2256949"/>
            <a:ext cx="154595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伪标签后验证集 Accuracy</a:t>
            </a:r>
          </a:p>
        </p:txBody>
      </p:sp>
      <p:sp>
        <p:nvSpPr>
          <p:cNvPr id="15" name="TextBox 15"/>
          <p:cNvSpPr txBox="1"/>
          <p:nvPr/>
        </p:nvSpPr>
        <p:spPr>
          <a:xfrm>
            <a:off x="5605462" y="2431256"/>
            <a:ext cx="1351740"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96.12% </a:t>
            </a:r>
            <a:r>
              <a:rPr lang="zh-CN" sz="1125" dirty="0">
                <a:solidFill>
                  <a:srgbClr val="6B7280"/>
                </a:solidFill>
                <a:latin typeface="Arial"/>
                <a:ea typeface="Microsoft YaHei"/>
                <a:cs typeface="Arial"/>
              </a:rPr>
              <a:t>(+0.40%)</a:t>
            </a:r>
          </a:p>
        </p:txBody>
      </p:sp>
      <p:sp>
        <p:nvSpPr>
          <p:cNvPr id="16" name="TextBox 16"/>
          <p:cNvSpPr txBox="1"/>
          <p:nvPr/>
        </p:nvSpPr>
        <p:spPr>
          <a:xfrm>
            <a:off x="5414010" y="2823210"/>
            <a:ext cx="1374648"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各类别准确率提升</a:t>
            </a:r>
          </a:p>
        </p:txBody>
      </p:sp>
      <p:sp>
        <p:nvSpPr>
          <p:cNvPr id="17" name="Rectangle 17"/>
          <p:cNvSpPr/>
          <p:nvPr/>
        </p:nvSpPr>
        <p:spPr>
          <a:xfrm>
            <a:off x="5429250" y="3095625"/>
            <a:ext cx="6191250" cy="1952625"/>
          </a:xfrm>
          <a:prstGeom prst="rect">
            <a:avLst/>
          </a:prstGeom>
          <a:solidFill>
            <a:srgbClr val="F8FAFC"/>
          </a:solidFill>
          <a:ln>
            <a:noFill/>
          </a:ln>
        </p:spPr>
      </p:sp>
      <p:sp>
        <p:nvSpPr>
          <p:cNvPr id="18" name="Rectangle 18"/>
          <p:cNvSpPr/>
          <p:nvPr/>
        </p:nvSpPr>
        <p:spPr>
          <a:xfrm>
            <a:off x="5429250" y="3095625"/>
            <a:ext cx="1524000" cy="266700"/>
          </a:xfrm>
          <a:prstGeom prst="rect">
            <a:avLst/>
          </a:prstGeom>
          <a:solidFill>
            <a:srgbClr val="1565C0"/>
          </a:solidFill>
          <a:ln>
            <a:noFill/>
          </a:ln>
        </p:spPr>
      </p:sp>
      <p:sp>
        <p:nvSpPr>
          <p:cNvPr id="19" name="TextBox 19"/>
          <p:cNvSpPr txBox="1"/>
          <p:nvPr/>
        </p:nvSpPr>
        <p:spPr>
          <a:xfrm>
            <a:off x="6053804" y="3169920"/>
            <a:ext cx="27489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类别</a:t>
            </a:r>
          </a:p>
        </p:txBody>
      </p:sp>
      <p:sp>
        <p:nvSpPr>
          <p:cNvPr id="20" name="Rectangle 20"/>
          <p:cNvSpPr/>
          <p:nvPr/>
        </p:nvSpPr>
        <p:spPr>
          <a:xfrm>
            <a:off x="6953250" y="3095625"/>
            <a:ext cx="1047750" cy="266700"/>
          </a:xfrm>
          <a:prstGeom prst="rect">
            <a:avLst/>
          </a:prstGeom>
          <a:solidFill>
            <a:srgbClr val="1565C0"/>
          </a:solidFill>
          <a:ln>
            <a:noFill/>
          </a:ln>
        </p:spPr>
      </p:sp>
      <p:sp>
        <p:nvSpPr>
          <p:cNvPr id="21" name="TextBox 21"/>
          <p:cNvSpPr txBox="1"/>
          <p:nvPr/>
        </p:nvSpPr>
        <p:spPr>
          <a:xfrm>
            <a:off x="7276671" y="3169920"/>
            <a:ext cx="40090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单模型</a:t>
            </a:r>
          </a:p>
        </p:txBody>
      </p:sp>
      <p:sp>
        <p:nvSpPr>
          <p:cNvPr id="22" name="Rectangle 22"/>
          <p:cNvSpPr/>
          <p:nvPr/>
        </p:nvSpPr>
        <p:spPr>
          <a:xfrm>
            <a:off x="8001000" y="3095625"/>
            <a:ext cx="1047750" cy="266700"/>
          </a:xfrm>
          <a:prstGeom prst="rect">
            <a:avLst/>
          </a:prstGeom>
          <a:solidFill>
            <a:srgbClr val="1565C0"/>
          </a:solidFill>
          <a:ln>
            <a:noFill/>
          </a:ln>
        </p:spPr>
      </p:sp>
      <p:sp>
        <p:nvSpPr>
          <p:cNvPr id="23" name="TextBox 23"/>
          <p:cNvSpPr txBox="1"/>
          <p:nvPr/>
        </p:nvSpPr>
        <p:spPr>
          <a:xfrm>
            <a:off x="8324421" y="3169920"/>
            <a:ext cx="40090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伪标签</a:t>
            </a:r>
          </a:p>
        </p:txBody>
      </p:sp>
      <p:sp>
        <p:nvSpPr>
          <p:cNvPr id="24" name="Rectangle 24"/>
          <p:cNvSpPr/>
          <p:nvPr/>
        </p:nvSpPr>
        <p:spPr>
          <a:xfrm>
            <a:off x="9048750" y="3095625"/>
            <a:ext cx="857250" cy="266700"/>
          </a:xfrm>
          <a:prstGeom prst="rect">
            <a:avLst/>
          </a:prstGeom>
          <a:solidFill>
            <a:srgbClr val="1565C0"/>
          </a:solidFill>
          <a:ln>
            <a:noFill/>
          </a:ln>
        </p:spPr>
      </p:sp>
      <p:sp>
        <p:nvSpPr>
          <p:cNvPr id="25" name="TextBox 25"/>
          <p:cNvSpPr txBox="1"/>
          <p:nvPr/>
        </p:nvSpPr>
        <p:spPr>
          <a:xfrm>
            <a:off x="9339929" y="3169920"/>
            <a:ext cx="27489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提升</a:t>
            </a:r>
          </a:p>
        </p:txBody>
      </p:sp>
      <p:sp>
        <p:nvSpPr>
          <p:cNvPr id="26" name="Rectangle 26"/>
          <p:cNvSpPr/>
          <p:nvPr/>
        </p:nvSpPr>
        <p:spPr>
          <a:xfrm>
            <a:off x="9906000" y="3095625"/>
            <a:ext cx="1714500" cy="266700"/>
          </a:xfrm>
          <a:prstGeom prst="rect">
            <a:avLst/>
          </a:prstGeom>
          <a:solidFill>
            <a:srgbClr val="1565C0"/>
          </a:solidFill>
          <a:ln>
            <a:noFill/>
          </a:ln>
        </p:spPr>
      </p:sp>
      <p:sp>
        <p:nvSpPr>
          <p:cNvPr id="27" name="TextBox 27"/>
          <p:cNvSpPr txBox="1"/>
          <p:nvPr/>
        </p:nvSpPr>
        <p:spPr>
          <a:xfrm>
            <a:off x="10625804" y="3169920"/>
            <a:ext cx="27489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等级</a:t>
            </a:r>
          </a:p>
        </p:txBody>
      </p:sp>
      <p:sp>
        <p:nvSpPr>
          <p:cNvPr id="28" name="Rectangle 28"/>
          <p:cNvSpPr/>
          <p:nvPr/>
        </p:nvSpPr>
        <p:spPr>
          <a:xfrm>
            <a:off x="5429250" y="3362325"/>
            <a:ext cx="1524000" cy="228600"/>
          </a:xfrm>
          <a:prstGeom prst="rect">
            <a:avLst/>
          </a:prstGeom>
          <a:solidFill>
            <a:srgbClr val="FFF3E0"/>
          </a:solidFill>
          <a:ln>
            <a:noFill/>
          </a:ln>
        </p:spPr>
      </p:sp>
      <p:sp>
        <p:nvSpPr>
          <p:cNvPr id="29" name="TextBox 29"/>
          <p:cNvSpPr txBox="1"/>
          <p:nvPr/>
        </p:nvSpPr>
        <p:spPr>
          <a:xfrm>
            <a:off x="5560695" y="3427095"/>
            <a:ext cx="262890" cy="182880"/>
          </a:xfrm>
          <a:prstGeom prst="rect">
            <a:avLst/>
          </a:prstGeom>
          <a:noFill/>
          <a:ln>
            <a:noFill/>
          </a:ln>
        </p:spPr>
        <p:txBody>
          <a:bodyPr wrap="none" lIns="0" tIns="0" rIns="0" bIns="0" anchor="t" anchorCtr="0">
            <a:spAutoFit/>
          </a:bodyPr>
          <a:lstStyle/>
          <a:p>
            <a:pPr algn="l"/>
            <a:r>
              <a:rPr lang="zh-CN" sz="900" dirty="0">
                <a:solidFill>
                  <a:srgbClr val="1D1D1F"/>
                </a:solidFill>
                <a:latin typeface="Arial"/>
                <a:ea typeface="Microsoft YaHei"/>
                <a:cs typeface="Arial"/>
              </a:rPr>
              <a:t>游戏</a:t>
            </a:r>
          </a:p>
        </p:txBody>
      </p:sp>
      <p:sp>
        <p:nvSpPr>
          <p:cNvPr id="30" name="Rectangle 30"/>
          <p:cNvSpPr/>
          <p:nvPr/>
        </p:nvSpPr>
        <p:spPr>
          <a:xfrm>
            <a:off x="6953250" y="3362325"/>
            <a:ext cx="1047750" cy="228600"/>
          </a:xfrm>
          <a:prstGeom prst="rect">
            <a:avLst/>
          </a:prstGeom>
          <a:solidFill>
            <a:srgbClr val="FFF3E0"/>
          </a:solidFill>
          <a:ln>
            <a:noFill/>
          </a:ln>
        </p:spPr>
      </p:sp>
      <p:sp>
        <p:nvSpPr>
          <p:cNvPr id="31" name="TextBox 31"/>
          <p:cNvSpPr txBox="1"/>
          <p:nvPr/>
        </p:nvSpPr>
        <p:spPr>
          <a:xfrm>
            <a:off x="7255669" y="34270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90.66%</a:t>
            </a:r>
          </a:p>
        </p:txBody>
      </p:sp>
      <p:sp>
        <p:nvSpPr>
          <p:cNvPr id="32" name="Rectangle 32"/>
          <p:cNvSpPr/>
          <p:nvPr/>
        </p:nvSpPr>
        <p:spPr>
          <a:xfrm>
            <a:off x="8001000" y="3362325"/>
            <a:ext cx="1047750" cy="228600"/>
          </a:xfrm>
          <a:prstGeom prst="rect">
            <a:avLst/>
          </a:prstGeom>
          <a:solidFill>
            <a:srgbClr val="FFF3E0"/>
          </a:solidFill>
          <a:ln>
            <a:noFill/>
          </a:ln>
        </p:spPr>
      </p:sp>
      <p:sp>
        <p:nvSpPr>
          <p:cNvPr id="33" name="TextBox 33"/>
          <p:cNvSpPr txBox="1"/>
          <p:nvPr/>
        </p:nvSpPr>
        <p:spPr>
          <a:xfrm>
            <a:off x="8303419" y="3427095"/>
            <a:ext cx="442912" cy="182880"/>
          </a:xfrm>
          <a:prstGeom prst="rect">
            <a:avLst/>
          </a:prstGeom>
          <a:noFill/>
          <a:ln>
            <a:noFill/>
          </a:ln>
        </p:spPr>
        <p:txBody>
          <a:bodyPr wrap="none" lIns="0" tIns="0" rIns="0" bIns="0" anchor="t" anchorCtr="0">
            <a:spAutoFit/>
          </a:bodyPr>
          <a:lstStyle/>
          <a:p>
            <a:pPr algn="ctr"/>
            <a:r>
              <a:rPr lang="zh-CN" sz="900" dirty="0">
                <a:solidFill>
                  <a:srgbClr val="1D1D1F"/>
                </a:solidFill>
                <a:latin typeface="Arial"/>
                <a:ea typeface="Microsoft YaHei"/>
                <a:cs typeface="Arial"/>
              </a:rPr>
              <a:t>92.02%</a:t>
            </a:r>
          </a:p>
        </p:txBody>
      </p:sp>
      <p:sp>
        <p:nvSpPr>
          <p:cNvPr id="34" name="Rectangle 34"/>
          <p:cNvSpPr/>
          <p:nvPr/>
        </p:nvSpPr>
        <p:spPr>
          <a:xfrm>
            <a:off x="9048750" y="3362325"/>
            <a:ext cx="857250" cy="228600"/>
          </a:xfrm>
          <a:prstGeom prst="rect">
            <a:avLst/>
          </a:prstGeom>
          <a:solidFill>
            <a:srgbClr val="FFF3E0"/>
          </a:solidFill>
          <a:ln>
            <a:noFill/>
          </a:ln>
        </p:spPr>
      </p:sp>
      <p:sp>
        <p:nvSpPr>
          <p:cNvPr id="35" name="TextBox 35"/>
          <p:cNvSpPr txBox="1"/>
          <p:nvPr/>
        </p:nvSpPr>
        <p:spPr>
          <a:xfrm>
            <a:off x="9245417" y="3427095"/>
            <a:ext cx="463915"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+1.37%</a:t>
            </a:r>
          </a:p>
        </p:txBody>
      </p:sp>
      <p:sp>
        <p:nvSpPr>
          <p:cNvPr id="36" name="Rectangle 36"/>
          <p:cNvSpPr/>
          <p:nvPr/>
        </p:nvSpPr>
        <p:spPr>
          <a:xfrm>
            <a:off x="9906000" y="3362325"/>
            <a:ext cx="1714500" cy="228600"/>
          </a:xfrm>
          <a:prstGeom prst="rect">
            <a:avLst/>
          </a:prstGeom>
          <a:solidFill>
            <a:srgbClr val="FFF3E0"/>
          </a:solidFill>
          <a:ln>
            <a:noFill/>
          </a:ln>
        </p:spPr>
      </p:sp>
      <p:sp>
        <p:nvSpPr>
          <p:cNvPr id="37" name="TextBox 37"/>
          <p:cNvSpPr txBox="1"/>
          <p:nvPr/>
        </p:nvSpPr>
        <p:spPr>
          <a:xfrm>
            <a:off x="9894570" y="3427095"/>
            <a:ext cx="502920" cy="182880"/>
          </a:xfrm>
          <a:prstGeom prst="rect">
            <a:avLst/>
          </a:prstGeom>
          <a:noFill/>
          <a:ln>
            <a:noFill/>
          </a:ln>
        </p:spPr>
        <p:txBody>
          <a:bodyPr wrap="none" lIns="0" tIns="0" rIns="0" bIns="0" anchor="t" anchorCtr="0">
            <a:spAutoFit/>
          </a:bodyPr>
          <a:lstStyle/>
          <a:p>
            <a:pPr algn="l"/>
            <a:r>
              <a:rPr lang="zh-CN" sz="900" dirty="0">
                <a:solidFill>
                  <a:srgbClr val="2E7D32"/>
                </a:solidFill>
                <a:latin typeface="Arial"/>
                <a:ea typeface="Microsoft YaHei"/>
                <a:cs typeface="Arial"/>
              </a:rPr>
              <a:t>显著提升</a:t>
            </a:r>
          </a:p>
        </p:txBody>
      </p:sp>
      <p:sp>
        <p:nvSpPr>
          <p:cNvPr id="38" name="Rectangle 38"/>
          <p:cNvSpPr/>
          <p:nvPr/>
        </p:nvSpPr>
        <p:spPr>
          <a:xfrm>
            <a:off x="5429250" y="3590925"/>
            <a:ext cx="1524000" cy="228600"/>
          </a:xfrm>
          <a:prstGeom prst="rect">
            <a:avLst/>
          </a:prstGeom>
          <a:solidFill>
            <a:srgbClr val="FFF3E0"/>
          </a:solidFill>
          <a:ln>
            <a:noFill/>
          </a:ln>
        </p:spPr>
      </p:sp>
      <p:sp>
        <p:nvSpPr>
          <p:cNvPr id="39" name="TextBox 39"/>
          <p:cNvSpPr txBox="1"/>
          <p:nvPr/>
        </p:nvSpPr>
        <p:spPr>
          <a:xfrm>
            <a:off x="5560695" y="3655695"/>
            <a:ext cx="262890" cy="182880"/>
          </a:xfrm>
          <a:prstGeom prst="rect">
            <a:avLst/>
          </a:prstGeom>
          <a:noFill/>
          <a:ln>
            <a:noFill/>
          </a:ln>
        </p:spPr>
        <p:txBody>
          <a:bodyPr wrap="none" lIns="0" tIns="0" rIns="0" bIns="0" anchor="t" anchorCtr="0">
            <a:spAutoFit/>
          </a:bodyPr>
          <a:lstStyle/>
          <a:p>
            <a:pPr algn="l"/>
            <a:r>
              <a:rPr lang="zh-CN" sz="900" dirty="0">
                <a:solidFill>
                  <a:srgbClr val="1D1D1F"/>
                </a:solidFill>
                <a:latin typeface="Arial"/>
                <a:ea typeface="Microsoft YaHei"/>
                <a:cs typeface="Arial"/>
              </a:rPr>
              <a:t>时政</a:t>
            </a:r>
          </a:p>
        </p:txBody>
      </p:sp>
      <p:sp>
        <p:nvSpPr>
          <p:cNvPr id="40" name="Rectangle 40"/>
          <p:cNvSpPr/>
          <p:nvPr/>
        </p:nvSpPr>
        <p:spPr>
          <a:xfrm>
            <a:off x="6953250" y="3590925"/>
            <a:ext cx="1047750" cy="228600"/>
          </a:xfrm>
          <a:prstGeom prst="rect">
            <a:avLst/>
          </a:prstGeom>
          <a:solidFill>
            <a:srgbClr val="FFF3E0"/>
          </a:solidFill>
          <a:ln>
            <a:noFill/>
          </a:ln>
        </p:spPr>
      </p:sp>
      <p:sp>
        <p:nvSpPr>
          <p:cNvPr id="41" name="TextBox 41"/>
          <p:cNvSpPr txBox="1"/>
          <p:nvPr/>
        </p:nvSpPr>
        <p:spPr>
          <a:xfrm>
            <a:off x="7255669" y="36556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92.27%</a:t>
            </a:r>
          </a:p>
        </p:txBody>
      </p:sp>
      <p:sp>
        <p:nvSpPr>
          <p:cNvPr id="42" name="Rectangle 42"/>
          <p:cNvSpPr/>
          <p:nvPr/>
        </p:nvSpPr>
        <p:spPr>
          <a:xfrm>
            <a:off x="8001000" y="3590925"/>
            <a:ext cx="1047750" cy="228600"/>
          </a:xfrm>
          <a:prstGeom prst="rect">
            <a:avLst/>
          </a:prstGeom>
          <a:solidFill>
            <a:srgbClr val="FFF3E0"/>
          </a:solidFill>
          <a:ln>
            <a:noFill/>
          </a:ln>
        </p:spPr>
      </p:sp>
      <p:sp>
        <p:nvSpPr>
          <p:cNvPr id="43" name="TextBox 43"/>
          <p:cNvSpPr txBox="1"/>
          <p:nvPr/>
        </p:nvSpPr>
        <p:spPr>
          <a:xfrm>
            <a:off x="8303419" y="3655695"/>
            <a:ext cx="442912" cy="182880"/>
          </a:xfrm>
          <a:prstGeom prst="rect">
            <a:avLst/>
          </a:prstGeom>
          <a:noFill/>
          <a:ln>
            <a:noFill/>
          </a:ln>
        </p:spPr>
        <p:txBody>
          <a:bodyPr wrap="none" lIns="0" tIns="0" rIns="0" bIns="0" anchor="t" anchorCtr="0">
            <a:spAutoFit/>
          </a:bodyPr>
          <a:lstStyle/>
          <a:p>
            <a:pPr algn="ctr"/>
            <a:r>
              <a:rPr lang="zh-CN" sz="900" dirty="0">
                <a:solidFill>
                  <a:srgbClr val="1D1D1F"/>
                </a:solidFill>
                <a:latin typeface="Arial"/>
                <a:ea typeface="Microsoft YaHei"/>
                <a:cs typeface="Arial"/>
              </a:rPr>
              <a:t>93.41%</a:t>
            </a:r>
          </a:p>
        </p:txBody>
      </p:sp>
      <p:sp>
        <p:nvSpPr>
          <p:cNvPr id="44" name="Rectangle 44"/>
          <p:cNvSpPr/>
          <p:nvPr/>
        </p:nvSpPr>
        <p:spPr>
          <a:xfrm>
            <a:off x="9048750" y="3590925"/>
            <a:ext cx="857250" cy="228600"/>
          </a:xfrm>
          <a:prstGeom prst="rect">
            <a:avLst/>
          </a:prstGeom>
          <a:solidFill>
            <a:srgbClr val="FFF3E0"/>
          </a:solidFill>
          <a:ln>
            <a:noFill/>
          </a:ln>
        </p:spPr>
      </p:sp>
      <p:sp>
        <p:nvSpPr>
          <p:cNvPr id="45" name="TextBox 45"/>
          <p:cNvSpPr txBox="1"/>
          <p:nvPr/>
        </p:nvSpPr>
        <p:spPr>
          <a:xfrm>
            <a:off x="9245417" y="3655695"/>
            <a:ext cx="463915" cy="182880"/>
          </a:xfrm>
          <a:prstGeom prst="rect">
            <a:avLst/>
          </a:prstGeom>
          <a:noFill/>
          <a:ln>
            <a:noFill/>
          </a:ln>
        </p:spPr>
        <p:txBody>
          <a:bodyPr wrap="none" lIns="0" tIns="0" rIns="0" bIns="0" anchor="t" anchorCtr="0">
            <a:spAutoFit/>
          </a:bodyPr>
          <a:lstStyle/>
          <a:p>
            <a:pPr algn="ctr"/>
            <a:r>
              <a:rPr lang="zh-CN" sz="900" b="1" dirty="0">
                <a:solidFill>
                  <a:srgbClr val="2E7D32"/>
                </a:solidFill>
                <a:latin typeface="Arial"/>
                <a:ea typeface="Microsoft YaHei"/>
                <a:cs typeface="Arial"/>
              </a:rPr>
              <a:t>+1.14%</a:t>
            </a:r>
          </a:p>
        </p:txBody>
      </p:sp>
      <p:sp>
        <p:nvSpPr>
          <p:cNvPr id="46" name="Rectangle 46"/>
          <p:cNvSpPr/>
          <p:nvPr/>
        </p:nvSpPr>
        <p:spPr>
          <a:xfrm>
            <a:off x="9906000" y="3590925"/>
            <a:ext cx="1714500" cy="228600"/>
          </a:xfrm>
          <a:prstGeom prst="rect">
            <a:avLst/>
          </a:prstGeom>
          <a:solidFill>
            <a:srgbClr val="FFF3E0"/>
          </a:solidFill>
          <a:ln>
            <a:noFill/>
          </a:ln>
        </p:spPr>
      </p:sp>
      <p:sp>
        <p:nvSpPr>
          <p:cNvPr id="47" name="TextBox 47"/>
          <p:cNvSpPr txBox="1"/>
          <p:nvPr/>
        </p:nvSpPr>
        <p:spPr>
          <a:xfrm>
            <a:off x="9894570" y="3655695"/>
            <a:ext cx="502920" cy="182880"/>
          </a:xfrm>
          <a:prstGeom prst="rect">
            <a:avLst/>
          </a:prstGeom>
          <a:noFill/>
          <a:ln>
            <a:noFill/>
          </a:ln>
        </p:spPr>
        <p:txBody>
          <a:bodyPr wrap="none" lIns="0" tIns="0" rIns="0" bIns="0" anchor="t" anchorCtr="0">
            <a:spAutoFit/>
          </a:bodyPr>
          <a:lstStyle/>
          <a:p>
            <a:pPr algn="l"/>
            <a:r>
              <a:rPr lang="zh-CN" sz="900" dirty="0">
                <a:solidFill>
                  <a:srgbClr val="2E7D32"/>
                </a:solidFill>
                <a:latin typeface="Arial"/>
                <a:ea typeface="Microsoft YaHei"/>
                <a:cs typeface="Arial"/>
              </a:rPr>
              <a:t>显著提升</a:t>
            </a:r>
          </a:p>
        </p:txBody>
      </p:sp>
      <p:sp>
        <p:nvSpPr>
          <p:cNvPr id="48" name="Rectangle 48"/>
          <p:cNvSpPr/>
          <p:nvPr/>
        </p:nvSpPr>
        <p:spPr>
          <a:xfrm>
            <a:off x="5429250" y="3819525"/>
            <a:ext cx="1524000" cy="228600"/>
          </a:xfrm>
          <a:prstGeom prst="rect">
            <a:avLst/>
          </a:prstGeom>
          <a:solidFill>
            <a:srgbClr val="FFF8E1"/>
          </a:solidFill>
          <a:ln>
            <a:noFill/>
          </a:ln>
        </p:spPr>
      </p:sp>
      <p:sp>
        <p:nvSpPr>
          <p:cNvPr id="49" name="TextBox 49"/>
          <p:cNvSpPr txBox="1"/>
          <p:nvPr/>
        </p:nvSpPr>
        <p:spPr>
          <a:xfrm>
            <a:off x="5560695" y="3884295"/>
            <a:ext cx="262890" cy="182880"/>
          </a:xfrm>
          <a:prstGeom prst="rect">
            <a:avLst/>
          </a:prstGeom>
          <a:noFill/>
          <a:ln>
            <a:noFill/>
          </a:ln>
        </p:spPr>
        <p:txBody>
          <a:bodyPr wrap="none" lIns="0" tIns="0" rIns="0" bIns="0" anchor="t" anchorCtr="0">
            <a:spAutoFit/>
          </a:bodyPr>
          <a:lstStyle/>
          <a:p>
            <a:pPr algn="l"/>
            <a:r>
              <a:rPr lang="zh-CN" sz="900" dirty="0">
                <a:solidFill>
                  <a:srgbClr val="1D1D1F"/>
                </a:solidFill>
                <a:latin typeface="Arial"/>
                <a:ea typeface="Microsoft YaHei"/>
                <a:cs typeface="Arial"/>
              </a:rPr>
              <a:t>房产</a:t>
            </a:r>
          </a:p>
        </p:txBody>
      </p:sp>
      <p:sp>
        <p:nvSpPr>
          <p:cNvPr id="50" name="Rectangle 50"/>
          <p:cNvSpPr/>
          <p:nvPr/>
        </p:nvSpPr>
        <p:spPr>
          <a:xfrm>
            <a:off x="6953250" y="3819525"/>
            <a:ext cx="1047750" cy="228600"/>
          </a:xfrm>
          <a:prstGeom prst="rect">
            <a:avLst/>
          </a:prstGeom>
          <a:solidFill>
            <a:srgbClr val="FFF8E1"/>
          </a:solidFill>
          <a:ln>
            <a:noFill/>
          </a:ln>
        </p:spPr>
      </p:sp>
      <p:sp>
        <p:nvSpPr>
          <p:cNvPr id="51" name="TextBox 51"/>
          <p:cNvSpPr txBox="1"/>
          <p:nvPr/>
        </p:nvSpPr>
        <p:spPr>
          <a:xfrm>
            <a:off x="7255669" y="38842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92.46%</a:t>
            </a:r>
          </a:p>
        </p:txBody>
      </p:sp>
      <p:sp>
        <p:nvSpPr>
          <p:cNvPr id="52" name="Rectangle 52"/>
          <p:cNvSpPr/>
          <p:nvPr/>
        </p:nvSpPr>
        <p:spPr>
          <a:xfrm>
            <a:off x="8001000" y="3819525"/>
            <a:ext cx="1047750" cy="228600"/>
          </a:xfrm>
          <a:prstGeom prst="rect">
            <a:avLst/>
          </a:prstGeom>
          <a:solidFill>
            <a:srgbClr val="FFF8E1"/>
          </a:solidFill>
          <a:ln>
            <a:noFill/>
          </a:ln>
        </p:spPr>
      </p:sp>
      <p:sp>
        <p:nvSpPr>
          <p:cNvPr id="53" name="TextBox 53"/>
          <p:cNvSpPr txBox="1"/>
          <p:nvPr/>
        </p:nvSpPr>
        <p:spPr>
          <a:xfrm>
            <a:off x="8303419" y="3884295"/>
            <a:ext cx="442912" cy="182880"/>
          </a:xfrm>
          <a:prstGeom prst="rect">
            <a:avLst/>
          </a:prstGeom>
          <a:noFill/>
          <a:ln>
            <a:noFill/>
          </a:ln>
        </p:spPr>
        <p:txBody>
          <a:bodyPr wrap="none" lIns="0" tIns="0" rIns="0" bIns="0" anchor="t" anchorCtr="0">
            <a:spAutoFit/>
          </a:bodyPr>
          <a:lstStyle/>
          <a:p>
            <a:pPr algn="ctr"/>
            <a:r>
              <a:rPr lang="zh-CN" sz="900" dirty="0">
                <a:solidFill>
                  <a:srgbClr val="1D1D1F"/>
                </a:solidFill>
                <a:latin typeface="Arial"/>
                <a:ea typeface="Microsoft YaHei"/>
                <a:cs typeface="Arial"/>
              </a:rPr>
              <a:t>93.35%</a:t>
            </a:r>
          </a:p>
        </p:txBody>
      </p:sp>
      <p:sp>
        <p:nvSpPr>
          <p:cNvPr id="54" name="Rectangle 54"/>
          <p:cNvSpPr/>
          <p:nvPr/>
        </p:nvSpPr>
        <p:spPr>
          <a:xfrm>
            <a:off x="9048750" y="3819525"/>
            <a:ext cx="857250" cy="228600"/>
          </a:xfrm>
          <a:prstGeom prst="rect">
            <a:avLst/>
          </a:prstGeom>
          <a:solidFill>
            <a:srgbClr val="FFF8E1"/>
          </a:solidFill>
          <a:ln>
            <a:noFill/>
          </a:ln>
        </p:spPr>
      </p:sp>
      <p:sp>
        <p:nvSpPr>
          <p:cNvPr id="55" name="TextBox 55"/>
          <p:cNvSpPr txBox="1"/>
          <p:nvPr/>
        </p:nvSpPr>
        <p:spPr>
          <a:xfrm>
            <a:off x="9245417" y="3884295"/>
            <a:ext cx="463915" cy="182880"/>
          </a:xfrm>
          <a:prstGeom prst="rect">
            <a:avLst/>
          </a:prstGeom>
          <a:noFill/>
          <a:ln>
            <a:noFill/>
          </a:ln>
        </p:spPr>
        <p:txBody>
          <a:bodyPr wrap="none" lIns="0" tIns="0" rIns="0" bIns="0" anchor="t" anchorCtr="0">
            <a:spAutoFit/>
          </a:bodyPr>
          <a:lstStyle/>
          <a:p>
            <a:pPr algn="ctr"/>
            <a:r>
              <a:rPr lang="zh-CN" sz="900" b="1" dirty="0">
                <a:solidFill>
                  <a:srgbClr val="FF6F00"/>
                </a:solidFill>
                <a:latin typeface="Arial"/>
                <a:ea typeface="Microsoft YaHei"/>
                <a:cs typeface="Arial"/>
              </a:rPr>
              <a:t>+0.89%</a:t>
            </a:r>
          </a:p>
        </p:txBody>
      </p:sp>
      <p:sp>
        <p:nvSpPr>
          <p:cNvPr id="56" name="Rectangle 56"/>
          <p:cNvSpPr/>
          <p:nvPr/>
        </p:nvSpPr>
        <p:spPr>
          <a:xfrm>
            <a:off x="9906000" y="3819525"/>
            <a:ext cx="1714500" cy="228600"/>
          </a:xfrm>
          <a:prstGeom prst="rect">
            <a:avLst/>
          </a:prstGeom>
          <a:solidFill>
            <a:srgbClr val="FFF8E1"/>
          </a:solidFill>
          <a:ln>
            <a:noFill/>
          </a:ln>
        </p:spPr>
      </p:sp>
      <p:sp>
        <p:nvSpPr>
          <p:cNvPr id="57" name="TextBox 57"/>
          <p:cNvSpPr txBox="1"/>
          <p:nvPr/>
        </p:nvSpPr>
        <p:spPr>
          <a:xfrm>
            <a:off x="9894570" y="3884295"/>
            <a:ext cx="502920" cy="182880"/>
          </a:xfrm>
          <a:prstGeom prst="rect">
            <a:avLst/>
          </a:prstGeom>
          <a:noFill/>
          <a:ln>
            <a:noFill/>
          </a:ln>
        </p:spPr>
        <p:txBody>
          <a:bodyPr wrap="none" lIns="0" tIns="0" rIns="0" bIns="0" anchor="t" anchorCtr="0">
            <a:spAutoFit/>
          </a:bodyPr>
          <a:lstStyle/>
          <a:p>
            <a:pPr algn="l"/>
            <a:r>
              <a:rPr lang="zh-CN" sz="900" dirty="0">
                <a:solidFill>
                  <a:srgbClr val="FF6F00"/>
                </a:solidFill>
                <a:latin typeface="Arial"/>
                <a:ea typeface="Microsoft YaHei"/>
                <a:cs typeface="Arial"/>
              </a:rPr>
              <a:t>中等提升</a:t>
            </a:r>
          </a:p>
        </p:txBody>
      </p:sp>
      <p:sp>
        <p:nvSpPr>
          <p:cNvPr id="58" name="Rectangle 58"/>
          <p:cNvSpPr/>
          <p:nvPr/>
        </p:nvSpPr>
        <p:spPr>
          <a:xfrm>
            <a:off x="5429250" y="4048125"/>
            <a:ext cx="1524000" cy="228600"/>
          </a:xfrm>
          <a:prstGeom prst="rect">
            <a:avLst/>
          </a:prstGeom>
          <a:solidFill>
            <a:srgbClr val="FFF8E1"/>
          </a:solidFill>
          <a:ln>
            <a:noFill/>
          </a:ln>
        </p:spPr>
      </p:sp>
      <p:sp>
        <p:nvSpPr>
          <p:cNvPr id="59" name="TextBox 59"/>
          <p:cNvSpPr txBox="1"/>
          <p:nvPr/>
        </p:nvSpPr>
        <p:spPr>
          <a:xfrm>
            <a:off x="5560695" y="4112895"/>
            <a:ext cx="262890" cy="182880"/>
          </a:xfrm>
          <a:prstGeom prst="rect">
            <a:avLst/>
          </a:prstGeom>
          <a:noFill/>
          <a:ln>
            <a:noFill/>
          </a:ln>
        </p:spPr>
        <p:txBody>
          <a:bodyPr wrap="none" lIns="0" tIns="0" rIns="0" bIns="0" anchor="t" anchorCtr="0">
            <a:spAutoFit/>
          </a:bodyPr>
          <a:lstStyle/>
          <a:p>
            <a:pPr algn="l"/>
            <a:r>
              <a:rPr lang="zh-CN" sz="900" dirty="0">
                <a:solidFill>
                  <a:srgbClr val="1D1D1F"/>
                </a:solidFill>
                <a:latin typeface="Arial"/>
                <a:ea typeface="Microsoft YaHei"/>
                <a:cs typeface="Arial"/>
              </a:rPr>
              <a:t>财经</a:t>
            </a:r>
          </a:p>
        </p:txBody>
      </p:sp>
      <p:sp>
        <p:nvSpPr>
          <p:cNvPr id="60" name="Rectangle 60"/>
          <p:cNvSpPr/>
          <p:nvPr/>
        </p:nvSpPr>
        <p:spPr>
          <a:xfrm>
            <a:off x="6953250" y="4048125"/>
            <a:ext cx="1047750" cy="228600"/>
          </a:xfrm>
          <a:prstGeom prst="rect">
            <a:avLst/>
          </a:prstGeom>
          <a:solidFill>
            <a:srgbClr val="FFF8E1"/>
          </a:solidFill>
          <a:ln>
            <a:noFill/>
          </a:ln>
        </p:spPr>
      </p:sp>
      <p:sp>
        <p:nvSpPr>
          <p:cNvPr id="61" name="TextBox 61"/>
          <p:cNvSpPr txBox="1"/>
          <p:nvPr/>
        </p:nvSpPr>
        <p:spPr>
          <a:xfrm>
            <a:off x="7255669" y="41128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92.66%</a:t>
            </a:r>
          </a:p>
        </p:txBody>
      </p:sp>
      <p:sp>
        <p:nvSpPr>
          <p:cNvPr id="62" name="Rectangle 62"/>
          <p:cNvSpPr/>
          <p:nvPr/>
        </p:nvSpPr>
        <p:spPr>
          <a:xfrm>
            <a:off x="8001000" y="4048125"/>
            <a:ext cx="1047750" cy="228600"/>
          </a:xfrm>
          <a:prstGeom prst="rect">
            <a:avLst/>
          </a:prstGeom>
          <a:solidFill>
            <a:srgbClr val="FFF8E1"/>
          </a:solidFill>
          <a:ln>
            <a:noFill/>
          </a:ln>
        </p:spPr>
      </p:sp>
      <p:sp>
        <p:nvSpPr>
          <p:cNvPr id="63" name="TextBox 63"/>
          <p:cNvSpPr txBox="1"/>
          <p:nvPr/>
        </p:nvSpPr>
        <p:spPr>
          <a:xfrm>
            <a:off x="8303419" y="4112895"/>
            <a:ext cx="442912" cy="182880"/>
          </a:xfrm>
          <a:prstGeom prst="rect">
            <a:avLst/>
          </a:prstGeom>
          <a:noFill/>
          <a:ln>
            <a:noFill/>
          </a:ln>
        </p:spPr>
        <p:txBody>
          <a:bodyPr wrap="none" lIns="0" tIns="0" rIns="0" bIns="0" anchor="t" anchorCtr="0">
            <a:spAutoFit/>
          </a:bodyPr>
          <a:lstStyle/>
          <a:p>
            <a:pPr algn="ctr"/>
            <a:r>
              <a:rPr lang="zh-CN" sz="900" dirty="0">
                <a:solidFill>
                  <a:srgbClr val="1D1D1F"/>
                </a:solidFill>
                <a:latin typeface="Arial"/>
                <a:ea typeface="Microsoft YaHei"/>
                <a:cs typeface="Arial"/>
              </a:rPr>
              <a:t>93.53%</a:t>
            </a:r>
          </a:p>
        </p:txBody>
      </p:sp>
      <p:sp>
        <p:nvSpPr>
          <p:cNvPr id="64" name="Rectangle 64"/>
          <p:cNvSpPr/>
          <p:nvPr/>
        </p:nvSpPr>
        <p:spPr>
          <a:xfrm>
            <a:off x="9048750" y="4048125"/>
            <a:ext cx="857250" cy="228600"/>
          </a:xfrm>
          <a:prstGeom prst="rect">
            <a:avLst/>
          </a:prstGeom>
          <a:solidFill>
            <a:srgbClr val="FFF8E1"/>
          </a:solidFill>
          <a:ln>
            <a:noFill/>
          </a:ln>
        </p:spPr>
      </p:sp>
      <p:sp>
        <p:nvSpPr>
          <p:cNvPr id="65" name="TextBox 65"/>
          <p:cNvSpPr txBox="1"/>
          <p:nvPr/>
        </p:nvSpPr>
        <p:spPr>
          <a:xfrm>
            <a:off x="9245417" y="4112895"/>
            <a:ext cx="463915" cy="182880"/>
          </a:xfrm>
          <a:prstGeom prst="rect">
            <a:avLst/>
          </a:prstGeom>
          <a:noFill/>
          <a:ln>
            <a:noFill/>
          </a:ln>
        </p:spPr>
        <p:txBody>
          <a:bodyPr wrap="none" lIns="0" tIns="0" rIns="0" bIns="0" anchor="t" anchorCtr="0">
            <a:spAutoFit/>
          </a:bodyPr>
          <a:lstStyle/>
          <a:p>
            <a:pPr algn="ctr"/>
            <a:r>
              <a:rPr lang="zh-CN" sz="900" b="1" dirty="0">
                <a:solidFill>
                  <a:srgbClr val="FF6F00"/>
                </a:solidFill>
                <a:latin typeface="Arial"/>
                <a:ea typeface="Microsoft YaHei"/>
                <a:cs typeface="Arial"/>
              </a:rPr>
              <a:t>+0.87%</a:t>
            </a:r>
          </a:p>
        </p:txBody>
      </p:sp>
      <p:sp>
        <p:nvSpPr>
          <p:cNvPr id="66" name="Rectangle 66"/>
          <p:cNvSpPr/>
          <p:nvPr/>
        </p:nvSpPr>
        <p:spPr>
          <a:xfrm>
            <a:off x="9906000" y="4048125"/>
            <a:ext cx="1714500" cy="228600"/>
          </a:xfrm>
          <a:prstGeom prst="rect">
            <a:avLst/>
          </a:prstGeom>
          <a:solidFill>
            <a:srgbClr val="FFF8E1"/>
          </a:solidFill>
          <a:ln>
            <a:noFill/>
          </a:ln>
        </p:spPr>
      </p:sp>
      <p:sp>
        <p:nvSpPr>
          <p:cNvPr id="67" name="TextBox 67"/>
          <p:cNvSpPr txBox="1"/>
          <p:nvPr/>
        </p:nvSpPr>
        <p:spPr>
          <a:xfrm>
            <a:off x="9894570" y="4112895"/>
            <a:ext cx="502920" cy="182880"/>
          </a:xfrm>
          <a:prstGeom prst="rect">
            <a:avLst/>
          </a:prstGeom>
          <a:noFill/>
          <a:ln>
            <a:noFill/>
          </a:ln>
        </p:spPr>
        <p:txBody>
          <a:bodyPr wrap="none" lIns="0" tIns="0" rIns="0" bIns="0" anchor="t" anchorCtr="0">
            <a:spAutoFit/>
          </a:bodyPr>
          <a:lstStyle/>
          <a:p>
            <a:pPr algn="l"/>
            <a:r>
              <a:rPr lang="zh-CN" sz="900" dirty="0">
                <a:solidFill>
                  <a:srgbClr val="FF6F00"/>
                </a:solidFill>
                <a:latin typeface="Arial"/>
                <a:ea typeface="Microsoft YaHei"/>
                <a:cs typeface="Arial"/>
              </a:rPr>
              <a:t>中等提升</a:t>
            </a:r>
          </a:p>
        </p:txBody>
      </p:sp>
      <p:sp>
        <p:nvSpPr>
          <p:cNvPr id="68" name="Rectangle 68"/>
          <p:cNvSpPr/>
          <p:nvPr/>
        </p:nvSpPr>
        <p:spPr>
          <a:xfrm>
            <a:off x="5429250" y="4276725"/>
            <a:ext cx="1524000" cy="228600"/>
          </a:xfrm>
          <a:prstGeom prst="rect">
            <a:avLst/>
          </a:prstGeom>
          <a:solidFill>
            <a:srgbClr val="E8F5E9"/>
          </a:solidFill>
          <a:ln>
            <a:noFill/>
          </a:ln>
        </p:spPr>
      </p:sp>
      <p:sp>
        <p:nvSpPr>
          <p:cNvPr id="69" name="TextBox 69"/>
          <p:cNvSpPr txBox="1"/>
          <p:nvPr/>
        </p:nvSpPr>
        <p:spPr>
          <a:xfrm>
            <a:off x="5560695" y="4341495"/>
            <a:ext cx="262890" cy="182880"/>
          </a:xfrm>
          <a:prstGeom prst="rect">
            <a:avLst/>
          </a:prstGeom>
          <a:noFill/>
          <a:ln>
            <a:noFill/>
          </a:ln>
        </p:spPr>
        <p:txBody>
          <a:bodyPr wrap="none" lIns="0" tIns="0" rIns="0" bIns="0" anchor="t" anchorCtr="0">
            <a:spAutoFit/>
          </a:bodyPr>
          <a:lstStyle/>
          <a:p>
            <a:pPr algn="l"/>
            <a:r>
              <a:rPr lang="zh-CN" sz="900" dirty="0">
                <a:solidFill>
                  <a:srgbClr val="1D1D1F"/>
                </a:solidFill>
                <a:latin typeface="Arial"/>
                <a:ea typeface="Microsoft YaHei"/>
                <a:cs typeface="Arial"/>
              </a:rPr>
              <a:t>社会</a:t>
            </a:r>
          </a:p>
        </p:txBody>
      </p:sp>
      <p:sp>
        <p:nvSpPr>
          <p:cNvPr id="70" name="Rectangle 70"/>
          <p:cNvSpPr/>
          <p:nvPr/>
        </p:nvSpPr>
        <p:spPr>
          <a:xfrm>
            <a:off x="6953250" y="4276725"/>
            <a:ext cx="1047750" cy="228600"/>
          </a:xfrm>
          <a:prstGeom prst="rect">
            <a:avLst/>
          </a:prstGeom>
          <a:solidFill>
            <a:srgbClr val="E8F5E9"/>
          </a:solidFill>
          <a:ln>
            <a:noFill/>
          </a:ln>
        </p:spPr>
      </p:sp>
      <p:sp>
        <p:nvSpPr>
          <p:cNvPr id="71" name="TextBox 71"/>
          <p:cNvSpPr txBox="1"/>
          <p:nvPr/>
        </p:nvSpPr>
        <p:spPr>
          <a:xfrm>
            <a:off x="7255669" y="43414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94.41%</a:t>
            </a:r>
          </a:p>
        </p:txBody>
      </p:sp>
      <p:sp>
        <p:nvSpPr>
          <p:cNvPr id="72" name="Rectangle 72"/>
          <p:cNvSpPr/>
          <p:nvPr/>
        </p:nvSpPr>
        <p:spPr>
          <a:xfrm>
            <a:off x="8001000" y="4276725"/>
            <a:ext cx="1047750" cy="228600"/>
          </a:xfrm>
          <a:prstGeom prst="rect">
            <a:avLst/>
          </a:prstGeom>
          <a:solidFill>
            <a:srgbClr val="E8F5E9"/>
          </a:solidFill>
          <a:ln>
            <a:noFill/>
          </a:ln>
        </p:spPr>
      </p:sp>
      <p:sp>
        <p:nvSpPr>
          <p:cNvPr id="73" name="TextBox 73"/>
          <p:cNvSpPr txBox="1"/>
          <p:nvPr/>
        </p:nvSpPr>
        <p:spPr>
          <a:xfrm>
            <a:off x="8303419" y="4341495"/>
            <a:ext cx="442912" cy="182880"/>
          </a:xfrm>
          <a:prstGeom prst="rect">
            <a:avLst/>
          </a:prstGeom>
          <a:noFill/>
          <a:ln>
            <a:noFill/>
          </a:ln>
        </p:spPr>
        <p:txBody>
          <a:bodyPr wrap="none" lIns="0" tIns="0" rIns="0" bIns="0" anchor="t" anchorCtr="0">
            <a:spAutoFit/>
          </a:bodyPr>
          <a:lstStyle/>
          <a:p>
            <a:pPr algn="ctr"/>
            <a:r>
              <a:rPr lang="zh-CN" sz="900" dirty="0">
                <a:solidFill>
                  <a:srgbClr val="1D1D1F"/>
                </a:solidFill>
                <a:latin typeface="Arial"/>
                <a:ea typeface="Microsoft YaHei"/>
                <a:cs typeface="Arial"/>
              </a:rPr>
              <a:t>94.95%</a:t>
            </a:r>
          </a:p>
        </p:txBody>
      </p:sp>
      <p:sp>
        <p:nvSpPr>
          <p:cNvPr id="74" name="Rectangle 74"/>
          <p:cNvSpPr/>
          <p:nvPr/>
        </p:nvSpPr>
        <p:spPr>
          <a:xfrm>
            <a:off x="9048750" y="4276725"/>
            <a:ext cx="857250" cy="228600"/>
          </a:xfrm>
          <a:prstGeom prst="rect">
            <a:avLst/>
          </a:prstGeom>
          <a:solidFill>
            <a:srgbClr val="E8F5E9"/>
          </a:solidFill>
          <a:ln>
            <a:noFill/>
          </a:ln>
        </p:spPr>
      </p:sp>
      <p:sp>
        <p:nvSpPr>
          <p:cNvPr id="75" name="TextBox 75"/>
          <p:cNvSpPr txBox="1"/>
          <p:nvPr/>
        </p:nvSpPr>
        <p:spPr>
          <a:xfrm>
            <a:off x="9245417" y="4341495"/>
            <a:ext cx="463915" cy="182880"/>
          </a:xfrm>
          <a:prstGeom prst="rect">
            <a:avLst/>
          </a:prstGeom>
          <a:noFill/>
          <a:ln>
            <a:noFill/>
          </a:ln>
        </p:spPr>
        <p:txBody>
          <a:bodyPr wrap="none" lIns="0" tIns="0" rIns="0" bIns="0" anchor="t" anchorCtr="0">
            <a:spAutoFit/>
          </a:bodyPr>
          <a:lstStyle/>
          <a:p>
            <a:pPr algn="ctr"/>
            <a:r>
              <a:rPr lang="zh-CN" sz="900" b="1" dirty="0">
                <a:solidFill>
                  <a:srgbClr val="1565C0"/>
                </a:solidFill>
                <a:latin typeface="Arial"/>
                <a:ea typeface="Microsoft YaHei"/>
                <a:cs typeface="Arial"/>
              </a:rPr>
              <a:t>+0.55%</a:t>
            </a:r>
          </a:p>
        </p:txBody>
      </p:sp>
      <p:sp>
        <p:nvSpPr>
          <p:cNvPr id="76" name="Rectangle 76"/>
          <p:cNvSpPr/>
          <p:nvPr/>
        </p:nvSpPr>
        <p:spPr>
          <a:xfrm>
            <a:off x="9906000" y="4276725"/>
            <a:ext cx="1714500" cy="228600"/>
          </a:xfrm>
          <a:prstGeom prst="rect">
            <a:avLst/>
          </a:prstGeom>
          <a:solidFill>
            <a:srgbClr val="E8F5E9"/>
          </a:solidFill>
          <a:ln>
            <a:noFill/>
          </a:ln>
        </p:spPr>
      </p:sp>
      <p:sp>
        <p:nvSpPr>
          <p:cNvPr id="77" name="TextBox 77"/>
          <p:cNvSpPr txBox="1"/>
          <p:nvPr/>
        </p:nvSpPr>
        <p:spPr>
          <a:xfrm>
            <a:off x="9894570" y="4341495"/>
            <a:ext cx="502920" cy="182880"/>
          </a:xfrm>
          <a:prstGeom prst="rect">
            <a:avLst/>
          </a:prstGeom>
          <a:noFill/>
          <a:ln>
            <a:noFill/>
          </a:ln>
        </p:spPr>
        <p:txBody>
          <a:bodyPr wrap="none" lIns="0" tIns="0" rIns="0" bIns="0" anchor="t" anchorCtr="0">
            <a:spAutoFit/>
          </a:bodyPr>
          <a:lstStyle/>
          <a:p>
            <a:pPr algn="l"/>
            <a:r>
              <a:rPr lang="zh-CN" sz="900" dirty="0">
                <a:solidFill>
                  <a:srgbClr val="1565C0"/>
                </a:solidFill>
                <a:latin typeface="Arial"/>
                <a:ea typeface="Microsoft YaHei"/>
                <a:cs typeface="Arial"/>
              </a:rPr>
              <a:t>中等提升</a:t>
            </a:r>
          </a:p>
        </p:txBody>
      </p:sp>
      <p:sp>
        <p:nvSpPr>
          <p:cNvPr id="78" name="Rectangle 78"/>
          <p:cNvSpPr/>
          <p:nvPr/>
        </p:nvSpPr>
        <p:spPr>
          <a:xfrm>
            <a:off x="5429250" y="4505325"/>
            <a:ext cx="1524000" cy="228600"/>
          </a:xfrm>
          <a:prstGeom prst="rect">
            <a:avLst/>
          </a:prstGeom>
          <a:solidFill>
            <a:srgbClr val="F3F4F6"/>
          </a:solidFill>
          <a:ln>
            <a:noFill/>
          </a:ln>
        </p:spPr>
      </p:sp>
      <p:sp>
        <p:nvSpPr>
          <p:cNvPr id="79" name="TextBox 79"/>
          <p:cNvSpPr txBox="1"/>
          <p:nvPr/>
        </p:nvSpPr>
        <p:spPr>
          <a:xfrm>
            <a:off x="5560695" y="4570095"/>
            <a:ext cx="26289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体育</a:t>
            </a:r>
          </a:p>
        </p:txBody>
      </p:sp>
      <p:sp>
        <p:nvSpPr>
          <p:cNvPr id="80" name="Rectangle 80"/>
          <p:cNvSpPr/>
          <p:nvPr/>
        </p:nvSpPr>
        <p:spPr>
          <a:xfrm>
            <a:off x="6953250" y="4505325"/>
            <a:ext cx="1047750" cy="228600"/>
          </a:xfrm>
          <a:prstGeom prst="rect">
            <a:avLst/>
          </a:prstGeom>
          <a:solidFill>
            <a:srgbClr val="F3F4F6"/>
          </a:solidFill>
          <a:ln>
            <a:noFill/>
          </a:ln>
        </p:spPr>
      </p:sp>
      <p:sp>
        <p:nvSpPr>
          <p:cNvPr id="81" name="TextBox 81"/>
          <p:cNvSpPr txBox="1"/>
          <p:nvPr/>
        </p:nvSpPr>
        <p:spPr>
          <a:xfrm>
            <a:off x="7255669" y="45700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98.92%</a:t>
            </a:r>
          </a:p>
        </p:txBody>
      </p:sp>
      <p:sp>
        <p:nvSpPr>
          <p:cNvPr id="82" name="Rectangle 82"/>
          <p:cNvSpPr/>
          <p:nvPr/>
        </p:nvSpPr>
        <p:spPr>
          <a:xfrm>
            <a:off x="8001000" y="4505325"/>
            <a:ext cx="1047750" cy="228600"/>
          </a:xfrm>
          <a:prstGeom prst="rect">
            <a:avLst/>
          </a:prstGeom>
          <a:solidFill>
            <a:srgbClr val="F3F4F6"/>
          </a:solidFill>
          <a:ln>
            <a:noFill/>
          </a:ln>
        </p:spPr>
      </p:sp>
      <p:sp>
        <p:nvSpPr>
          <p:cNvPr id="83" name="TextBox 83"/>
          <p:cNvSpPr txBox="1"/>
          <p:nvPr/>
        </p:nvSpPr>
        <p:spPr>
          <a:xfrm>
            <a:off x="8303419" y="45700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98.97%</a:t>
            </a:r>
          </a:p>
        </p:txBody>
      </p:sp>
      <p:sp>
        <p:nvSpPr>
          <p:cNvPr id="84" name="Rectangle 84"/>
          <p:cNvSpPr/>
          <p:nvPr/>
        </p:nvSpPr>
        <p:spPr>
          <a:xfrm>
            <a:off x="9048750" y="4505325"/>
            <a:ext cx="857250" cy="228600"/>
          </a:xfrm>
          <a:prstGeom prst="rect">
            <a:avLst/>
          </a:prstGeom>
          <a:solidFill>
            <a:srgbClr val="F3F4F6"/>
          </a:solidFill>
          <a:ln>
            <a:noFill/>
          </a:ln>
        </p:spPr>
      </p:sp>
      <p:sp>
        <p:nvSpPr>
          <p:cNvPr id="85" name="TextBox 85"/>
          <p:cNvSpPr txBox="1"/>
          <p:nvPr/>
        </p:nvSpPr>
        <p:spPr>
          <a:xfrm>
            <a:off x="9255919" y="4570095"/>
            <a:ext cx="442912" cy="182880"/>
          </a:xfrm>
          <a:prstGeom prst="rect">
            <a:avLst/>
          </a:prstGeom>
          <a:noFill/>
          <a:ln>
            <a:noFill/>
          </a:ln>
        </p:spPr>
        <p:txBody>
          <a:bodyPr wrap="none" lIns="0" tIns="0" rIns="0" bIns="0" anchor="t" anchorCtr="0">
            <a:spAutoFit/>
          </a:bodyPr>
          <a:lstStyle/>
          <a:p>
            <a:pPr algn="ctr"/>
            <a:r>
              <a:rPr lang="zh-CN" sz="900" dirty="0">
                <a:solidFill>
                  <a:srgbClr val="9CA3AF"/>
                </a:solidFill>
                <a:latin typeface="Arial"/>
                <a:ea typeface="Microsoft YaHei"/>
                <a:cs typeface="Arial"/>
              </a:rPr>
              <a:t>+0.05%</a:t>
            </a:r>
          </a:p>
        </p:txBody>
      </p:sp>
      <p:sp>
        <p:nvSpPr>
          <p:cNvPr id="86" name="Rectangle 86"/>
          <p:cNvSpPr/>
          <p:nvPr/>
        </p:nvSpPr>
        <p:spPr>
          <a:xfrm>
            <a:off x="9906000" y="4505325"/>
            <a:ext cx="1714500" cy="228600"/>
          </a:xfrm>
          <a:prstGeom prst="rect">
            <a:avLst/>
          </a:prstGeom>
          <a:solidFill>
            <a:srgbClr val="F3F4F6"/>
          </a:solidFill>
          <a:ln>
            <a:noFill/>
          </a:ln>
        </p:spPr>
      </p:sp>
      <p:sp>
        <p:nvSpPr>
          <p:cNvPr id="87" name="TextBox 87"/>
          <p:cNvSpPr txBox="1"/>
          <p:nvPr/>
        </p:nvSpPr>
        <p:spPr>
          <a:xfrm>
            <a:off x="9894570" y="4570095"/>
            <a:ext cx="622935"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已达天花板</a:t>
            </a:r>
          </a:p>
        </p:txBody>
      </p:sp>
      <p:sp>
        <p:nvSpPr>
          <p:cNvPr id="88" name="Rectangle 88"/>
          <p:cNvSpPr/>
          <p:nvPr/>
        </p:nvSpPr>
        <p:spPr>
          <a:xfrm>
            <a:off x="5429250" y="4733925"/>
            <a:ext cx="1524000" cy="228600"/>
          </a:xfrm>
          <a:prstGeom prst="rect">
            <a:avLst/>
          </a:prstGeom>
          <a:solidFill>
            <a:srgbClr val="F3F4F6"/>
          </a:solidFill>
          <a:ln>
            <a:noFill/>
          </a:ln>
        </p:spPr>
      </p:sp>
      <p:sp>
        <p:nvSpPr>
          <p:cNvPr id="89" name="TextBox 89"/>
          <p:cNvSpPr txBox="1"/>
          <p:nvPr/>
        </p:nvSpPr>
        <p:spPr>
          <a:xfrm>
            <a:off x="5560695" y="4798695"/>
            <a:ext cx="26289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星座</a:t>
            </a:r>
          </a:p>
        </p:txBody>
      </p:sp>
      <p:sp>
        <p:nvSpPr>
          <p:cNvPr id="90" name="Rectangle 90"/>
          <p:cNvSpPr/>
          <p:nvPr/>
        </p:nvSpPr>
        <p:spPr>
          <a:xfrm>
            <a:off x="6953250" y="4733925"/>
            <a:ext cx="1047750" cy="228600"/>
          </a:xfrm>
          <a:prstGeom prst="rect">
            <a:avLst/>
          </a:prstGeom>
          <a:solidFill>
            <a:srgbClr val="F3F4F6"/>
          </a:solidFill>
          <a:ln>
            <a:noFill/>
          </a:ln>
        </p:spPr>
      </p:sp>
      <p:sp>
        <p:nvSpPr>
          <p:cNvPr id="91" name="TextBox 91"/>
          <p:cNvSpPr txBox="1"/>
          <p:nvPr/>
        </p:nvSpPr>
        <p:spPr>
          <a:xfrm>
            <a:off x="7255669" y="47986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99.07%</a:t>
            </a:r>
          </a:p>
        </p:txBody>
      </p:sp>
      <p:sp>
        <p:nvSpPr>
          <p:cNvPr id="92" name="Rectangle 92"/>
          <p:cNvSpPr/>
          <p:nvPr/>
        </p:nvSpPr>
        <p:spPr>
          <a:xfrm>
            <a:off x="8001000" y="4733925"/>
            <a:ext cx="1047750" cy="228600"/>
          </a:xfrm>
          <a:prstGeom prst="rect">
            <a:avLst/>
          </a:prstGeom>
          <a:solidFill>
            <a:srgbClr val="F3F4F6"/>
          </a:solidFill>
          <a:ln>
            <a:noFill/>
          </a:ln>
        </p:spPr>
      </p:sp>
      <p:sp>
        <p:nvSpPr>
          <p:cNvPr id="93" name="TextBox 93"/>
          <p:cNvSpPr txBox="1"/>
          <p:nvPr/>
        </p:nvSpPr>
        <p:spPr>
          <a:xfrm>
            <a:off x="8303419" y="4798695"/>
            <a:ext cx="442912"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99.07%</a:t>
            </a:r>
          </a:p>
        </p:txBody>
      </p:sp>
      <p:sp>
        <p:nvSpPr>
          <p:cNvPr id="94" name="Rectangle 94"/>
          <p:cNvSpPr/>
          <p:nvPr/>
        </p:nvSpPr>
        <p:spPr>
          <a:xfrm>
            <a:off x="9048750" y="4733925"/>
            <a:ext cx="857250" cy="228600"/>
          </a:xfrm>
          <a:prstGeom prst="rect">
            <a:avLst/>
          </a:prstGeom>
          <a:solidFill>
            <a:srgbClr val="F3F4F6"/>
          </a:solidFill>
          <a:ln>
            <a:noFill/>
          </a:ln>
        </p:spPr>
      </p:sp>
      <p:sp>
        <p:nvSpPr>
          <p:cNvPr id="95" name="TextBox 95"/>
          <p:cNvSpPr txBox="1"/>
          <p:nvPr/>
        </p:nvSpPr>
        <p:spPr>
          <a:xfrm>
            <a:off x="9288923" y="4798695"/>
            <a:ext cx="376904" cy="182880"/>
          </a:xfrm>
          <a:prstGeom prst="rect">
            <a:avLst/>
          </a:prstGeom>
          <a:noFill/>
          <a:ln>
            <a:noFill/>
          </a:ln>
        </p:spPr>
        <p:txBody>
          <a:bodyPr wrap="none" lIns="0" tIns="0" rIns="0" bIns="0" anchor="t" anchorCtr="0">
            <a:spAutoFit/>
          </a:bodyPr>
          <a:lstStyle/>
          <a:p>
            <a:pPr algn="ctr"/>
            <a:r>
              <a:rPr lang="zh-CN" sz="900" dirty="0">
                <a:solidFill>
                  <a:srgbClr val="9CA3AF"/>
                </a:solidFill>
                <a:latin typeface="Arial"/>
                <a:ea typeface="Microsoft YaHei"/>
                <a:cs typeface="Arial"/>
              </a:rPr>
              <a:t>0.00%</a:t>
            </a:r>
          </a:p>
        </p:txBody>
      </p:sp>
      <p:sp>
        <p:nvSpPr>
          <p:cNvPr id="96" name="Rectangle 96"/>
          <p:cNvSpPr/>
          <p:nvPr/>
        </p:nvSpPr>
        <p:spPr>
          <a:xfrm>
            <a:off x="9906000" y="4733925"/>
            <a:ext cx="1714500" cy="228600"/>
          </a:xfrm>
          <a:prstGeom prst="rect">
            <a:avLst/>
          </a:prstGeom>
          <a:solidFill>
            <a:srgbClr val="F3F4F6"/>
          </a:solidFill>
          <a:ln>
            <a:noFill/>
          </a:ln>
        </p:spPr>
      </p:sp>
      <p:sp>
        <p:nvSpPr>
          <p:cNvPr id="97" name="TextBox 97"/>
          <p:cNvSpPr txBox="1"/>
          <p:nvPr/>
        </p:nvSpPr>
        <p:spPr>
          <a:xfrm>
            <a:off x="9894570" y="4798695"/>
            <a:ext cx="622935"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已达天花板</a:t>
            </a:r>
          </a:p>
        </p:txBody>
      </p:sp>
      <p:sp>
        <p:nvSpPr>
          <p:cNvPr id="98" name="Rectangle 98"/>
          <p:cNvSpPr/>
          <p:nvPr/>
        </p:nvSpPr>
        <p:spPr>
          <a:xfrm>
            <a:off x="5429250" y="5238750"/>
            <a:ext cx="6191250" cy="428625"/>
          </a:xfrm>
          <a:prstGeom prst="rect">
            <a:avLst/>
          </a:prstGeom>
          <a:solidFill>
            <a:srgbClr val="E3F2FD"/>
          </a:solidFill>
          <a:ln>
            <a:noFill/>
          </a:ln>
        </p:spPr>
      </p:sp>
      <p:sp>
        <p:nvSpPr>
          <p:cNvPr id="99" name="TextBox 99"/>
          <p:cNvSpPr txBox="1"/>
          <p:nvPr/>
        </p:nvSpPr>
        <p:spPr>
          <a:xfrm>
            <a:off x="5548924" y="5301918"/>
            <a:ext cx="5951899" cy="300082"/>
          </a:xfrm>
          <a:prstGeom prst="rect">
            <a:avLst/>
          </a:prstGeom>
          <a:noFill/>
          <a:ln>
            <a:noFill/>
          </a:ln>
        </p:spPr>
        <p:txBody>
          <a:bodyPr wrap="square" lIns="0" tIns="0" rIns="0" bIns="0" anchor="t" anchorCtr="0">
            <a:spAutoFit/>
          </a:bodyPr>
          <a:lstStyle/>
          <a:p>
            <a:pPr algn="l"/>
            <a:r>
              <a:rPr lang="zh-CN" sz="975" dirty="0">
                <a:solidFill>
                  <a:srgbClr val="1D1D1F"/>
                </a:solidFill>
                <a:latin typeface="Arial"/>
                <a:ea typeface="Microsoft YaHei"/>
                <a:cs typeface="Arial"/>
              </a:rPr>
              <a:t>伪标签训练对 </a:t>
            </a:r>
            <a:r>
              <a:rPr lang="zh-CN" sz="975" b="1" dirty="0">
                <a:solidFill>
                  <a:srgbClr val="1D1D1F"/>
                </a:solidFill>
                <a:latin typeface="Arial"/>
                <a:ea typeface="Microsoft YaHei"/>
                <a:cs typeface="Arial"/>
              </a:rPr>
              <a:t>中等难度类别（准确率90%~94%）</a:t>
            </a:r>
            <a:r>
              <a:rPr lang="zh-CN" sz="975" dirty="0">
                <a:solidFill>
                  <a:srgbClr val="1D1D1F"/>
                </a:solidFill>
                <a:latin typeface="Arial"/>
                <a:ea typeface="Microsoft YaHei"/>
                <a:cs typeface="Arial"/>
              </a:rPr>
              <a:t>提升最显著， 对已接近完美的类别提升较小，符合半监督学习边际效益递减规律</a:t>
            </a:r>
          </a:p>
        </p:txBody>
      </p:sp>
      <p:sp>
        <p:nvSpPr>
          <p:cNvPr id="100" name="Rectangle 100"/>
          <p:cNvSpPr/>
          <p:nvPr/>
        </p:nvSpPr>
        <p:spPr>
          <a:xfrm>
            <a:off x="571500" y="6619875"/>
            <a:ext cx="11049000" cy="9525"/>
          </a:xfrm>
          <a:prstGeom prst="rect">
            <a:avLst/>
          </a:prstGeom>
          <a:solidFill>
            <a:srgbClr val="E5E7EB"/>
          </a:solidFill>
          <a:ln>
            <a:noFill/>
          </a:ln>
        </p:spPr>
      </p:sp>
      <p:sp>
        <p:nvSpPr>
          <p:cNvPr id="101" name="TextBox 101"/>
          <p:cNvSpPr txBox="1"/>
          <p:nvPr/>
        </p:nvSpPr>
        <p:spPr>
          <a:xfrm>
            <a:off x="561975" y="6681788"/>
            <a:ext cx="129064" cy="152400"/>
          </a:xfrm>
          <a:prstGeom prst="rect">
            <a:avLst/>
          </a:prstGeom>
          <a:noFill/>
          <a:ln>
            <a:noFill/>
          </a:ln>
        </p:spPr>
        <p:txBody>
          <a:bodyPr wrap="none" lIns="0" tIns="0" rIns="0" bIns="0" anchor="t" anchorCtr="0">
            <a:spAutoFit/>
          </a:bodyPr>
          <a:lstStyle/>
          <a:p>
            <a:pPr algn="l"/>
            <a:r>
              <a:rPr lang="zh-CN" sz="750" dirty="0">
                <a:solidFill>
                  <a:srgbClr val="9CA3AF"/>
                </a:solidFill>
                <a:latin typeface="Arial"/>
                <a:ea typeface="Microsoft YaHei"/>
                <a:cs typeface="Arial"/>
              </a:rPr>
              <a:t>11</a:t>
            </a:r>
          </a:p>
        </p:txBody>
      </p:sp>
      <p:sp>
        <p:nvSpPr>
          <p:cNvPr id="102" name="Rectangle 102"/>
          <p:cNvSpPr/>
          <p:nvPr/>
        </p:nvSpPr>
        <p:spPr>
          <a:xfrm>
            <a:off x="12001500" y="476250"/>
            <a:ext cx="9525" cy="6096000"/>
          </a:xfrm>
          <a:prstGeom prst="rect">
            <a:avLst/>
          </a:prstGeom>
          <a:solidFill>
            <a:srgbClr val="1565C0">
              <a:alpha val="8000"/>
            </a:srgbClr>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565C0"/>
              </a:gs>
              <a:gs pos="100000">
                <a:srgbClr val="0D47A1"/>
              </a:gs>
            </a:gsLst>
            <a:lin ang="2700000" scaled="1"/>
          </a:gradFill>
          <a:ln>
            <a:noFill/>
          </a:ln>
        </p:spPr>
      </p:sp>
      <p:sp>
        <p:nvSpPr>
          <p:cNvPr id="3" name="Ellipse 3"/>
          <p:cNvSpPr/>
          <p:nvPr/>
        </p:nvSpPr>
        <p:spPr>
          <a:xfrm>
            <a:off x="-476250" y="-762000"/>
            <a:ext cx="3810000" cy="3810000"/>
          </a:xfrm>
          <a:prstGeom prst="ellipse">
            <a:avLst/>
          </a:prstGeom>
          <a:solidFill>
            <a:srgbClr val="FFFFFF">
              <a:alpha val="3000"/>
            </a:srgbClr>
          </a:solidFill>
          <a:ln>
            <a:noFill/>
          </a:ln>
        </p:spPr>
      </p:sp>
      <p:sp>
        <p:nvSpPr>
          <p:cNvPr id="4" name="Ellipse 4"/>
          <p:cNvSpPr/>
          <p:nvPr/>
        </p:nvSpPr>
        <p:spPr>
          <a:xfrm>
            <a:off x="8096250" y="3333750"/>
            <a:ext cx="4762500" cy="4762500"/>
          </a:xfrm>
          <a:prstGeom prst="ellipse">
            <a:avLst/>
          </a:prstGeom>
          <a:solidFill>
            <a:srgbClr val="FFFFFF">
              <a:alpha val="3000"/>
            </a:srgbClr>
          </a:solidFill>
          <a:ln>
            <a:noFill/>
          </a:ln>
        </p:spPr>
      </p:sp>
      <p:sp>
        <p:nvSpPr>
          <p:cNvPr id="5" name="Ellipse 5"/>
          <p:cNvSpPr/>
          <p:nvPr/>
        </p:nvSpPr>
        <p:spPr>
          <a:xfrm>
            <a:off x="10477500" y="0"/>
            <a:ext cx="1905000" cy="1905000"/>
          </a:xfrm>
          <a:prstGeom prst="ellipse">
            <a:avLst/>
          </a:prstGeom>
          <a:solidFill>
            <a:srgbClr val="FFFFFF">
              <a:alpha val="5000"/>
            </a:srgbClr>
          </a:solidFill>
          <a:ln>
            <a:noFill/>
          </a:ln>
        </p:spPr>
      </p:sp>
      <p:sp>
        <p:nvSpPr>
          <p:cNvPr id="6" name="Line 6"/>
          <p:cNvSpPr/>
          <p:nvPr/>
        </p:nvSpPr>
        <p:spPr>
          <a:xfrm>
            <a:off x="762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7" name="Line 7"/>
          <p:cNvSpPr/>
          <p:nvPr/>
        </p:nvSpPr>
        <p:spPr>
          <a:xfrm>
            <a:off x="1524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8" name="Line 8"/>
          <p:cNvSpPr/>
          <p:nvPr/>
        </p:nvSpPr>
        <p:spPr>
          <a:xfrm>
            <a:off x="10668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9" name="Line 9"/>
          <p:cNvSpPr/>
          <p:nvPr/>
        </p:nvSpPr>
        <p:spPr>
          <a:xfrm>
            <a:off x="11430000" y="0"/>
            <a:ext cx="9525" cy="6858000"/>
          </a:xfrm>
          <a:custGeom>
            <a:avLst/>
            <a:gdLst/>
            <a:ahLst/>
            <a:cxnLst/>
            <a:rect l="l" t="t" r="r" b="b"/>
            <a:pathLst>
              <a:path w="9525" h="6858000">
                <a:moveTo>
                  <a:pt x="0" y="0"/>
                </a:moveTo>
                <a:lnTo>
                  <a:pt x="0" y="6858000"/>
                </a:lnTo>
              </a:path>
            </a:pathLst>
          </a:custGeom>
          <a:noFill/>
          <a:ln w="9525">
            <a:solidFill>
              <a:srgbClr val="FFFFFF">
                <a:alpha val="4000"/>
              </a:srgbClr>
            </a:solidFill>
          </a:ln>
        </p:spPr>
      </p:sp>
      <p:sp>
        <p:nvSpPr>
          <p:cNvPr id="10" name="Rectangle 10"/>
          <p:cNvSpPr/>
          <p:nvPr/>
        </p:nvSpPr>
        <p:spPr>
          <a:xfrm>
            <a:off x="5143500" y="2381250"/>
            <a:ext cx="1905000" cy="28575"/>
          </a:xfrm>
          <a:prstGeom prst="rect">
            <a:avLst/>
          </a:prstGeom>
          <a:solidFill>
            <a:srgbClr val="FF6F00"/>
          </a:solidFill>
          <a:ln>
            <a:noFill/>
          </a:ln>
        </p:spPr>
      </p:sp>
      <p:sp>
        <p:nvSpPr>
          <p:cNvPr id="11" name="TextBox 11"/>
          <p:cNvSpPr txBox="1"/>
          <p:nvPr/>
        </p:nvSpPr>
        <p:spPr>
          <a:xfrm>
            <a:off x="4866513" y="2785110"/>
            <a:ext cx="2458974" cy="853440"/>
          </a:xfrm>
          <a:prstGeom prst="rect">
            <a:avLst/>
          </a:prstGeom>
          <a:noFill/>
          <a:ln>
            <a:noFill/>
          </a:ln>
        </p:spPr>
        <p:txBody>
          <a:bodyPr wrap="none" lIns="0" tIns="0" rIns="0" bIns="0" anchor="t" anchorCtr="0">
            <a:spAutoFit/>
          </a:bodyPr>
          <a:lstStyle/>
          <a:p>
            <a:pPr algn="ctr"/>
            <a:r>
              <a:rPr lang="zh-CN" sz="4200" b="1" dirty="0">
                <a:solidFill>
                  <a:srgbClr val="FFFFFF"/>
                </a:solidFill>
                <a:latin typeface="Arial"/>
                <a:ea typeface="Microsoft YaHei"/>
                <a:cs typeface="Arial"/>
              </a:rPr>
              <a:t>感谢聆听</a:t>
            </a:r>
          </a:p>
        </p:txBody>
      </p:sp>
      <p:sp>
        <p:nvSpPr>
          <p:cNvPr id="12" name="TextBox 12"/>
          <p:cNvSpPr txBox="1"/>
          <p:nvPr/>
        </p:nvSpPr>
        <p:spPr>
          <a:xfrm>
            <a:off x="5414962" y="3631882"/>
            <a:ext cx="1362075" cy="335280"/>
          </a:xfrm>
          <a:prstGeom prst="rect">
            <a:avLst/>
          </a:prstGeom>
          <a:noFill/>
          <a:ln>
            <a:noFill/>
          </a:ln>
        </p:spPr>
        <p:txBody>
          <a:bodyPr wrap="none" lIns="0" tIns="0" rIns="0" bIns="0" anchor="t" anchorCtr="0">
            <a:spAutoFit/>
          </a:bodyPr>
          <a:lstStyle/>
          <a:p>
            <a:pPr algn="ctr"/>
            <a:r>
              <a:rPr lang="zh-CN" sz="1650" dirty="0">
                <a:solidFill>
                  <a:srgbClr val="FFFFFF">
                    <a:alphaMod val="70000"/>
                  </a:srgbClr>
                </a:solidFill>
                <a:latin typeface="Arial"/>
                <a:ea typeface="Microsoft YaHei"/>
                <a:cs typeface="Arial"/>
              </a:rPr>
              <a:t>欢迎批评指正</a:t>
            </a:r>
          </a:p>
        </p:txBody>
      </p:sp>
      <p:sp>
        <p:nvSpPr>
          <p:cNvPr id="13" name="Rectangle 13"/>
          <p:cNvSpPr/>
          <p:nvPr/>
        </p:nvSpPr>
        <p:spPr>
          <a:xfrm>
            <a:off x="5143500" y="4095750"/>
            <a:ext cx="1905000" cy="9525"/>
          </a:xfrm>
          <a:prstGeom prst="rect">
            <a:avLst/>
          </a:prstGeom>
          <a:solidFill>
            <a:srgbClr val="FFFFFF">
              <a:alpha val="30000"/>
            </a:srgbClr>
          </a:solidFill>
          <a:ln>
            <a:noFill/>
          </a:ln>
        </p:spPr>
      </p:sp>
      <p:sp>
        <p:nvSpPr>
          <p:cNvPr id="14" name="TextBox 14"/>
          <p:cNvSpPr txBox="1"/>
          <p:nvPr/>
        </p:nvSpPr>
        <p:spPr>
          <a:xfrm>
            <a:off x="5120640" y="4347210"/>
            <a:ext cx="1950720" cy="243840"/>
          </a:xfrm>
          <a:prstGeom prst="rect">
            <a:avLst/>
          </a:prstGeom>
          <a:noFill/>
          <a:ln>
            <a:noFill/>
          </a:ln>
        </p:spPr>
        <p:txBody>
          <a:bodyPr wrap="none" lIns="0" tIns="0" rIns="0" bIns="0" anchor="t" anchorCtr="0">
            <a:spAutoFit/>
          </a:bodyPr>
          <a:lstStyle/>
          <a:p>
            <a:pPr algn="ctr"/>
            <a:r>
              <a:rPr lang="zh-CN" sz="1200" dirty="0">
                <a:solidFill>
                  <a:srgbClr val="FFFFFF">
                    <a:alphaMod val="50000"/>
                  </a:srgbClr>
                </a:solidFill>
                <a:latin typeface="Arial"/>
                <a:ea typeface="Microsoft YaHei"/>
                <a:cs typeface="Arial"/>
              </a:rPr>
              <a:t>大数据综合实践 · 2026.06</a:t>
            </a:r>
          </a:p>
        </p:txBody>
      </p:sp>
      <p:sp>
        <p:nvSpPr>
          <p:cNvPr id="15" name="Rectangle 15"/>
          <p:cNvSpPr/>
          <p:nvPr/>
        </p:nvSpPr>
        <p:spPr>
          <a:xfrm>
            <a:off x="11239500" y="6477000"/>
            <a:ext cx="571500" cy="28575"/>
          </a:xfrm>
          <a:prstGeom prst="rect">
            <a:avLst/>
          </a:prstGeom>
          <a:solidFill>
            <a:srgbClr val="FFFFFF">
              <a:alpha val="40000"/>
            </a:srgbClr>
          </a:solidFill>
          <a:ln>
            <a:noFill/>
          </a:ln>
        </p:spPr>
      </p:sp>
      <p:sp>
        <p:nvSpPr>
          <p:cNvPr id="16" name="Rectangle 16"/>
          <p:cNvSpPr/>
          <p:nvPr/>
        </p:nvSpPr>
        <p:spPr>
          <a:xfrm>
            <a:off x="11239500" y="6553200"/>
            <a:ext cx="381000" cy="28575"/>
          </a:xfrm>
          <a:prstGeom prst="rect">
            <a:avLst/>
          </a:prstGeom>
          <a:solidFill>
            <a:srgbClr val="FF6F00"/>
          </a:solidFill>
          <a:ln>
            <a:no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3019</Words>
  <Application>Microsoft Office PowerPoint</Application>
  <PresentationFormat>宽屏</PresentationFormat>
  <Paragraphs>320</Paragraphs>
  <Slides>12</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8618156016239</cp:lastModifiedBy>
  <cp:revision>9</cp:revision>
  <dcterms:created xsi:type="dcterms:W3CDTF">2026-06-22T12:25:49Z</dcterms:created>
  <dcterms:modified xsi:type="dcterms:W3CDTF">2026-06-23T15:51:29Z</dcterms:modified>
  <cp:category/>
  <cp:contentStatus/>
  <dc:language/>
</cp:coreProperties>
</file>